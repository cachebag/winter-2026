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4" r:id="rId3"/>
    <p:sldId id="265" r:id="rId4"/>
    <p:sldId id="266" r:id="rId5"/>
    <p:sldId id="262" r:id="rId6"/>
    <p:sldId id="267" r:id="rId7"/>
    <p:sldId id="268" r:id="rId8"/>
    <p:sldId id="263" r:id="rId9"/>
    <p:sldId id="259" r:id="rId10"/>
    <p:sldId id="260" r:id="rId11"/>
    <p:sldId id="261"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7702E5-58DF-434C-BB1C-BBAE2AD1AEB4}" type="datetimeFigureOut">
              <a:rPr lang="en-US" smtClean="0"/>
              <a:t>10/6/25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D1920-6137-0145-9CC7-0605C88A5225}" type="slidenum">
              <a:rPr lang="en-US" smtClean="0"/>
              <a:t>‹#›</a:t>
            </a:fld>
            <a:endParaRPr lang="en-US"/>
          </a:p>
        </p:txBody>
      </p:sp>
    </p:spTree>
    <p:extLst>
      <p:ext uri="{BB962C8B-B14F-4D97-AF65-F5344CB8AC3E}">
        <p14:creationId xmlns:p14="http://schemas.microsoft.com/office/powerpoint/2010/main" val="390601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7D1920-6137-0145-9CC7-0605C88A5225}" type="slidenum">
              <a:rPr lang="en-US" smtClean="0"/>
              <a:t>9</a:t>
            </a:fld>
            <a:endParaRPr lang="en-US"/>
          </a:p>
        </p:txBody>
      </p:sp>
    </p:spTree>
    <p:extLst>
      <p:ext uri="{BB962C8B-B14F-4D97-AF65-F5344CB8AC3E}">
        <p14:creationId xmlns:p14="http://schemas.microsoft.com/office/powerpoint/2010/main" val="415754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F7095-59A8-1B33-4C07-178D0460B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25F1B-F6E0-DC08-3351-03D336EB1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DC8EE-7A44-C6F1-CF89-E5FC4951F9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1F705C-144B-395B-5CBC-D3FC559596CC}"/>
              </a:ext>
            </a:extLst>
          </p:cNvPr>
          <p:cNvSpPr>
            <a:spLocks noGrp="1"/>
          </p:cNvSpPr>
          <p:nvPr>
            <p:ph type="sldNum" sz="quarter" idx="5"/>
          </p:nvPr>
        </p:nvSpPr>
        <p:spPr/>
        <p:txBody>
          <a:bodyPr/>
          <a:lstStyle/>
          <a:p>
            <a:fld id="{027D1920-6137-0145-9CC7-0605C88A5225}" type="slidenum">
              <a:rPr lang="en-US" smtClean="0"/>
              <a:t>10</a:t>
            </a:fld>
            <a:endParaRPr lang="en-US"/>
          </a:p>
        </p:txBody>
      </p:sp>
    </p:spTree>
    <p:extLst>
      <p:ext uri="{BB962C8B-B14F-4D97-AF65-F5344CB8AC3E}">
        <p14:creationId xmlns:p14="http://schemas.microsoft.com/office/powerpoint/2010/main" val="4191162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EFA5B-910C-438B-EF87-2BE100AAF8F8}"/>
              </a:ext>
            </a:extLst>
          </p:cNvPr>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F9802BDD-3942-0550-956D-30FC68BAEE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BF0D1E-6D4F-9D1F-013D-AB77EADB22FD}"/>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5" name="Footer Placeholder 4">
            <a:extLst>
              <a:ext uri="{FF2B5EF4-FFF2-40B4-BE49-F238E27FC236}">
                <a16:creationId xmlns:a16="http://schemas.microsoft.com/office/drawing/2014/main" id="{6532D53B-5742-0B8F-2A2D-DE581711E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9455B-AF69-DA15-16E1-9F282B0FA69E}"/>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2782467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416E-1FAE-9FEA-986B-CC35967B724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92A7411-3813-771D-0652-CA5B9DF5F3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49A880-6F85-716C-CEBD-6ECBC2F79EAA}"/>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5" name="Footer Placeholder 4">
            <a:extLst>
              <a:ext uri="{FF2B5EF4-FFF2-40B4-BE49-F238E27FC236}">
                <a16:creationId xmlns:a16="http://schemas.microsoft.com/office/drawing/2014/main" id="{62E1E6A2-5D8F-8185-853F-A5BA930FD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D44C4-9D1E-8C2E-DD76-61327F610047}"/>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3388808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FA13B-5D29-CEFE-1BAC-168461C3B91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7D8DD3-3DF2-4FA9-753D-004C0B2AD6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D381DC-9D75-7598-A511-81EEC1DE4F3C}"/>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5" name="Footer Placeholder 4">
            <a:extLst>
              <a:ext uri="{FF2B5EF4-FFF2-40B4-BE49-F238E27FC236}">
                <a16:creationId xmlns:a16="http://schemas.microsoft.com/office/drawing/2014/main" id="{AB13FFDE-7637-7FE1-3094-4835A885CC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6EBDCC-0277-D3DD-8C9C-5664D3A90D8F}"/>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4212663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58C6-686F-FB92-E0E9-509568FD85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27DFAE4-855B-421B-EBC6-9A94983383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D7D0B7-BFD0-F184-2CFC-7AB0DE644B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6B9CD2-FA41-CADA-8D01-1E60CF19E0DF}"/>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6" name="Footer Placeholder 5">
            <a:extLst>
              <a:ext uri="{FF2B5EF4-FFF2-40B4-BE49-F238E27FC236}">
                <a16:creationId xmlns:a16="http://schemas.microsoft.com/office/drawing/2014/main" id="{14E3D812-DC9B-D01C-66DE-13923A193C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1852B-9D6C-F879-36A3-53B59A85DABA}"/>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2714220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06BC6-B901-A2D1-F32B-C4D30391335E}"/>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66627BD-C9B1-C932-ED43-CA7AEC7395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1EC48-11C4-5400-A2DB-032D9CC414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3C1924-38ED-C1FA-C086-52066A9ED5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DA3820-2330-D90D-EA3F-40DECD3777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D65E5C-5C9C-2CD3-FFD7-EAE992F8DC44}"/>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8" name="Footer Placeholder 7">
            <a:extLst>
              <a:ext uri="{FF2B5EF4-FFF2-40B4-BE49-F238E27FC236}">
                <a16:creationId xmlns:a16="http://schemas.microsoft.com/office/drawing/2014/main" id="{A21647A7-0C32-B36E-4298-B2F5CBD37B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B90BE-246B-8E7A-25E9-888093275464}"/>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2022048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59D2D-D2CE-482D-5FF7-22029965D4D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835FF0E9-9499-7C22-61B9-2B96D40CD9F7}"/>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4" name="Footer Placeholder 3">
            <a:extLst>
              <a:ext uri="{FF2B5EF4-FFF2-40B4-BE49-F238E27FC236}">
                <a16:creationId xmlns:a16="http://schemas.microsoft.com/office/drawing/2014/main" id="{4B4D815A-35FD-3867-3678-BC30D45687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E91D06-7F40-9C2B-6C02-4F71A21B7EB0}"/>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1268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2E5B2D-F3DC-46A1-29BE-B371793308CA}"/>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3" name="Footer Placeholder 2">
            <a:extLst>
              <a:ext uri="{FF2B5EF4-FFF2-40B4-BE49-F238E27FC236}">
                <a16:creationId xmlns:a16="http://schemas.microsoft.com/office/drawing/2014/main" id="{CF7F4A0A-B082-2BE6-F6D6-B1EF31FA89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54F908-845B-51B7-860E-1D8C9087822B}"/>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4165170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3BE56-1FD2-B890-0A40-506454833AF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2C2B72-C939-DAAC-5AE9-646503C0DB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C0825E-FFD8-FFA3-1C17-F6B47317C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F26C51-E06D-B7E4-0560-B7C6E995CC90}"/>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6" name="Footer Placeholder 5">
            <a:extLst>
              <a:ext uri="{FF2B5EF4-FFF2-40B4-BE49-F238E27FC236}">
                <a16:creationId xmlns:a16="http://schemas.microsoft.com/office/drawing/2014/main" id="{EE04A658-1426-B56F-A150-8BBF1AC3B1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B6030A-E6EC-6120-3744-9D69C7673D60}"/>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509992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FC76-B200-D57E-D142-70BF495033E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A35381-F373-C276-4479-29DD432185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0A1EFD-53F9-F870-A9D4-A3415244DB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A0B496-5B8E-83D0-C4E6-6FCCB84E5C1E}"/>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6" name="Footer Placeholder 5">
            <a:extLst>
              <a:ext uri="{FF2B5EF4-FFF2-40B4-BE49-F238E27FC236}">
                <a16:creationId xmlns:a16="http://schemas.microsoft.com/office/drawing/2014/main" id="{1335C83D-4300-6A5B-F75E-CBE30EEEF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F62601-7C84-49A8-7780-94F2FF0742A3}"/>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608557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225B7-3E12-E5F0-959E-F996AA0C184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F2AA23-31F3-024A-DA98-FB1065D24D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54AAAD-85F4-0B55-3F31-A33BE1E414F8}"/>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5" name="Footer Placeholder 4">
            <a:extLst>
              <a:ext uri="{FF2B5EF4-FFF2-40B4-BE49-F238E27FC236}">
                <a16:creationId xmlns:a16="http://schemas.microsoft.com/office/drawing/2014/main" id="{A423E25F-EE94-C3A1-A9B5-C50C833907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95DD62-12AF-C9DA-E220-EC578887EBDC}"/>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2047675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B34488-5569-2760-3915-2EC8C6007F0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4FAD88-52E0-42A3-3781-2E466523AC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BD2D9-7E71-BAA1-A12B-11035F5BA84F}"/>
              </a:ext>
            </a:extLst>
          </p:cNvPr>
          <p:cNvSpPr>
            <a:spLocks noGrp="1"/>
          </p:cNvSpPr>
          <p:nvPr>
            <p:ph type="dt" sz="half" idx="10"/>
          </p:nvPr>
        </p:nvSpPr>
        <p:spPr/>
        <p:txBody>
          <a:bodyPr/>
          <a:lstStyle/>
          <a:p>
            <a:fld id="{54CFF13F-683A-AE41-A90E-6419A6C34E02}" type="datetimeFigureOut">
              <a:rPr lang="en-US" smtClean="0"/>
              <a:t>10/6/25</a:t>
            </a:fld>
            <a:endParaRPr lang="en-US"/>
          </a:p>
        </p:txBody>
      </p:sp>
      <p:sp>
        <p:nvSpPr>
          <p:cNvPr id="5" name="Footer Placeholder 4">
            <a:extLst>
              <a:ext uri="{FF2B5EF4-FFF2-40B4-BE49-F238E27FC236}">
                <a16:creationId xmlns:a16="http://schemas.microsoft.com/office/drawing/2014/main" id="{E324CB6E-CE99-22C7-50B6-7274C6162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780FDD-2CCA-0A27-0382-4F0366ECF3D5}"/>
              </a:ext>
            </a:extLst>
          </p:cNvPr>
          <p:cNvSpPr>
            <a:spLocks noGrp="1"/>
          </p:cNvSpPr>
          <p:nvPr>
            <p:ph type="sldNum" sz="quarter" idx="12"/>
          </p:nvPr>
        </p:nvSpPr>
        <p:spPr/>
        <p:txBody>
          <a:bodyPr/>
          <a:lstStyle/>
          <a:p>
            <a:fld id="{16F186FD-F530-E048-8C27-668B223CA3D2}" type="slidenum">
              <a:rPr lang="en-US" smtClean="0"/>
              <a:t>‹#›</a:t>
            </a:fld>
            <a:endParaRPr lang="en-US"/>
          </a:p>
        </p:txBody>
      </p:sp>
    </p:spTree>
    <p:extLst>
      <p:ext uri="{BB962C8B-B14F-4D97-AF65-F5344CB8AC3E}">
        <p14:creationId xmlns:p14="http://schemas.microsoft.com/office/powerpoint/2010/main" val="1006888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D01F794-23BA-9042-94E2-0E8C1B01D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6714EA6-2B60-0C27-7DFE-6AB7387B99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CFF13F-683A-AE41-A90E-6419A6C34E02}" type="datetimeFigureOut">
              <a:rPr lang="en-US" smtClean="0"/>
              <a:t>10/6/25</a:t>
            </a:fld>
            <a:endParaRPr lang="en-US"/>
          </a:p>
        </p:txBody>
      </p:sp>
      <p:sp>
        <p:nvSpPr>
          <p:cNvPr id="5" name="Footer Placeholder 4">
            <a:extLst>
              <a:ext uri="{FF2B5EF4-FFF2-40B4-BE49-F238E27FC236}">
                <a16:creationId xmlns:a16="http://schemas.microsoft.com/office/drawing/2014/main" id="{0CDE5B23-43ED-3B40-F843-484A83C864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7827816-E539-09C8-65AA-CCA846A993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F186FD-F530-E048-8C27-668B223CA3D2}" type="slidenum">
              <a:rPr lang="en-US" smtClean="0"/>
              <a:t>‹#›</a:t>
            </a:fld>
            <a:endParaRPr lang="en-US"/>
          </a:p>
        </p:txBody>
      </p:sp>
      <p:sp>
        <p:nvSpPr>
          <p:cNvPr id="7" name="Rectangle 6">
            <a:extLst>
              <a:ext uri="{FF2B5EF4-FFF2-40B4-BE49-F238E27FC236}">
                <a16:creationId xmlns:a16="http://schemas.microsoft.com/office/drawing/2014/main" id="{D13A7016-04A1-4564-A308-10D1C74895ED}"/>
              </a:ext>
            </a:extLst>
          </p:cNvPr>
          <p:cNvSpPr>
            <a:spLocks noChangeArrowheads="1"/>
          </p:cNvSpPr>
          <p:nvPr userDrawn="1"/>
        </p:nvSpPr>
        <p:spPr bwMode="auto">
          <a:xfrm>
            <a:off x="0" y="1"/>
            <a:ext cx="669073" cy="568712"/>
          </a:xfrm>
          <a:prstGeom prst="rect">
            <a:avLst/>
          </a:prstGeom>
          <a:solidFill>
            <a:srgbClr val="FFCC33"/>
          </a:solidFill>
          <a:ln>
            <a:noFill/>
          </a:ln>
        </p:spPr>
        <p:txBody>
          <a:bodyPr lIns="58778" tIns="29389" rIns="58778" bIns="29389"/>
          <a:lstStyle>
            <a:lvl1pPr>
              <a:defRPr sz="1500">
                <a:solidFill>
                  <a:schemeClr val="tx1"/>
                </a:solidFill>
                <a:latin typeface="Times" panose="02020603050405020304" pitchFamily="18" charset="0"/>
                <a:ea typeface="MS PGothic" panose="020B0600070205080204" pitchFamily="34" charset="-128"/>
              </a:defRPr>
            </a:lvl1pPr>
            <a:lvl2pPr marL="742950" indent="-285750">
              <a:defRPr sz="1500">
                <a:solidFill>
                  <a:schemeClr val="tx1"/>
                </a:solidFill>
                <a:latin typeface="Times" panose="02020603050405020304" pitchFamily="18" charset="0"/>
                <a:ea typeface="MS PGothic" panose="020B0600070205080204" pitchFamily="34" charset="-128"/>
              </a:defRPr>
            </a:lvl2pPr>
            <a:lvl3pPr marL="1143000" indent="-228600">
              <a:defRPr sz="1500">
                <a:solidFill>
                  <a:schemeClr val="tx1"/>
                </a:solidFill>
                <a:latin typeface="Times" panose="02020603050405020304" pitchFamily="18" charset="0"/>
                <a:ea typeface="MS PGothic" panose="020B0600070205080204" pitchFamily="34" charset="-128"/>
              </a:defRPr>
            </a:lvl3pPr>
            <a:lvl4pPr marL="1600200" indent="-228600">
              <a:defRPr sz="1500">
                <a:solidFill>
                  <a:schemeClr val="tx1"/>
                </a:solidFill>
                <a:latin typeface="Times" panose="02020603050405020304" pitchFamily="18" charset="0"/>
                <a:ea typeface="MS PGothic" panose="020B0600070205080204" pitchFamily="34" charset="-128"/>
              </a:defRPr>
            </a:lvl4pPr>
            <a:lvl5pPr marL="2057400" indent="-228600">
              <a:defRPr sz="15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9pPr>
          </a:lstStyle>
          <a:p>
            <a:r>
              <a:rPr lang="en-US" altLang="en-US" dirty="0"/>
              <a:t>          </a:t>
            </a:r>
          </a:p>
        </p:txBody>
      </p:sp>
      <p:sp>
        <p:nvSpPr>
          <p:cNvPr id="8" name="Rectangle 7">
            <a:extLst>
              <a:ext uri="{FF2B5EF4-FFF2-40B4-BE49-F238E27FC236}">
                <a16:creationId xmlns:a16="http://schemas.microsoft.com/office/drawing/2014/main" id="{186CA7BD-B41B-5866-1C21-ABC0B4D8669E}"/>
              </a:ext>
            </a:extLst>
          </p:cNvPr>
          <p:cNvSpPr>
            <a:spLocks noChangeArrowheads="1"/>
          </p:cNvSpPr>
          <p:nvPr userDrawn="1"/>
        </p:nvSpPr>
        <p:spPr bwMode="auto">
          <a:xfrm>
            <a:off x="11522927" y="756852"/>
            <a:ext cx="669073" cy="568712"/>
          </a:xfrm>
          <a:prstGeom prst="rect">
            <a:avLst/>
          </a:prstGeom>
          <a:solidFill>
            <a:srgbClr val="FFCC33"/>
          </a:solidFill>
          <a:ln>
            <a:noFill/>
          </a:ln>
        </p:spPr>
        <p:txBody>
          <a:bodyPr lIns="58778" tIns="29389" rIns="58778" bIns="29389"/>
          <a:lstStyle>
            <a:lvl1pPr>
              <a:defRPr sz="1500">
                <a:solidFill>
                  <a:schemeClr val="tx1"/>
                </a:solidFill>
                <a:latin typeface="Times" panose="02020603050405020304" pitchFamily="18" charset="0"/>
                <a:ea typeface="MS PGothic" panose="020B0600070205080204" pitchFamily="34" charset="-128"/>
              </a:defRPr>
            </a:lvl1pPr>
            <a:lvl2pPr marL="742950" indent="-285750">
              <a:defRPr sz="1500">
                <a:solidFill>
                  <a:schemeClr val="tx1"/>
                </a:solidFill>
                <a:latin typeface="Times" panose="02020603050405020304" pitchFamily="18" charset="0"/>
                <a:ea typeface="MS PGothic" panose="020B0600070205080204" pitchFamily="34" charset="-128"/>
              </a:defRPr>
            </a:lvl2pPr>
            <a:lvl3pPr marL="1143000" indent="-228600">
              <a:defRPr sz="1500">
                <a:solidFill>
                  <a:schemeClr val="tx1"/>
                </a:solidFill>
                <a:latin typeface="Times" panose="02020603050405020304" pitchFamily="18" charset="0"/>
                <a:ea typeface="MS PGothic" panose="020B0600070205080204" pitchFamily="34" charset="-128"/>
              </a:defRPr>
            </a:lvl3pPr>
            <a:lvl4pPr marL="1600200" indent="-228600">
              <a:defRPr sz="1500">
                <a:solidFill>
                  <a:schemeClr val="tx1"/>
                </a:solidFill>
                <a:latin typeface="Times" panose="02020603050405020304" pitchFamily="18" charset="0"/>
                <a:ea typeface="MS PGothic" panose="020B0600070205080204" pitchFamily="34" charset="-128"/>
              </a:defRPr>
            </a:lvl4pPr>
            <a:lvl5pPr marL="2057400" indent="-228600">
              <a:defRPr sz="15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9pPr>
          </a:lstStyle>
          <a:p>
            <a:endParaRPr lang="en-US" altLang="en-US"/>
          </a:p>
        </p:txBody>
      </p:sp>
      <p:sp>
        <p:nvSpPr>
          <p:cNvPr id="9" name="Snip Diagonal Corner Rectangle 5">
            <a:extLst>
              <a:ext uri="{FF2B5EF4-FFF2-40B4-BE49-F238E27FC236}">
                <a16:creationId xmlns:a16="http://schemas.microsoft.com/office/drawing/2014/main" id="{BC181870-AEEB-0DFC-B5C1-7496200C3FD2}"/>
              </a:ext>
            </a:extLst>
          </p:cNvPr>
          <p:cNvSpPr/>
          <p:nvPr userDrawn="1"/>
        </p:nvSpPr>
        <p:spPr bwMode="auto">
          <a:xfrm flipH="1">
            <a:off x="0" y="0"/>
            <a:ext cx="12192002" cy="1325563"/>
          </a:xfrm>
          <a:prstGeom prst="snip2DiagRect">
            <a:avLst>
              <a:gd name="adj1" fmla="val 0"/>
              <a:gd name="adj2" fmla="val 31289"/>
            </a:avLst>
          </a:prstGeom>
          <a:solidFill>
            <a:srgbClr val="0C5449"/>
          </a:solidFill>
          <a:ln w="9525" cap="flat" cmpd="sng" algn="ctr">
            <a:noFill/>
            <a:prstDash val="solid"/>
            <a:round/>
            <a:headEnd type="none" w="med" len="med"/>
            <a:tailEnd type="none" w="med" len="med"/>
          </a:ln>
          <a:effectLst/>
        </p:spPr>
        <p:txBody>
          <a:bodyPr/>
          <a:lstStyle/>
          <a:p>
            <a:pPr>
              <a:defRPr/>
            </a:pPr>
            <a:r>
              <a:rPr lang="en-US" sz="2400" dirty="0">
                <a:solidFill>
                  <a:schemeClr val="bg1"/>
                </a:solidFill>
                <a:latin typeface="Times" pitchFamily="-65" charset="0"/>
                <a:ea typeface="ＭＳ Ｐゴシック" charset="0"/>
                <a:cs typeface="ＭＳ Ｐゴシック" charset="0"/>
              </a:rPr>
              <a:t>                 </a:t>
            </a:r>
          </a:p>
        </p:txBody>
      </p:sp>
      <p:pic>
        <p:nvPicPr>
          <p:cNvPr id="10" name="Picture 2" descr="Identity guidelines - University Communications and Marketing">
            <a:extLst>
              <a:ext uri="{FF2B5EF4-FFF2-40B4-BE49-F238E27FC236}">
                <a16:creationId xmlns:a16="http://schemas.microsoft.com/office/drawing/2014/main" id="{79275E03-7029-3CDC-1407-287F216A7746}"/>
              </a:ext>
            </a:extLst>
          </p:cNvPr>
          <p:cNvPicPr>
            <a:picLocks noChangeAspect="1" noChangeArrowheads="1"/>
          </p:cNvPicPr>
          <p:nvPr userDrawn="1"/>
        </p:nvPicPr>
        <p:blipFill rotWithShape="1">
          <a:blip r:embed="rId13">
            <a:extLst>
              <a:ext uri="{28A0092B-C50C-407E-A947-70E740481C1C}">
                <a14:useLocalDpi xmlns:a14="http://schemas.microsoft.com/office/drawing/2010/main" val="0"/>
              </a:ext>
            </a:extLst>
          </a:blip>
          <a:srcRect l="23240" t="-12098" r="22040" b="45910"/>
          <a:stretch/>
        </p:blipFill>
        <p:spPr bwMode="auto">
          <a:xfrm>
            <a:off x="10384138" y="130726"/>
            <a:ext cx="1426332" cy="1115677"/>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Placeholder 1">
            <a:extLst>
              <a:ext uri="{FF2B5EF4-FFF2-40B4-BE49-F238E27FC236}">
                <a16:creationId xmlns:a16="http://schemas.microsoft.com/office/drawing/2014/main" id="{03BD9060-0D58-6281-630B-7322EBF2A8C5}"/>
              </a:ext>
            </a:extLst>
          </p:cNvPr>
          <p:cNvSpPr>
            <a:spLocks noGrp="1"/>
          </p:cNvSpPr>
          <p:nvPr>
            <p:ph type="title"/>
          </p:nvPr>
        </p:nvSpPr>
        <p:spPr>
          <a:xfrm>
            <a:off x="838200" y="0"/>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811034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387B4-77CB-5E5B-6AD5-49CFF36F96EC}"/>
              </a:ext>
            </a:extLst>
          </p:cNvPr>
          <p:cNvSpPr>
            <a:spLocks noGrp="1"/>
          </p:cNvSpPr>
          <p:nvPr>
            <p:ph type="ctrTitle"/>
          </p:nvPr>
        </p:nvSpPr>
        <p:spPr/>
        <p:txBody>
          <a:bodyPr/>
          <a:lstStyle/>
          <a:p>
            <a:r>
              <a:rPr lang="en-US" dirty="0"/>
              <a:t>Midterm Exam Preparation</a:t>
            </a:r>
          </a:p>
        </p:txBody>
      </p:sp>
    </p:spTree>
    <p:extLst>
      <p:ext uri="{BB962C8B-B14F-4D97-AF65-F5344CB8AC3E}">
        <p14:creationId xmlns:p14="http://schemas.microsoft.com/office/powerpoint/2010/main" val="303419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AE774A-7A3B-692F-030A-4D05EC3FEC93}"/>
              </a:ext>
            </a:extLst>
          </p:cNvPr>
          <p:cNvSpPr>
            <a:spLocks noGrp="1"/>
          </p:cNvSpPr>
          <p:nvPr>
            <p:ph idx="1"/>
          </p:nvPr>
        </p:nvSpPr>
        <p:spPr/>
        <p:txBody>
          <a:bodyPr/>
          <a:lstStyle/>
          <a:p>
            <a:r>
              <a:rPr lang="en-US" sz="2000" dirty="0"/>
              <a:t>Indicate whether the first function of each of the following pairs has a smaller, same, or larger order of growth (to within a constant multiple) than the second function.</a:t>
            </a:r>
          </a:p>
          <a:p>
            <a:pPr marL="914400" lvl="1" indent="-457200">
              <a:buFont typeface="+mj-lt"/>
              <a:buAutoNum type="arabicPeriod"/>
            </a:pPr>
            <a:r>
              <a:rPr lang="en-US" sz="2000" dirty="0"/>
              <a:t>n(n + 1) and 2000n</a:t>
            </a:r>
            <a:r>
              <a:rPr lang="en-US" sz="2000" baseline="30000" dirty="0"/>
              <a:t>2</a:t>
            </a:r>
            <a:r>
              <a:rPr lang="en-US" sz="2000" dirty="0"/>
              <a:t> </a:t>
            </a:r>
          </a:p>
          <a:p>
            <a:pPr marL="914400" lvl="1" indent="-457200">
              <a:buFont typeface="+mj-lt"/>
              <a:buAutoNum type="arabicPeriod"/>
            </a:pPr>
            <a:r>
              <a:rPr lang="en-US" sz="2000" dirty="0"/>
              <a:t>100n</a:t>
            </a:r>
            <a:r>
              <a:rPr lang="en-US" sz="2000" baseline="30000" dirty="0"/>
              <a:t>2</a:t>
            </a:r>
            <a:r>
              <a:rPr lang="en-US" sz="2000" dirty="0"/>
              <a:t> and 0.01n</a:t>
            </a:r>
            <a:r>
              <a:rPr lang="en-US" sz="2000" baseline="30000" dirty="0"/>
              <a:t>3</a:t>
            </a:r>
          </a:p>
          <a:p>
            <a:pPr marL="914400" lvl="1" indent="-457200">
              <a:buFont typeface="+mj-lt"/>
              <a:buAutoNum type="arabicPeriod"/>
            </a:pPr>
            <a:r>
              <a:rPr lang="en-US" sz="2000" dirty="0"/>
              <a:t>log</a:t>
            </a:r>
            <a:r>
              <a:rPr lang="en-US" sz="2000" baseline="-25000" dirty="0"/>
              <a:t>2</a:t>
            </a:r>
            <a:r>
              <a:rPr lang="en-US" sz="2000" dirty="0"/>
              <a:t> n and ln n </a:t>
            </a:r>
          </a:p>
          <a:p>
            <a:pPr marL="914400" lvl="1" indent="-457200">
              <a:buFont typeface="+mj-lt"/>
              <a:buAutoNum type="arabicPeriod"/>
            </a:pPr>
            <a:r>
              <a:rPr lang="en-US" sz="2000" dirty="0"/>
              <a:t>2</a:t>
            </a:r>
            <a:r>
              <a:rPr lang="en-US" sz="2000" baseline="30000" dirty="0"/>
              <a:t>n−1 </a:t>
            </a:r>
            <a:r>
              <a:rPr lang="en-US" sz="2000" dirty="0"/>
              <a:t>and 2</a:t>
            </a:r>
            <a:r>
              <a:rPr lang="en-US" sz="2000" baseline="30000" dirty="0"/>
              <a:t>n</a:t>
            </a:r>
            <a:r>
              <a:rPr lang="en-US" sz="2000" dirty="0"/>
              <a:t> </a:t>
            </a:r>
          </a:p>
          <a:p>
            <a:pPr marL="914400" lvl="1" indent="-457200">
              <a:buFont typeface="+mj-lt"/>
              <a:buAutoNum type="arabicPeriod"/>
            </a:pPr>
            <a:r>
              <a:rPr lang="en-US" sz="2000" dirty="0"/>
              <a:t>(n− 1)! and n!</a:t>
            </a:r>
          </a:p>
          <a:p>
            <a:endParaRPr lang="en-US" dirty="0"/>
          </a:p>
        </p:txBody>
      </p:sp>
      <p:sp>
        <p:nvSpPr>
          <p:cNvPr id="4" name="Title 1">
            <a:extLst>
              <a:ext uri="{FF2B5EF4-FFF2-40B4-BE49-F238E27FC236}">
                <a16:creationId xmlns:a16="http://schemas.microsoft.com/office/drawing/2014/main" id="{36362521-6AC4-CB92-9C31-0A5B80C1ED34}"/>
              </a:ext>
            </a:extLst>
          </p:cNvPr>
          <p:cNvSpPr>
            <a:spLocks noGrp="1"/>
          </p:cNvSpPr>
          <p:nvPr>
            <p:ph type="title"/>
          </p:nvPr>
        </p:nvSpPr>
        <p:spPr>
          <a:xfrm>
            <a:off x="838200" y="0"/>
            <a:ext cx="10515600" cy="1325563"/>
          </a:xfrm>
        </p:spPr>
        <p:txBody>
          <a:bodyPr>
            <a:normAutofit/>
          </a:bodyPr>
          <a:lstStyle/>
          <a:p>
            <a:r>
              <a:rPr lang="en-US" sz="3000" dirty="0"/>
              <a:t>Exercise 1</a:t>
            </a:r>
          </a:p>
        </p:txBody>
      </p:sp>
    </p:spTree>
    <p:extLst>
      <p:ext uri="{BB962C8B-B14F-4D97-AF65-F5344CB8AC3E}">
        <p14:creationId xmlns:p14="http://schemas.microsoft.com/office/powerpoint/2010/main" val="4172214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B7773E-47E9-F2CF-42B9-46188BC40325}"/>
              </a:ext>
            </a:extLst>
          </p:cNvPr>
          <p:cNvSpPr>
            <a:spLocks noGrp="1"/>
          </p:cNvSpPr>
          <p:nvPr>
            <p:ph idx="1"/>
          </p:nvPr>
        </p:nvSpPr>
        <p:spPr>
          <a:xfrm>
            <a:off x="838200" y="1825625"/>
            <a:ext cx="6093941" cy="4351338"/>
          </a:xfrm>
        </p:spPr>
        <p:txBody>
          <a:bodyPr/>
          <a:lstStyle/>
          <a:p>
            <a:r>
              <a:rPr lang="en-US" sz="2000" dirty="0"/>
              <a:t>Use the informal definitions of O, Ω ,𝛩 band to determine whether the following assertions are true or false.</a:t>
            </a:r>
          </a:p>
          <a:p>
            <a:endParaRPr lang="en-US" dirty="0"/>
          </a:p>
        </p:txBody>
      </p:sp>
      <p:sp>
        <p:nvSpPr>
          <p:cNvPr id="4" name="Title 1">
            <a:extLst>
              <a:ext uri="{FF2B5EF4-FFF2-40B4-BE49-F238E27FC236}">
                <a16:creationId xmlns:a16="http://schemas.microsoft.com/office/drawing/2014/main" id="{5BE7304E-BB41-00E7-64A6-00D42F17862D}"/>
              </a:ext>
            </a:extLst>
          </p:cNvPr>
          <p:cNvSpPr>
            <a:spLocks noGrp="1"/>
          </p:cNvSpPr>
          <p:nvPr>
            <p:ph type="title"/>
          </p:nvPr>
        </p:nvSpPr>
        <p:spPr>
          <a:xfrm>
            <a:off x="838200" y="0"/>
            <a:ext cx="10515600" cy="1325563"/>
          </a:xfrm>
        </p:spPr>
        <p:txBody>
          <a:bodyPr>
            <a:normAutofit/>
          </a:bodyPr>
          <a:lstStyle/>
          <a:p>
            <a:r>
              <a:rPr lang="en-US" sz="3000" dirty="0"/>
              <a:t>Exercise 2</a:t>
            </a:r>
          </a:p>
        </p:txBody>
      </p:sp>
      <p:pic>
        <p:nvPicPr>
          <p:cNvPr id="6" name="Picture 5" descr="A text on a sheet of paper&#10;&#10;AI-generated content may be incorrect.">
            <a:extLst>
              <a:ext uri="{FF2B5EF4-FFF2-40B4-BE49-F238E27FC236}">
                <a16:creationId xmlns:a16="http://schemas.microsoft.com/office/drawing/2014/main" id="{4D42BEE8-E5B2-E8E5-359B-43D6B2F470E2}"/>
              </a:ext>
            </a:extLst>
          </p:cNvPr>
          <p:cNvPicPr>
            <a:picLocks noChangeAspect="1"/>
          </p:cNvPicPr>
          <p:nvPr/>
        </p:nvPicPr>
        <p:blipFill>
          <a:blip r:embed="rId2"/>
          <a:stretch>
            <a:fillRect/>
          </a:stretch>
        </p:blipFill>
        <p:spPr>
          <a:xfrm>
            <a:off x="6932141" y="457200"/>
            <a:ext cx="5221078" cy="5943600"/>
          </a:xfrm>
          <a:prstGeom prst="rect">
            <a:avLst/>
          </a:prstGeom>
        </p:spPr>
      </p:pic>
      <p:pic>
        <p:nvPicPr>
          <p:cNvPr id="8" name="Picture 7" descr="A close up of a number&#10;&#10;AI-generated content may be incorrect.">
            <a:extLst>
              <a:ext uri="{FF2B5EF4-FFF2-40B4-BE49-F238E27FC236}">
                <a16:creationId xmlns:a16="http://schemas.microsoft.com/office/drawing/2014/main" id="{66D9F954-156C-4877-4663-174D9DAF9E43}"/>
              </a:ext>
            </a:extLst>
          </p:cNvPr>
          <p:cNvPicPr>
            <a:picLocks noChangeAspect="1"/>
          </p:cNvPicPr>
          <p:nvPr/>
        </p:nvPicPr>
        <p:blipFill>
          <a:blip r:embed="rId3"/>
          <a:stretch>
            <a:fillRect/>
          </a:stretch>
        </p:blipFill>
        <p:spPr>
          <a:xfrm>
            <a:off x="1095153" y="3068811"/>
            <a:ext cx="5399868" cy="801440"/>
          </a:xfrm>
          <a:prstGeom prst="rect">
            <a:avLst/>
          </a:prstGeom>
        </p:spPr>
      </p:pic>
    </p:spTree>
    <p:extLst>
      <p:ext uri="{BB962C8B-B14F-4D97-AF65-F5344CB8AC3E}">
        <p14:creationId xmlns:p14="http://schemas.microsoft.com/office/powerpoint/2010/main" val="1999484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D31E73-AB3A-D555-9920-666F244D1BFB}"/>
              </a:ext>
            </a:extLst>
          </p:cNvPr>
          <p:cNvSpPr>
            <a:spLocks noGrp="1"/>
          </p:cNvSpPr>
          <p:nvPr>
            <p:ph idx="1"/>
          </p:nvPr>
        </p:nvSpPr>
        <p:spPr/>
        <p:txBody>
          <a:bodyPr/>
          <a:lstStyle/>
          <a:p>
            <a:r>
              <a:rPr lang="en-US" sz="2000" dirty="0"/>
              <a:t>List the following functions according to their order of growth from the lowest to the highest:</a:t>
            </a:r>
          </a:p>
          <a:p>
            <a:endParaRPr lang="en-US" dirty="0"/>
          </a:p>
        </p:txBody>
      </p:sp>
      <p:sp>
        <p:nvSpPr>
          <p:cNvPr id="4" name="Title 1">
            <a:extLst>
              <a:ext uri="{FF2B5EF4-FFF2-40B4-BE49-F238E27FC236}">
                <a16:creationId xmlns:a16="http://schemas.microsoft.com/office/drawing/2014/main" id="{55B7A1DB-9902-68F0-BFA3-2A2425A9DEF4}"/>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chemeClr val="bg1"/>
                </a:solidFill>
              </a:rPr>
              <a:t>Exercise 3</a:t>
            </a:r>
          </a:p>
        </p:txBody>
      </p:sp>
      <p:pic>
        <p:nvPicPr>
          <p:cNvPr id="6" name="Picture 5">
            <a:extLst>
              <a:ext uri="{FF2B5EF4-FFF2-40B4-BE49-F238E27FC236}">
                <a16:creationId xmlns:a16="http://schemas.microsoft.com/office/drawing/2014/main" id="{9226D9AC-198D-A35F-11DD-76621EC2DC52}"/>
              </a:ext>
            </a:extLst>
          </p:cNvPr>
          <p:cNvPicPr>
            <a:picLocks noChangeAspect="1"/>
          </p:cNvPicPr>
          <p:nvPr/>
        </p:nvPicPr>
        <p:blipFill>
          <a:blip r:embed="rId2"/>
          <a:stretch>
            <a:fillRect/>
          </a:stretch>
        </p:blipFill>
        <p:spPr>
          <a:xfrm>
            <a:off x="1772492" y="3154106"/>
            <a:ext cx="7928522" cy="549788"/>
          </a:xfrm>
          <a:prstGeom prst="rect">
            <a:avLst/>
          </a:prstGeom>
        </p:spPr>
      </p:pic>
    </p:spTree>
    <p:extLst>
      <p:ext uri="{BB962C8B-B14F-4D97-AF65-F5344CB8AC3E}">
        <p14:creationId xmlns:p14="http://schemas.microsoft.com/office/powerpoint/2010/main" val="1974883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183F8-1AAC-8D22-9EF4-2DD03626CC47}"/>
              </a:ext>
            </a:extLst>
          </p:cNvPr>
          <p:cNvSpPr>
            <a:spLocks noGrp="1"/>
          </p:cNvSpPr>
          <p:nvPr>
            <p:ph idx="1"/>
          </p:nvPr>
        </p:nvSpPr>
        <p:spPr/>
        <p:txBody>
          <a:bodyPr/>
          <a:lstStyle/>
          <a:p>
            <a:pPr marL="0" indent="0">
              <a:buNone/>
            </a:pPr>
            <a:r>
              <a:rPr lang="en-US" sz="2000" dirty="0"/>
              <a:t>For each of the following algorithms, indicate(</a:t>
            </a:r>
            <a:r>
              <a:rPr lang="en-US" sz="2000" dirty="0" err="1"/>
              <a:t>i</a:t>
            </a:r>
            <a:r>
              <a:rPr lang="en-US" sz="2000" dirty="0"/>
              <a:t>) a natural size metric for its inputs, (ii) its basic operation, and (iii) whether the basic operation count can be different for inputs of the same size:</a:t>
            </a:r>
          </a:p>
          <a:p>
            <a:pPr marL="914400" lvl="1" indent="-457200">
              <a:buFont typeface="+mj-lt"/>
              <a:buAutoNum type="arabicPeriod"/>
            </a:pPr>
            <a:r>
              <a:rPr lang="en-US" sz="2000" dirty="0"/>
              <a:t>computing the sum of n numbers</a:t>
            </a:r>
          </a:p>
          <a:p>
            <a:pPr marL="914400" lvl="1" indent="-457200">
              <a:buFont typeface="+mj-lt"/>
              <a:buAutoNum type="arabicPeriod"/>
            </a:pPr>
            <a:r>
              <a:rPr lang="en-US" sz="2000" dirty="0"/>
              <a:t>computing n!</a:t>
            </a:r>
          </a:p>
          <a:p>
            <a:pPr marL="914400" lvl="1" indent="-457200">
              <a:buFont typeface="+mj-lt"/>
              <a:buAutoNum type="arabicPeriod"/>
            </a:pPr>
            <a:r>
              <a:rPr lang="en-US" sz="2000" dirty="0"/>
              <a:t>finding the largest element in a list of n numbers</a:t>
            </a:r>
          </a:p>
          <a:p>
            <a:endParaRPr lang="en-US" dirty="0"/>
          </a:p>
        </p:txBody>
      </p:sp>
      <p:sp>
        <p:nvSpPr>
          <p:cNvPr id="4" name="Title 1">
            <a:extLst>
              <a:ext uri="{FF2B5EF4-FFF2-40B4-BE49-F238E27FC236}">
                <a16:creationId xmlns:a16="http://schemas.microsoft.com/office/drawing/2014/main" id="{671174E7-941C-7FB3-1723-BF0A2E1C22E3}"/>
              </a:ext>
            </a:extLst>
          </p:cNvPr>
          <p:cNvSpPr>
            <a:spLocks noGrp="1"/>
          </p:cNvSpPr>
          <p:nvPr>
            <p:ph type="title"/>
          </p:nvPr>
        </p:nvSpPr>
        <p:spPr>
          <a:xfrm>
            <a:off x="838200" y="0"/>
            <a:ext cx="10515600" cy="1325563"/>
          </a:xfrm>
        </p:spPr>
        <p:txBody>
          <a:bodyPr>
            <a:normAutofit/>
          </a:bodyPr>
          <a:lstStyle/>
          <a:p>
            <a:r>
              <a:rPr lang="en-US" sz="3000" dirty="0"/>
              <a:t>Exercise 4</a:t>
            </a:r>
          </a:p>
        </p:txBody>
      </p:sp>
    </p:spTree>
    <p:extLst>
      <p:ext uri="{BB962C8B-B14F-4D97-AF65-F5344CB8AC3E}">
        <p14:creationId xmlns:p14="http://schemas.microsoft.com/office/powerpoint/2010/main" val="3484162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C9B4CA-7C2E-ACCF-1F1A-BA43CE042413}"/>
              </a:ext>
            </a:extLst>
          </p:cNvPr>
          <p:cNvSpPr>
            <a:spLocks noGrp="1"/>
          </p:cNvSpPr>
          <p:nvPr>
            <p:ph idx="1"/>
          </p:nvPr>
        </p:nvSpPr>
        <p:spPr>
          <a:xfrm>
            <a:off x="838200" y="1463786"/>
            <a:ext cx="10515600" cy="4351338"/>
          </a:xfrm>
        </p:spPr>
        <p:txBody>
          <a:bodyPr>
            <a:normAutofit/>
          </a:bodyPr>
          <a:lstStyle/>
          <a:p>
            <a:r>
              <a:rPr lang="en-US" sz="2000" dirty="0"/>
              <a:t>Consider the following algorithm.</a:t>
            </a:r>
          </a:p>
          <a:p>
            <a:pPr marL="514350" indent="-514350">
              <a:buFont typeface="+mj-lt"/>
              <a:buAutoNum type="arabicPeriod"/>
            </a:pPr>
            <a:endParaRPr lang="en-US" sz="2000" dirty="0"/>
          </a:p>
          <a:p>
            <a:pPr marL="514350" indent="-514350">
              <a:buFont typeface="+mj-lt"/>
              <a:buAutoNum type="arabicPeriod"/>
            </a:pPr>
            <a:endParaRPr lang="en-US" sz="2000" dirty="0"/>
          </a:p>
          <a:p>
            <a:pPr marL="514350" indent="-514350">
              <a:buFont typeface="+mj-lt"/>
              <a:buAutoNum type="arabicPeriod"/>
            </a:pPr>
            <a:endParaRPr lang="en-US" sz="2000" dirty="0"/>
          </a:p>
          <a:p>
            <a:pPr marL="514350" indent="-514350">
              <a:buFont typeface="+mj-lt"/>
              <a:buAutoNum type="arabicPeriod"/>
            </a:pPr>
            <a:endParaRPr lang="en-US" sz="2000" dirty="0"/>
          </a:p>
          <a:p>
            <a:pPr marL="514350" indent="-514350">
              <a:buFont typeface="+mj-lt"/>
              <a:buAutoNum type="arabicPeriod"/>
            </a:pPr>
            <a:endParaRPr lang="en-US" sz="2000" dirty="0"/>
          </a:p>
          <a:p>
            <a:pPr marL="0" indent="0">
              <a:buNone/>
            </a:pPr>
            <a:endParaRPr lang="en-US" sz="2000" dirty="0"/>
          </a:p>
          <a:p>
            <a:pPr marL="514350" indent="-514350">
              <a:buFont typeface="+mj-lt"/>
              <a:buAutoNum type="arabicPeriod"/>
            </a:pPr>
            <a:r>
              <a:rPr lang="en-US" sz="2000" dirty="0"/>
              <a:t>What is its basic operation?</a:t>
            </a:r>
          </a:p>
          <a:p>
            <a:pPr marL="514350" indent="-514350">
              <a:buFont typeface="+mj-lt"/>
              <a:buAutoNum type="arabicPeriod"/>
            </a:pPr>
            <a:r>
              <a:rPr lang="en-US" sz="2000" dirty="0"/>
              <a:t>How many times is the basic operation executed?</a:t>
            </a:r>
          </a:p>
          <a:p>
            <a:pPr marL="514350" indent="-514350">
              <a:buFont typeface="+mj-lt"/>
              <a:buAutoNum type="arabicPeriod"/>
            </a:pPr>
            <a:r>
              <a:rPr lang="en-US" sz="2000" dirty="0"/>
              <a:t>What is the efficiency class of this algorithm?</a:t>
            </a:r>
          </a:p>
          <a:p>
            <a:endParaRPr lang="en-US" dirty="0"/>
          </a:p>
        </p:txBody>
      </p:sp>
      <p:pic>
        <p:nvPicPr>
          <p:cNvPr id="5" name="Picture 4" descr="A black and white text&#10;&#10;AI-generated content may be incorrect.">
            <a:extLst>
              <a:ext uri="{FF2B5EF4-FFF2-40B4-BE49-F238E27FC236}">
                <a16:creationId xmlns:a16="http://schemas.microsoft.com/office/drawing/2014/main" id="{FCD82A08-EFAE-2DBE-FEB3-46BFBD45028B}"/>
              </a:ext>
            </a:extLst>
          </p:cNvPr>
          <p:cNvPicPr>
            <a:picLocks noChangeAspect="1"/>
          </p:cNvPicPr>
          <p:nvPr/>
        </p:nvPicPr>
        <p:blipFill>
          <a:blip r:embed="rId2"/>
          <a:stretch>
            <a:fillRect/>
          </a:stretch>
        </p:blipFill>
        <p:spPr>
          <a:xfrm>
            <a:off x="1334342" y="2016731"/>
            <a:ext cx="4178300" cy="2159000"/>
          </a:xfrm>
          <a:prstGeom prst="rect">
            <a:avLst/>
          </a:prstGeom>
        </p:spPr>
      </p:pic>
      <p:sp>
        <p:nvSpPr>
          <p:cNvPr id="6" name="Title 1">
            <a:extLst>
              <a:ext uri="{FF2B5EF4-FFF2-40B4-BE49-F238E27FC236}">
                <a16:creationId xmlns:a16="http://schemas.microsoft.com/office/drawing/2014/main" id="{467C517B-835A-6513-150D-DA009E8F330B}"/>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chemeClr val="bg1"/>
                </a:solidFill>
              </a:rPr>
              <a:t>Exercise 5</a:t>
            </a:r>
          </a:p>
        </p:txBody>
      </p:sp>
    </p:spTree>
    <p:extLst>
      <p:ext uri="{BB962C8B-B14F-4D97-AF65-F5344CB8AC3E}">
        <p14:creationId xmlns:p14="http://schemas.microsoft.com/office/powerpoint/2010/main" val="261375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95E8-631C-9791-6838-5DBF72AD60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66CB33-881C-5810-4C13-E381D78FFABD}"/>
              </a:ext>
            </a:extLst>
          </p:cNvPr>
          <p:cNvSpPr>
            <a:spLocks noGrp="1"/>
          </p:cNvSpPr>
          <p:nvPr>
            <p:ph idx="1"/>
          </p:nvPr>
        </p:nvSpPr>
        <p:spPr>
          <a:xfrm>
            <a:off x="838200" y="1516949"/>
            <a:ext cx="10515600" cy="4351338"/>
          </a:xfrm>
        </p:spPr>
        <p:txBody>
          <a:bodyPr>
            <a:normAutofit/>
          </a:bodyPr>
          <a:lstStyle/>
          <a:p>
            <a:r>
              <a:rPr lang="en-US" sz="2000" dirty="0"/>
              <a:t>Consider the following algorithm.</a:t>
            </a:r>
          </a:p>
          <a:p>
            <a:pPr marL="514350" indent="-514350">
              <a:buFont typeface="+mj-lt"/>
              <a:buAutoNum type="arabicPeriod"/>
            </a:pPr>
            <a:endParaRPr lang="en-US" sz="2000" dirty="0"/>
          </a:p>
          <a:p>
            <a:pPr marL="514350" indent="-514350">
              <a:buFont typeface="+mj-lt"/>
              <a:buAutoNum type="arabicPeriod"/>
            </a:pPr>
            <a:endParaRPr lang="en-US" sz="2000" dirty="0"/>
          </a:p>
          <a:p>
            <a:pPr marL="514350" indent="-514350">
              <a:buFont typeface="+mj-lt"/>
              <a:buAutoNum type="arabicPeriod"/>
            </a:pPr>
            <a:endParaRPr lang="en-US" sz="2000" dirty="0"/>
          </a:p>
          <a:p>
            <a:pPr marL="514350" indent="-514350">
              <a:buFont typeface="+mj-lt"/>
              <a:buAutoNum type="arabicPeriod"/>
            </a:pPr>
            <a:endParaRPr lang="en-US" sz="2000" dirty="0"/>
          </a:p>
          <a:p>
            <a:pPr marL="514350" indent="-514350">
              <a:buFont typeface="+mj-lt"/>
              <a:buAutoNum type="arabicPeriod"/>
            </a:pPr>
            <a:endParaRPr lang="en-US" sz="2000" dirty="0"/>
          </a:p>
          <a:p>
            <a:pPr marL="0" indent="0">
              <a:buNone/>
            </a:pPr>
            <a:endParaRPr lang="en-US" sz="2000" dirty="0"/>
          </a:p>
          <a:p>
            <a:pPr marL="514350" indent="-514350">
              <a:buFont typeface="+mj-lt"/>
              <a:buAutoNum type="arabicPeriod"/>
            </a:pPr>
            <a:r>
              <a:rPr lang="en-US" sz="2000" dirty="0"/>
              <a:t>What is its basic operation?</a:t>
            </a:r>
          </a:p>
          <a:p>
            <a:pPr marL="514350" indent="-514350">
              <a:buFont typeface="+mj-lt"/>
              <a:buAutoNum type="arabicPeriod"/>
            </a:pPr>
            <a:r>
              <a:rPr lang="en-US" sz="2000" dirty="0"/>
              <a:t>How many times is the basic operation executed?</a:t>
            </a:r>
          </a:p>
          <a:p>
            <a:pPr marL="514350" indent="-514350">
              <a:buFont typeface="+mj-lt"/>
              <a:buAutoNum type="arabicPeriod"/>
            </a:pPr>
            <a:r>
              <a:rPr lang="en-US" sz="2000" dirty="0"/>
              <a:t>What is the efficiency class of this algorithm?</a:t>
            </a:r>
          </a:p>
          <a:p>
            <a:endParaRPr lang="en-US" dirty="0"/>
          </a:p>
        </p:txBody>
      </p:sp>
      <p:sp>
        <p:nvSpPr>
          <p:cNvPr id="6" name="Title 1">
            <a:extLst>
              <a:ext uri="{FF2B5EF4-FFF2-40B4-BE49-F238E27FC236}">
                <a16:creationId xmlns:a16="http://schemas.microsoft.com/office/drawing/2014/main" id="{7D41EB83-9E72-0607-49AA-DDE2F76FCC69}"/>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chemeClr val="bg1"/>
                </a:solidFill>
              </a:rPr>
              <a:t>Exercise 6</a:t>
            </a:r>
          </a:p>
        </p:txBody>
      </p:sp>
      <p:pic>
        <p:nvPicPr>
          <p:cNvPr id="4" name="Picture 3" descr="A black and white text on a white background&#10;&#10;AI-generated content may be incorrect.">
            <a:extLst>
              <a:ext uri="{FF2B5EF4-FFF2-40B4-BE49-F238E27FC236}">
                <a16:creationId xmlns:a16="http://schemas.microsoft.com/office/drawing/2014/main" id="{C2789210-2FE9-45FF-13C2-1C3876116D3E}"/>
              </a:ext>
            </a:extLst>
          </p:cNvPr>
          <p:cNvPicPr>
            <a:picLocks noChangeAspect="1"/>
          </p:cNvPicPr>
          <p:nvPr/>
        </p:nvPicPr>
        <p:blipFill>
          <a:blip r:embed="rId2"/>
          <a:srcRect t="5852" b="4798"/>
          <a:stretch>
            <a:fillRect/>
          </a:stretch>
        </p:blipFill>
        <p:spPr>
          <a:xfrm>
            <a:off x="1339701" y="1887409"/>
            <a:ext cx="5036141" cy="2323083"/>
          </a:xfrm>
          <a:prstGeom prst="rect">
            <a:avLst/>
          </a:prstGeom>
        </p:spPr>
      </p:pic>
    </p:spTree>
    <p:extLst>
      <p:ext uri="{BB962C8B-B14F-4D97-AF65-F5344CB8AC3E}">
        <p14:creationId xmlns:p14="http://schemas.microsoft.com/office/powerpoint/2010/main" val="2193999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E2DA79-0AF8-BBB9-C586-7C1B957B6AF8}"/>
              </a:ext>
            </a:extLst>
          </p:cNvPr>
          <p:cNvSpPr>
            <a:spLocks noGrp="1"/>
          </p:cNvSpPr>
          <p:nvPr>
            <p:ph idx="1"/>
          </p:nvPr>
        </p:nvSpPr>
        <p:spPr>
          <a:xfrm>
            <a:off x="838200" y="1639255"/>
            <a:ext cx="10515600" cy="4351338"/>
          </a:xfrm>
        </p:spPr>
        <p:txBody>
          <a:bodyPr/>
          <a:lstStyle/>
          <a:p>
            <a:r>
              <a:rPr lang="en-US" sz="2000" dirty="0"/>
              <a:t>Consider the definition-based algorithm for adding two n × n matrices. </a:t>
            </a:r>
          </a:p>
          <a:p>
            <a:r>
              <a:rPr lang="en-US" sz="2000" dirty="0"/>
              <a:t>What is its basic operation? </a:t>
            </a:r>
          </a:p>
          <a:p>
            <a:r>
              <a:rPr lang="en-US" sz="2000" dirty="0"/>
              <a:t>How many times is it performed as a function of the matrix order n? </a:t>
            </a:r>
          </a:p>
          <a:p>
            <a:r>
              <a:rPr lang="en-US" sz="2000" dirty="0"/>
              <a:t>As a function of the total number of elements in the input matrices?</a:t>
            </a:r>
          </a:p>
          <a:p>
            <a:endParaRPr lang="en-US" dirty="0"/>
          </a:p>
        </p:txBody>
      </p:sp>
      <p:sp>
        <p:nvSpPr>
          <p:cNvPr id="5" name="TextBox 4">
            <a:extLst>
              <a:ext uri="{FF2B5EF4-FFF2-40B4-BE49-F238E27FC236}">
                <a16:creationId xmlns:a16="http://schemas.microsoft.com/office/drawing/2014/main" id="{1D59E792-0464-4A7F-B3D4-98E110C1207A}"/>
              </a:ext>
            </a:extLst>
          </p:cNvPr>
          <p:cNvSpPr txBox="1"/>
          <p:nvPr/>
        </p:nvSpPr>
        <p:spPr>
          <a:xfrm>
            <a:off x="1188188" y="3591640"/>
            <a:ext cx="7796324" cy="2585323"/>
          </a:xfrm>
          <a:prstGeom prst="rect">
            <a:avLst/>
          </a:prstGeom>
          <a:noFill/>
        </p:spPr>
        <p:txBody>
          <a:bodyPr wrap="square">
            <a:spAutoFit/>
          </a:bodyPr>
          <a:lstStyle/>
          <a:p>
            <a:r>
              <a:rPr lang="en-US" dirty="0"/>
              <a:t>Algorithm </a:t>
            </a:r>
            <a:r>
              <a:rPr lang="en-US" dirty="0" err="1"/>
              <a:t>MatrixAddition</a:t>
            </a:r>
            <a:r>
              <a:rPr lang="en-US" dirty="0"/>
              <a:t>(A[0..n-1], B[0..n-1])</a:t>
            </a:r>
          </a:p>
          <a:p>
            <a:r>
              <a:rPr lang="en-US" dirty="0"/>
              <a:t>    Input: Matrices A and B of size n × n</a:t>
            </a:r>
          </a:p>
          <a:p>
            <a:r>
              <a:rPr lang="en-US" dirty="0"/>
              <a:t>    Output: Matrix C of size n × n such that C[</a:t>
            </a:r>
            <a:r>
              <a:rPr lang="en-US" dirty="0" err="1"/>
              <a:t>i</a:t>
            </a:r>
            <a:r>
              <a:rPr lang="en-US" dirty="0"/>
              <a:t>][j] = A[</a:t>
            </a:r>
            <a:r>
              <a:rPr lang="en-US" dirty="0" err="1"/>
              <a:t>i</a:t>
            </a:r>
            <a:r>
              <a:rPr lang="en-US" dirty="0"/>
              <a:t>][j] + B[</a:t>
            </a:r>
            <a:r>
              <a:rPr lang="en-US" dirty="0" err="1"/>
              <a:t>i</a:t>
            </a:r>
            <a:r>
              <a:rPr lang="en-US" dirty="0"/>
              <a:t>][j]</a:t>
            </a:r>
          </a:p>
          <a:p>
            <a:endParaRPr lang="en-US" dirty="0"/>
          </a:p>
          <a:p>
            <a:r>
              <a:rPr lang="en-US" b="1" dirty="0"/>
              <a:t>    for </a:t>
            </a:r>
            <a:r>
              <a:rPr lang="en-US" dirty="0" err="1"/>
              <a:t>i</a:t>
            </a:r>
            <a:r>
              <a:rPr lang="en-US" dirty="0"/>
              <a:t> ← 0 </a:t>
            </a:r>
            <a:r>
              <a:rPr lang="en-US" b="1" dirty="0"/>
              <a:t>to</a:t>
            </a:r>
            <a:r>
              <a:rPr lang="en-US" dirty="0"/>
              <a:t> n - 1 </a:t>
            </a:r>
            <a:r>
              <a:rPr lang="en-US" b="1" dirty="0"/>
              <a:t>do</a:t>
            </a:r>
          </a:p>
          <a:p>
            <a:r>
              <a:rPr lang="en-US" dirty="0"/>
              <a:t>        </a:t>
            </a:r>
            <a:r>
              <a:rPr lang="en-US" b="1" dirty="0"/>
              <a:t>for</a:t>
            </a:r>
            <a:r>
              <a:rPr lang="en-US" dirty="0"/>
              <a:t> j ← 0 </a:t>
            </a:r>
            <a:r>
              <a:rPr lang="en-US" b="1" dirty="0"/>
              <a:t>to </a:t>
            </a:r>
            <a:r>
              <a:rPr lang="en-US" dirty="0"/>
              <a:t>n - 1 </a:t>
            </a:r>
            <a:r>
              <a:rPr lang="en-US" b="1" dirty="0"/>
              <a:t>do</a:t>
            </a:r>
          </a:p>
          <a:p>
            <a:r>
              <a:rPr lang="en-US" dirty="0"/>
              <a:t>            C[</a:t>
            </a:r>
            <a:r>
              <a:rPr lang="en-US" dirty="0" err="1"/>
              <a:t>i</a:t>
            </a:r>
            <a:r>
              <a:rPr lang="en-US" dirty="0"/>
              <a:t>][j] ← A[</a:t>
            </a:r>
            <a:r>
              <a:rPr lang="en-US" dirty="0" err="1"/>
              <a:t>i</a:t>
            </a:r>
            <a:r>
              <a:rPr lang="en-US" dirty="0"/>
              <a:t>][j] + B[</a:t>
            </a:r>
            <a:r>
              <a:rPr lang="en-US" dirty="0" err="1"/>
              <a:t>i</a:t>
            </a:r>
            <a:r>
              <a:rPr lang="en-US" dirty="0"/>
              <a:t>][j]</a:t>
            </a:r>
          </a:p>
          <a:p>
            <a:endParaRPr lang="en-US" dirty="0"/>
          </a:p>
          <a:p>
            <a:r>
              <a:rPr lang="en-US" b="1" dirty="0"/>
              <a:t>    return </a:t>
            </a:r>
            <a:r>
              <a:rPr lang="en-US" dirty="0"/>
              <a:t>C</a:t>
            </a:r>
          </a:p>
        </p:txBody>
      </p:sp>
      <p:sp>
        <p:nvSpPr>
          <p:cNvPr id="6" name="Title 1">
            <a:extLst>
              <a:ext uri="{FF2B5EF4-FFF2-40B4-BE49-F238E27FC236}">
                <a16:creationId xmlns:a16="http://schemas.microsoft.com/office/drawing/2014/main" id="{19FC93F6-B354-854F-7036-F304627D5AAE}"/>
              </a:ext>
            </a:extLst>
          </p:cNvPr>
          <p:cNvSpPr>
            <a:spLocks noGrp="1"/>
          </p:cNvSpPr>
          <p:nvPr>
            <p:ph type="title"/>
          </p:nvPr>
        </p:nvSpPr>
        <p:spPr>
          <a:xfrm>
            <a:off x="838200" y="0"/>
            <a:ext cx="10515600" cy="1325563"/>
          </a:xfrm>
        </p:spPr>
        <p:txBody>
          <a:bodyPr>
            <a:normAutofit/>
          </a:bodyPr>
          <a:lstStyle/>
          <a:p>
            <a:r>
              <a:rPr lang="en-US" sz="3000" dirty="0"/>
              <a:t>Exercise 7</a:t>
            </a:r>
          </a:p>
        </p:txBody>
      </p:sp>
    </p:spTree>
    <p:extLst>
      <p:ext uri="{BB962C8B-B14F-4D97-AF65-F5344CB8AC3E}">
        <p14:creationId xmlns:p14="http://schemas.microsoft.com/office/powerpoint/2010/main" val="2046621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5B833-7181-8991-E251-B78B801C11B2}"/>
              </a:ext>
            </a:extLst>
          </p:cNvPr>
          <p:cNvSpPr>
            <a:spLocks noGrp="1"/>
          </p:cNvSpPr>
          <p:nvPr>
            <p:ph type="title"/>
          </p:nvPr>
        </p:nvSpPr>
        <p:spPr>
          <a:xfrm>
            <a:off x="838200" y="0"/>
            <a:ext cx="10515600" cy="1325563"/>
          </a:xfrm>
        </p:spPr>
        <p:txBody>
          <a:bodyPr>
            <a:normAutofit/>
          </a:bodyPr>
          <a:lstStyle/>
          <a:p>
            <a:r>
              <a:rPr lang="en-US" sz="3000" dirty="0"/>
              <a:t>Exercise 8</a:t>
            </a:r>
          </a:p>
        </p:txBody>
      </p:sp>
      <p:sp>
        <p:nvSpPr>
          <p:cNvPr id="3" name="Content Placeholder 2">
            <a:extLst>
              <a:ext uri="{FF2B5EF4-FFF2-40B4-BE49-F238E27FC236}">
                <a16:creationId xmlns:a16="http://schemas.microsoft.com/office/drawing/2014/main" id="{13E9913C-7E43-AB8B-C16A-E8A1B91A198D}"/>
              </a:ext>
            </a:extLst>
          </p:cNvPr>
          <p:cNvSpPr>
            <a:spLocks noGrp="1"/>
          </p:cNvSpPr>
          <p:nvPr>
            <p:ph idx="1"/>
          </p:nvPr>
        </p:nvSpPr>
        <p:spPr>
          <a:xfrm>
            <a:off x="838200" y="1481930"/>
            <a:ext cx="10921409" cy="4351338"/>
          </a:xfrm>
        </p:spPr>
        <p:txBody>
          <a:bodyPr>
            <a:normAutofit/>
          </a:bodyPr>
          <a:lstStyle/>
          <a:p>
            <a:r>
              <a:rPr lang="en-US" sz="2000" dirty="0"/>
              <a:t>Given the algorithm below to finding the distance between the two closest elements in an array of numbers,  answer the following questions. </a:t>
            </a:r>
          </a:p>
          <a:p>
            <a:pPr marL="914400" lvl="1" indent="-457200">
              <a:buFont typeface="+mj-lt"/>
              <a:buAutoNum type="arabicPeriod"/>
            </a:pPr>
            <a:r>
              <a:rPr lang="en-US" sz="2000" dirty="0"/>
              <a:t>What’s the basic operation? </a:t>
            </a:r>
          </a:p>
          <a:p>
            <a:pPr marL="914400" lvl="1" indent="-457200">
              <a:buFont typeface="+mj-lt"/>
              <a:buAutoNum type="arabicPeriod"/>
            </a:pPr>
            <a:r>
              <a:rPr lang="en-US" sz="2000" dirty="0"/>
              <a:t>Write a summation that represents the number of times the basic operation is executed.</a:t>
            </a:r>
          </a:p>
          <a:p>
            <a:pPr marL="914400" lvl="1" indent="-457200">
              <a:buFont typeface="+mj-lt"/>
              <a:buAutoNum type="arabicPeriod"/>
            </a:pPr>
            <a:r>
              <a:rPr lang="en-US" sz="2000" dirty="0"/>
              <a:t>Solve the summation and find the function which represents the number of times the basic operation is executed. Show your work.</a:t>
            </a:r>
          </a:p>
          <a:p>
            <a:pPr marL="914400" lvl="1" indent="-457200">
              <a:buFont typeface="+mj-lt"/>
              <a:buAutoNum type="arabicPeriod"/>
            </a:pPr>
            <a:r>
              <a:rPr lang="en-US" sz="2000" dirty="0"/>
              <a:t>Classify the function above into one of the standard complexity classes using </a:t>
            </a:r>
            <a:r>
              <a:rPr lang="en-US" sz="2000" dirty="0" err="1"/>
              <a:t>Θ</a:t>
            </a:r>
            <a:r>
              <a:rPr lang="en-US" sz="2000" dirty="0"/>
              <a:t>-notation.</a:t>
            </a:r>
          </a:p>
          <a:p>
            <a:pPr marL="0" indent="0">
              <a:buNone/>
            </a:pPr>
            <a:endParaRPr lang="en-US" sz="2000" dirty="0"/>
          </a:p>
          <a:p>
            <a:endParaRPr lang="en-US" sz="2000" dirty="0"/>
          </a:p>
          <a:p>
            <a:endParaRPr lang="en-US" sz="2000" dirty="0"/>
          </a:p>
          <a:p>
            <a:endParaRPr lang="en-US" sz="2000" dirty="0"/>
          </a:p>
          <a:p>
            <a:endParaRPr lang="en-US" sz="2000" dirty="0"/>
          </a:p>
          <a:p>
            <a:endParaRPr lang="en-US" dirty="0"/>
          </a:p>
        </p:txBody>
      </p:sp>
      <p:pic>
        <p:nvPicPr>
          <p:cNvPr id="4" name="Content Placeholder 4" descr="A math equations and numbers&#10;&#10;AI-generated content may be incorrect.">
            <a:extLst>
              <a:ext uri="{FF2B5EF4-FFF2-40B4-BE49-F238E27FC236}">
                <a16:creationId xmlns:a16="http://schemas.microsoft.com/office/drawing/2014/main" id="{6A22AE99-0482-6A3D-7089-F05C9DD80D2A}"/>
              </a:ext>
            </a:extLst>
          </p:cNvPr>
          <p:cNvPicPr>
            <a:picLocks noChangeAspect="1"/>
          </p:cNvPicPr>
          <p:nvPr/>
        </p:nvPicPr>
        <p:blipFill>
          <a:blip r:embed="rId3"/>
          <a:srcRect l="6219" t="4972" r="5152" b="4401"/>
          <a:stretch>
            <a:fillRect/>
          </a:stretch>
        </p:blipFill>
        <p:spPr>
          <a:xfrm>
            <a:off x="2690037" y="4008474"/>
            <a:ext cx="5454502" cy="2456122"/>
          </a:xfrm>
          <a:prstGeom prst="rect">
            <a:avLst/>
          </a:prstGeom>
        </p:spPr>
      </p:pic>
    </p:spTree>
    <p:extLst>
      <p:ext uri="{BB962C8B-B14F-4D97-AF65-F5344CB8AC3E}">
        <p14:creationId xmlns:p14="http://schemas.microsoft.com/office/powerpoint/2010/main" val="2214919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E9D91-949A-A516-37DF-3F604B5C5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9054E-9F90-D4A9-8ADA-CB62BD5D05D6}"/>
              </a:ext>
            </a:extLst>
          </p:cNvPr>
          <p:cNvSpPr>
            <a:spLocks noGrp="1"/>
          </p:cNvSpPr>
          <p:nvPr>
            <p:ph type="title"/>
          </p:nvPr>
        </p:nvSpPr>
        <p:spPr>
          <a:xfrm>
            <a:off x="838200" y="0"/>
            <a:ext cx="10515600" cy="1325563"/>
          </a:xfrm>
        </p:spPr>
        <p:txBody>
          <a:bodyPr>
            <a:normAutofit/>
          </a:bodyPr>
          <a:lstStyle/>
          <a:p>
            <a:r>
              <a:rPr lang="en-US" sz="3000" dirty="0"/>
              <a:t>Exercise 9</a:t>
            </a:r>
          </a:p>
        </p:txBody>
      </p:sp>
      <p:sp>
        <p:nvSpPr>
          <p:cNvPr id="3" name="Content Placeholder 2">
            <a:extLst>
              <a:ext uri="{FF2B5EF4-FFF2-40B4-BE49-F238E27FC236}">
                <a16:creationId xmlns:a16="http://schemas.microsoft.com/office/drawing/2014/main" id="{00571E23-5468-E58F-5BA5-7D187ED8B3B0}"/>
              </a:ext>
            </a:extLst>
          </p:cNvPr>
          <p:cNvSpPr>
            <a:spLocks noGrp="1"/>
          </p:cNvSpPr>
          <p:nvPr>
            <p:ph idx="1"/>
          </p:nvPr>
        </p:nvSpPr>
        <p:spPr>
          <a:xfrm>
            <a:off x="838200" y="1325563"/>
            <a:ext cx="10921409" cy="4351338"/>
          </a:xfrm>
        </p:spPr>
        <p:txBody>
          <a:bodyPr>
            <a:normAutofit/>
          </a:bodyPr>
          <a:lstStyle/>
          <a:p>
            <a:r>
              <a:rPr lang="en-US" sz="2000" dirty="0"/>
              <a:t>Given the algorithm below to finding the distance between the two closest elements in an array of numbers,  answer the following questions. </a:t>
            </a:r>
          </a:p>
          <a:p>
            <a:pPr marL="914400" lvl="1" indent="-457200">
              <a:buFont typeface="+mj-lt"/>
              <a:buAutoNum type="arabicPeriod"/>
            </a:pPr>
            <a:r>
              <a:rPr lang="en-US" sz="2000" dirty="0"/>
              <a:t>What’s the basic operation? </a:t>
            </a:r>
          </a:p>
          <a:p>
            <a:pPr marL="914400" lvl="1" indent="-457200">
              <a:buFont typeface="+mj-lt"/>
              <a:buAutoNum type="arabicPeriod"/>
            </a:pPr>
            <a:r>
              <a:rPr lang="en-US" sz="2000" dirty="0"/>
              <a:t>Write a summation that represents the largest number of times the basic operation is executed.</a:t>
            </a:r>
          </a:p>
          <a:p>
            <a:pPr marL="914400" lvl="1" indent="-457200">
              <a:buFont typeface="+mj-lt"/>
              <a:buAutoNum type="arabicPeriod"/>
            </a:pPr>
            <a:r>
              <a:rPr lang="en-US" sz="2000" dirty="0"/>
              <a:t>Solve the summation and find the function which represents the largest number of times the basic operation is executed. Show your work.</a:t>
            </a:r>
          </a:p>
          <a:p>
            <a:pPr marL="914400" lvl="1" indent="-457200">
              <a:buFont typeface="+mj-lt"/>
              <a:buAutoNum type="arabicPeriod"/>
            </a:pPr>
            <a:r>
              <a:rPr lang="en-US" sz="2000" dirty="0"/>
              <a:t>Classify the function above into one of the standard complexity classes using </a:t>
            </a:r>
            <a:r>
              <a:rPr lang="en-US" sz="2000" dirty="0" err="1"/>
              <a:t>Θ</a:t>
            </a:r>
            <a:r>
              <a:rPr lang="en-US" sz="2000" dirty="0"/>
              <a:t>-notation.</a:t>
            </a:r>
          </a:p>
          <a:p>
            <a:pPr marL="0" indent="0">
              <a:buNone/>
            </a:pPr>
            <a:endParaRPr lang="en-US" sz="2000" dirty="0"/>
          </a:p>
          <a:p>
            <a:endParaRPr lang="en-US" sz="2000" dirty="0"/>
          </a:p>
          <a:p>
            <a:endParaRPr lang="en-US" sz="2000" dirty="0"/>
          </a:p>
          <a:p>
            <a:endParaRPr lang="en-US" sz="2000" dirty="0"/>
          </a:p>
          <a:p>
            <a:endParaRPr lang="en-US" sz="2000" dirty="0"/>
          </a:p>
          <a:p>
            <a:endParaRPr lang="en-US" dirty="0"/>
          </a:p>
        </p:txBody>
      </p:sp>
      <p:pic>
        <p:nvPicPr>
          <p:cNvPr id="5" name="Content Placeholder 4" descr="A screenshot of a computer code&#10;&#10;AI-generated content may be incorrect.">
            <a:extLst>
              <a:ext uri="{FF2B5EF4-FFF2-40B4-BE49-F238E27FC236}">
                <a16:creationId xmlns:a16="http://schemas.microsoft.com/office/drawing/2014/main" id="{0C32A707-A1EF-B156-57C6-2A34B3454069}"/>
              </a:ext>
            </a:extLst>
          </p:cNvPr>
          <p:cNvPicPr>
            <a:picLocks noChangeAspect="1"/>
          </p:cNvPicPr>
          <p:nvPr/>
        </p:nvPicPr>
        <p:blipFill>
          <a:blip r:embed="rId3"/>
          <a:srcRect l="3605" t="4284" r="6828"/>
          <a:stretch>
            <a:fillRect/>
          </a:stretch>
        </p:blipFill>
        <p:spPr>
          <a:xfrm>
            <a:off x="2753833" y="3785966"/>
            <a:ext cx="6962529" cy="3072033"/>
          </a:xfrm>
          <a:prstGeom prst="rect">
            <a:avLst/>
          </a:prstGeom>
        </p:spPr>
      </p:pic>
    </p:spTree>
    <p:extLst>
      <p:ext uri="{BB962C8B-B14F-4D97-AF65-F5344CB8AC3E}">
        <p14:creationId xmlns:p14="http://schemas.microsoft.com/office/powerpoint/2010/main" val="1866102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CF81A2-B55D-39EA-6C94-AE6CF607119B}"/>
              </a:ext>
            </a:extLst>
          </p:cNvPr>
          <p:cNvSpPr>
            <a:spLocks noGrp="1"/>
          </p:cNvSpPr>
          <p:nvPr>
            <p:ph idx="1"/>
          </p:nvPr>
        </p:nvSpPr>
        <p:spPr>
          <a:xfrm>
            <a:off x="838200" y="1580745"/>
            <a:ext cx="10515600" cy="4351338"/>
          </a:xfrm>
        </p:spPr>
        <p:txBody>
          <a:bodyPr/>
          <a:lstStyle/>
          <a:p>
            <a:r>
              <a:rPr lang="en-US" sz="2000" dirty="0"/>
              <a:t>Consider the following algorithm for sorting an array: for each element, it counts how many elements are smaller than it and uses this count to place the element in its correct position in the sorted array. Analyze the efficiency of this algorithm.</a:t>
            </a:r>
            <a:endParaRPr lang="en-US" dirty="0"/>
          </a:p>
        </p:txBody>
      </p:sp>
      <p:pic>
        <p:nvPicPr>
          <p:cNvPr id="5" name="Picture 4" descr="A black and white text with white text&#10;&#10;AI-generated content may be incorrect.">
            <a:extLst>
              <a:ext uri="{FF2B5EF4-FFF2-40B4-BE49-F238E27FC236}">
                <a16:creationId xmlns:a16="http://schemas.microsoft.com/office/drawing/2014/main" id="{CE8D5CE4-7E28-4C6E-8CD4-A303F4EF8A75}"/>
              </a:ext>
            </a:extLst>
          </p:cNvPr>
          <p:cNvPicPr>
            <a:picLocks noChangeAspect="1"/>
          </p:cNvPicPr>
          <p:nvPr/>
        </p:nvPicPr>
        <p:blipFill>
          <a:blip r:embed="rId2"/>
          <a:stretch>
            <a:fillRect/>
          </a:stretch>
        </p:blipFill>
        <p:spPr>
          <a:xfrm>
            <a:off x="1885120" y="2884047"/>
            <a:ext cx="5011964" cy="3532705"/>
          </a:xfrm>
          <a:prstGeom prst="rect">
            <a:avLst/>
          </a:prstGeom>
        </p:spPr>
      </p:pic>
      <p:sp>
        <p:nvSpPr>
          <p:cNvPr id="6" name="Title 1">
            <a:extLst>
              <a:ext uri="{FF2B5EF4-FFF2-40B4-BE49-F238E27FC236}">
                <a16:creationId xmlns:a16="http://schemas.microsoft.com/office/drawing/2014/main" id="{22842599-01BA-9C5A-0548-E1D8B82A8A39}"/>
              </a:ext>
            </a:extLst>
          </p:cNvPr>
          <p:cNvSpPr>
            <a:spLocks noGrp="1"/>
          </p:cNvSpPr>
          <p:nvPr>
            <p:ph type="title"/>
          </p:nvPr>
        </p:nvSpPr>
        <p:spPr>
          <a:xfrm>
            <a:off x="838200" y="0"/>
            <a:ext cx="10515600" cy="1325563"/>
          </a:xfrm>
        </p:spPr>
        <p:txBody>
          <a:bodyPr>
            <a:normAutofit/>
          </a:bodyPr>
          <a:lstStyle/>
          <a:p>
            <a:r>
              <a:rPr lang="en-US" sz="3000" dirty="0"/>
              <a:t>Exercise 10</a:t>
            </a:r>
          </a:p>
        </p:txBody>
      </p:sp>
    </p:spTree>
    <p:extLst>
      <p:ext uri="{BB962C8B-B14F-4D97-AF65-F5344CB8AC3E}">
        <p14:creationId xmlns:p14="http://schemas.microsoft.com/office/powerpoint/2010/main" val="2445738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CFAD8C-896E-D229-72BF-CBF2A31EF481}"/>
              </a:ext>
            </a:extLst>
          </p:cNvPr>
          <p:cNvSpPr>
            <a:spLocks noGrp="1"/>
          </p:cNvSpPr>
          <p:nvPr>
            <p:ph idx="1"/>
          </p:nvPr>
        </p:nvSpPr>
        <p:spPr>
          <a:xfrm>
            <a:off x="838200" y="1430209"/>
            <a:ext cx="10515600" cy="4351338"/>
          </a:xfrm>
        </p:spPr>
        <p:txBody>
          <a:bodyPr/>
          <a:lstStyle/>
          <a:p>
            <a:r>
              <a:rPr lang="en-US" sz="2000" dirty="0"/>
              <a:t>Solve the following recurrence relations.</a:t>
            </a:r>
          </a:p>
          <a:p>
            <a:endParaRPr lang="en-US" dirty="0"/>
          </a:p>
        </p:txBody>
      </p:sp>
      <p:pic>
        <p:nvPicPr>
          <p:cNvPr id="5" name="Picture 4" descr="A number of mathematical equations&#10;&#10;AI-generated content may be incorrect.">
            <a:extLst>
              <a:ext uri="{FF2B5EF4-FFF2-40B4-BE49-F238E27FC236}">
                <a16:creationId xmlns:a16="http://schemas.microsoft.com/office/drawing/2014/main" id="{92DCB264-D5CA-7376-B28E-006B91148E5F}"/>
              </a:ext>
            </a:extLst>
          </p:cNvPr>
          <p:cNvPicPr>
            <a:picLocks noChangeAspect="1"/>
          </p:cNvPicPr>
          <p:nvPr/>
        </p:nvPicPr>
        <p:blipFill>
          <a:blip r:embed="rId2"/>
          <a:stretch>
            <a:fillRect/>
          </a:stretch>
        </p:blipFill>
        <p:spPr>
          <a:xfrm>
            <a:off x="2087777" y="2106243"/>
            <a:ext cx="7008849" cy="1897345"/>
          </a:xfrm>
          <a:prstGeom prst="rect">
            <a:avLst/>
          </a:prstGeom>
        </p:spPr>
      </p:pic>
      <p:sp>
        <p:nvSpPr>
          <p:cNvPr id="6" name="Title 1">
            <a:extLst>
              <a:ext uri="{FF2B5EF4-FFF2-40B4-BE49-F238E27FC236}">
                <a16:creationId xmlns:a16="http://schemas.microsoft.com/office/drawing/2014/main" id="{C31F1F92-2DB6-771C-A56C-C97AEFD57D4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chemeClr val="bg1"/>
                </a:solidFill>
              </a:rPr>
              <a:t>Exercise 11</a:t>
            </a:r>
          </a:p>
        </p:txBody>
      </p:sp>
    </p:spTree>
    <p:extLst>
      <p:ext uri="{BB962C8B-B14F-4D97-AF65-F5344CB8AC3E}">
        <p14:creationId xmlns:p14="http://schemas.microsoft.com/office/powerpoint/2010/main" val="2896270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D86BD0-46BE-A592-154E-CAB0BF39C569}"/>
              </a:ext>
            </a:extLst>
          </p:cNvPr>
          <p:cNvSpPr>
            <a:spLocks noGrp="1"/>
          </p:cNvSpPr>
          <p:nvPr>
            <p:ph idx="1"/>
          </p:nvPr>
        </p:nvSpPr>
        <p:spPr>
          <a:xfrm>
            <a:off x="838200" y="1555992"/>
            <a:ext cx="10515600" cy="4351338"/>
          </a:xfrm>
        </p:spPr>
        <p:txBody>
          <a:bodyPr>
            <a:normAutofit fontScale="92500" lnSpcReduction="10000"/>
          </a:bodyPr>
          <a:lstStyle/>
          <a:p>
            <a:r>
              <a:rPr lang="en-US" sz="2000" dirty="0"/>
              <a:t>Consider the following recursive algorithm.</a:t>
            </a:r>
          </a:p>
          <a:p>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r>
              <a:rPr lang="en-US" sz="2000" dirty="0"/>
              <a:t>What’s the basic operation?</a:t>
            </a:r>
          </a:p>
          <a:p>
            <a:pPr lvl="0"/>
            <a:r>
              <a:rPr lang="en-US" sz="2000" dirty="0"/>
              <a:t>Write a recurrence relation that represents the number of times the basic operation is executed.</a:t>
            </a:r>
          </a:p>
          <a:p>
            <a:r>
              <a:rPr lang="en-US" sz="2000" dirty="0"/>
              <a:t>Solve the recurrence relation using backward substitution and find the function which represents the number of times the basic operation is executed. Show your work.</a:t>
            </a:r>
          </a:p>
          <a:p>
            <a:r>
              <a:rPr lang="en-US" sz="2000" dirty="0"/>
              <a:t>Classify the function above into one of the standard complexity classes using </a:t>
            </a:r>
            <a:r>
              <a:rPr lang="en-US" sz="2000" dirty="0" err="1"/>
              <a:t>Θ</a:t>
            </a:r>
            <a:r>
              <a:rPr lang="en-US" sz="2000" dirty="0"/>
              <a:t>-notation.</a:t>
            </a:r>
          </a:p>
          <a:p>
            <a:endParaRPr lang="en-US" sz="2000" dirty="0"/>
          </a:p>
          <a:p>
            <a:endParaRPr lang="en-US" dirty="0"/>
          </a:p>
        </p:txBody>
      </p:sp>
      <p:pic>
        <p:nvPicPr>
          <p:cNvPr id="5" name="Picture 4" descr="A white background with black text&#10;&#10;AI-generated content may be incorrect.">
            <a:extLst>
              <a:ext uri="{FF2B5EF4-FFF2-40B4-BE49-F238E27FC236}">
                <a16:creationId xmlns:a16="http://schemas.microsoft.com/office/drawing/2014/main" id="{D9D09817-1656-9461-8C6E-AEC5AE4D19A9}"/>
              </a:ext>
            </a:extLst>
          </p:cNvPr>
          <p:cNvPicPr>
            <a:picLocks noChangeAspect="1"/>
          </p:cNvPicPr>
          <p:nvPr/>
        </p:nvPicPr>
        <p:blipFill>
          <a:blip r:embed="rId2"/>
          <a:srcRect l="3458" t="10091" r="14086"/>
          <a:stretch>
            <a:fillRect/>
          </a:stretch>
        </p:blipFill>
        <p:spPr>
          <a:xfrm>
            <a:off x="1648046" y="1907397"/>
            <a:ext cx="3856457" cy="1983753"/>
          </a:xfrm>
          <a:prstGeom prst="rect">
            <a:avLst/>
          </a:prstGeom>
        </p:spPr>
      </p:pic>
      <p:sp>
        <p:nvSpPr>
          <p:cNvPr id="6" name="Title 1">
            <a:extLst>
              <a:ext uri="{FF2B5EF4-FFF2-40B4-BE49-F238E27FC236}">
                <a16:creationId xmlns:a16="http://schemas.microsoft.com/office/drawing/2014/main" id="{42A1640B-C825-B882-EA20-6873C0FDEA79}"/>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chemeClr val="bg1"/>
                </a:solidFill>
              </a:rPr>
              <a:t>Exercise 12</a:t>
            </a:r>
          </a:p>
        </p:txBody>
      </p:sp>
    </p:spTree>
    <p:extLst>
      <p:ext uri="{BB962C8B-B14F-4D97-AF65-F5344CB8AC3E}">
        <p14:creationId xmlns:p14="http://schemas.microsoft.com/office/powerpoint/2010/main" val="418100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365</TotalTime>
  <Words>687</Words>
  <Application>Microsoft Macintosh PowerPoint</Application>
  <PresentationFormat>Widescreen</PresentationFormat>
  <Paragraphs>91</Paragraphs>
  <Slides>13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Times</vt:lpstr>
      <vt:lpstr>Office Theme</vt:lpstr>
      <vt:lpstr>Midterm Exam Preparation</vt:lpstr>
      <vt:lpstr>Exercise 1</vt:lpstr>
      <vt:lpstr>Exercise 2</vt:lpstr>
      <vt:lpstr>PowerPoint Presentation</vt:lpstr>
      <vt:lpstr>Exercise 4</vt:lpstr>
      <vt:lpstr>PowerPoint Presentation</vt:lpstr>
      <vt:lpstr>PowerPoint Presentation</vt:lpstr>
      <vt:lpstr>Exercise 7</vt:lpstr>
      <vt:lpstr>Exercise 8</vt:lpstr>
      <vt:lpstr>Exercise 9</vt:lpstr>
      <vt:lpstr>Exercise 10</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Farah Kamw</dc:creator>
  <cp:lastModifiedBy>Farah Kamw</cp:lastModifiedBy>
  <cp:revision>9</cp:revision>
  <dcterms:created xsi:type="dcterms:W3CDTF">2025-10-05T18:11:31Z</dcterms:created>
  <dcterms:modified xsi:type="dcterms:W3CDTF">2025-10-06T15:24:19Z</dcterms:modified>
</cp:coreProperties>
</file>