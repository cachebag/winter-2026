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4" r:id="rId39"/>
    <p:sldId id="293"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13" r:id="rId53"/>
    <p:sldId id="307" r:id="rId54"/>
    <p:sldId id="308" r:id="rId55"/>
    <p:sldId id="309" r:id="rId56"/>
    <p:sldId id="310" r:id="rId57"/>
    <p:sldId id="311" r:id="rId58"/>
    <p:sldId id="312"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9" r:id="rId93"/>
    <p:sldId id="348" r:id="rId94"/>
    <p:sldId id="350" r:id="rId95"/>
    <p:sldId id="351" r:id="rId96"/>
    <p:sldId id="352" r:id="rId97"/>
    <p:sldId id="353" r:id="rId98"/>
    <p:sldId id="354" r:id="rId99"/>
    <p:sldId id="355" r:id="rId100"/>
    <p:sldId id="356" r:id="rId101"/>
    <p:sldId id="357" r:id="rId102"/>
    <p:sldId id="358" r:id="rId103"/>
    <p:sldId id="359" r:id="rId10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3836"/>
  </p:normalViewPr>
  <p:slideViewPr>
    <p:cSldViewPr snapToGrid="0">
      <p:cViewPr varScale="1">
        <p:scale>
          <a:sx n="119" d="100"/>
          <a:sy n="119" d="100"/>
        </p:scale>
        <p:origin x="8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D2AE75-4128-0E44-84F8-E938508858E9}" type="datetimeFigureOut">
              <a:rPr lang="en-US" smtClean="0"/>
              <a:t>8/24/25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2B2CC2-B9A1-BC41-9CF2-3E8E1003E77C}" type="slidenum">
              <a:rPr lang="en-US" smtClean="0"/>
              <a:t>‹#›</a:t>
            </a:fld>
            <a:endParaRPr lang="en-US"/>
          </a:p>
        </p:txBody>
      </p:sp>
    </p:spTree>
    <p:extLst>
      <p:ext uri="{BB962C8B-B14F-4D97-AF65-F5344CB8AC3E}">
        <p14:creationId xmlns:p14="http://schemas.microsoft.com/office/powerpoint/2010/main" val="323390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2B2CC2-B9A1-BC41-9CF2-3E8E1003E77C}" type="slidenum">
              <a:rPr lang="en-US" smtClean="0"/>
              <a:t>22</a:t>
            </a:fld>
            <a:endParaRPr lang="en-US"/>
          </a:p>
        </p:txBody>
      </p:sp>
    </p:spTree>
    <p:extLst>
      <p:ext uri="{BB962C8B-B14F-4D97-AF65-F5344CB8AC3E}">
        <p14:creationId xmlns:p14="http://schemas.microsoft.com/office/powerpoint/2010/main" val="1719306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TimesTen"/>
              </a:rPr>
              <a:t>For example, most people would agree that Euclid’s algorithm is simpler than the middle-school procedure for computing </a:t>
            </a:r>
            <a:r>
              <a:rPr lang="en-US" sz="1200" dirty="0" err="1">
                <a:effectLst/>
                <a:latin typeface="TimesTen"/>
              </a:rPr>
              <a:t>gcd</a:t>
            </a:r>
            <a:r>
              <a:rPr lang="en-US" sz="1200" dirty="0">
                <a:effectLst/>
                <a:latin typeface="MTMI"/>
              </a:rPr>
              <a:t>(m, n)</a:t>
            </a:r>
            <a:r>
              <a:rPr lang="en-US" sz="1200" dirty="0">
                <a:effectLst/>
                <a:latin typeface="TimesTen"/>
              </a:rPr>
              <a:t>, but it is not clear whether Euclid’s algorithm is simpler than the consecutive integer checking algorithm. </a:t>
            </a:r>
            <a:endParaRPr lang="en-US" dirty="0"/>
          </a:p>
          <a:p>
            <a:endParaRPr lang="en-US" dirty="0"/>
          </a:p>
        </p:txBody>
      </p:sp>
      <p:sp>
        <p:nvSpPr>
          <p:cNvPr id="4" name="Slide Number Placeholder 3"/>
          <p:cNvSpPr>
            <a:spLocks noGrp="1"/>
          </p:cNvSpPr>
          <p:nvPr>
            <p:ph type="sldNum" sz="quarter" idx="5"/>
          </p:nvPr>
        </p:nvSpPr>
        <p:spPr/>
        <p:txBody>
          <a:bodyPr/>
          <a:lstStyle/>
          <a:p>
            <a:fld id="{DC2B2CC2-B9A1-BC41-9CF2-3E8E1003E77C}" type="slidenum">
              <a:rPr lang="en-US" smtClean="0"/>
              <a:t>28</a:t>
            </a:fld>
            <a:endParaRPr lang="en-US"/>
          </a:p>
        </p:txBody>
      </p:sp>
    </p:spTree>
    <p:extLst>
      <p:ext uri="{BB962C8B-B14F-4D97-AF65-F5344CB8AC3E}">
        <p14:creationId xmlns:p14="http://schemas.microsoft.com/office/powerpoint/2010/main" val="305504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2B2CC2-B9A1-BC41-9CF2-3E8E1003E77C}" type="slidenum">
              <a:rPr lang="en-US" smtClean="0"/>
              <a:t>36</a:t>
            </a:fld>
            <a:endParaRPr lang="en-US"/>
          </a:p>
        </p:txBody>
      </p:sp>
    </p:spTree>
    <p:extLst>
      <p:ext uri="{BB962C8B-B14F-4D97-AF65-F5344CB8AC3E}">
        <p14:creationId xmlns:p14="http://schemas.microsoft.com/office/powerpoint/2010/main" val="1234835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2B2CC2-B9A1-BC41-9CF2-3E8E1003E77C}" type="slidenum">
              <a:rPr lang="en-US" smtClean="0"/>
              <a:t>43</a:t>
            </a:fld>
            <a:endParaRPr lang="en-US"/>
          </a:p>
        </p:txBody>
      </p:sp>
    </p:spTree>
    <p:extLst>
      <p:ext uri="{BB962C8B-B14F-4D97-AF65-F5344CB8AC3E}">
        <p14:creationId xmlns:p14="http://schemas.microsoft.com/office/powerpoint/2010/main" val="4504584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permutation</a:t>
            </a:r>
            <a:r>
              <a:rPr lang="en-US" dirty="0"/>
              <a:t> is an </a:t>
            </a:r>
            <a:r>
              <a:rPr lang="en-US" b="1" dirty="0"/>
              <a:t>arrangement of items in a specific order</a:t>
            </a:r>
            <a:r>
              <a:rPr lang="en-US" dirty="0"/>
              <a:t>.</a:t>
            </a:r>
          </a:p>
          <a:p>
            <a:r>
              <a:rPr lang="en-US" dirty="0"/>
              <a:t>A </a:t>
            </a:r>
            <a:r>
              <a:rPr lang="en-US" b="1" dirty="0"/>
              <a:t>combination</a:t>
            </a:r>
            <a:r>
              <a:rPr lang="en-US" dirty="0"/>
              <a:t> is a selection of items </a:t>
            </a:r>
            <a:r>
              <a:rPr lang="en-US" b="1" dirty="0"/>
              <a:t>where order does </a:t>
            </a:r>
            <a:r>
              <a:rPr lang="en-US" b="1" i="1" dirty="0"/>
              <a:t>not</a:t>
            </a:r>
            <a:r>
              <a:rPr lang="en-US" b="1" dirty="0"/>
              <a:t> matter</a:t>
            </a:r>
            <a:r>
              <a:rPr lang="en-US" dirty="0"/>
              <a:t>.</a:t>
            </a:r>
          </a:p>
          <a:p>
            <a:endParaRPr lang="en-US" dirty="0"/>
          </a:p>
        </p:txBody>
      </p:sp>
      <p:sp>
        <p:nvSpPr>
          <p:cNvPr id="4" name="Slide Number Placeholder 3"/>
          <p:cNvSpPr>
            <a:spLocks noGrp="1"/>
          </p:cNvSpPr>
          <p:nvPr>
            <p:ph type="sldNum" sz="quarter" idx="5"/>
          </p:nvPr>
        </p:nvSpPr>
        <p:spPr/>
        <p:txBody>
          <a:bodyPr/>
          <a:lstStyle/>
          <a:p>
            <a:fld id="{DC2B2CC2-B9A1-BC41-9CF2-3E8E1003E77C}" type="slidenum">
              <a:rPr lang="en-US" smtClean="0"/>
              <a:t>45</a:t>
            </a:fld>
            <a:endParaRPr lang="en-US"/>
          </a:p>
        </p:txBody>
      </p:sp>
    </p:spTree>
    <p:extLst>
      <p:ext uri="{BB962C8B-B14F-4D97-AF65-F5344CB8AC3E}">
        <p14:creationId xmlns:p14="http://schemas.microsoft.com/office/powerpoint/2010/main" val="95663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2B2CC2-B9A1-BC41-9CF2-3E8E1003E77C}" type="slidenum">
              <a:rPr lang="en-US" smtClean="0"/>
              <a:t>50</a:t>
            </a:fld>
            <a:endParaRPr lang="en-US"/>
          </a:p>
        </p:txBody>
      </p:sp>
    </p:spTree>
    <p:extLst>
      <p:ext uri="{BB962C8B-B14F-4D97-AF65-F5344CB8AC3E}">
        <p14:creationId xmlns:p14="http://schemas.microsoft.com/office/powerpoint/2010/main" val="2021457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8757B-99C0-120C-1C6B-A17480AF671A}"/>
              </a:ext>
            </a:extLst>
          </p:cNvPr>
          <p:cNvSpPr>
            <a:spLocks noGrp="1"/>
          </p:cNvSpPr>
          <p:nvPr>
            <p:ph type="ctrTitle"/>
          </p:nvPr>
        </p:nvSpPr>
        <p:spPr>
          <a:xfrm>
            <a:off x="1524000" y="1122363"/>
            <a:ext cx="9144000" cy="2387600"/>
          </a:xfrm>
        </p:spPr>
        <p:txBody>
          <a:bodyPr anchor="b">
            <a:normAutofit/>
          </a:bodyPr>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D1EAE6FB-D08A-6324-7B5A-6C59340392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BEFD2B9-F8CB-2E82-D5D1-46944539E1DB}"/>
              </a:ext>
            </a:extLst>
          </p:cNvPr>
          <p:cNvSpPr>
            <a:spLocks noGrp="1"/>
          </p:cNvSpPr>
          <p:nvPr>
            <p:ph type="dt" sz="half" idx="10"/>
          </p:nvPr>
        </p:nvSpPr>
        <p:spPr/>
        <p:txBody>
          <a:bodyPr/>
          <a:lstStyle/>
          <a:p>
            <a:fld id="{DF940045-D3CC-F544-82EA-050364E657F5}" type="datetimeFigureOut">
              <a:rPr lang="en-US" smtClean="0"/>
              <a:t>8/24/25</a:t>
            </a:fld>
            <a:endParaRPr lang="en-US"/>
          </a:p>
        </p:txBody>
      </p:sp>
      <p:sp>
        <p:nvSpPr>
          <p:cNvPr id="5" name="Footer Placeholder 4">
            <a:extLst>
              <a:ext uri="{FF2B5EF4-FFF2-40B4-BE49-F238E27FC236}">
                <a16:creationId xmlns:a16="http://schemas.microsoft.com/office/drawing/2014/main" id="{1704AB0E-C610-1057-E64E-C1616A9605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04E9F6-47CC-6470-6B23-6B14A986FE18}"/>
              </a:ext>
            </a:extLst>
          </p:cNvPr>
          <p:cNvSpPr>
            <a:spLocks noGrp="1"/>
          </p:cNvSpPr>
          <p:nvPr>
            <p:ph type="sldNum" sz="quarter" idx="12"/>
          </p:nvPr>
        </p:nvSpPr>
        <p:spPr/>
        <p:txBody>
          <a:bodyPr/>
          <a:lstStyle/>
          <a:p>
            <a:fld id="{1166D15D-DE8D-4F41-A932-4115421ED4BD}" type="slidenum">
              <a:rPr lang="en-US" smtClean="0"/>
              <a:t>‹#›</a:t>
            </a:fld>
            <a:endParaRPr lang="en-US"/>
          </a:p>
        </p:txBody>
      </p:sp>
    </p:spTree>
    <p:extLst>
      <p:ext uri="{BB962C8B-B14F-4D97-AF65-F5344CB8AC3E}">
        <p14:creationId xmlns:p14="http://schemas.microsoft.com/office/powerpoint/2010/main" val="633361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AE3DD-6289-36B1-204D-368ADC6B9D13}"/>
              </a:ext>
            </a:extLst>
          </p:cNvPr>
          <p:cNvSpPr>
            <a:spLocks noGrp="1"/>
          </p:cNvSpPr>
          <p:nvPr>
            <p:ph type="title"/>
          </p:nvPr>
        </p:nvSpPr>
        <p:spPr>
          <a:xfrm>
            <a:off x="838200" y="18255"/>
            <a:ext cx="10515600" cy="1325563"/>
          </a:xfrm>
        </p:spPr>
        <p:txBody>
          <a:bodyP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401859A0-F5EC-26CA-B0B1-54384E180C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81F2DE-771B-21B2-65EB-A22C49B84564}"/>
              </a:ext>
            </a:extLst>
          </p:cNvPr>
          <p:cNvSpPr>
            <a:spLocks noGrp="1"/>
          </p:cNvSpPr>
          <p:nvPr>
            <p:ph type="dt" sz="half" idx="10"/>
          </p:nvPr>
        </p:nvSpPr>
        <p:spPr/>
        <p:txBody>
          <a:bodyPr/>
          <a:lstStyle/>
          <a:p>
            <a:fld id="{DF940045-D3CC-F544-82EA-050364E657F5}" type="datetimeFigureOut">
              <a:rPr lang="en-US" smtClean="0"/>
              <a:t>8/24/25</a:t>
            </a:fld>
            <a:endParaRPr lang="en-US"/>
          </a:p>
        </p:txBody>
      </p:sp>
      <p:sp>
        <p:nvSpPr>
          <p:cNvPr id="5" name="Footer Placeholder 4">
            <a:extLst>
              <a:ext uri="{FF2B5EF4-FFF2-40B4-BE49-F238E27FC236}">
                <a16:creationId xmlns:a16="http://schemas.microsoft.com/office/drawing/2014/main" id="{395C444E-DF7A-1205-B821-90BA2A3706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D0A05D-8167-A960-12ED-8F3FD852386F}"/>
              </a:ext>
            </a:extLst>
          </p:cNvPr>
          <p:cNvSpPr>
            <a:spLocks noGrp="1"/>
          </p:cNvSpPr>
          <p:nvPr>
            <p:ph type="sldNum" sz="quarter" idx="12"/>
          </p:nvPr>
        </p:nvSpPr>
        <p:spPr/>
        <p:txBody>
          <a:bodyPr/>
          <a:lstStyle/>
          <a:p>
            <a:fld id="{1166D15D-DE8D-4F41-A932-4115421ED4BD}" type="slidenum">
              <a:rPr lang="en-US" smtClean="0"/>
              <a:t>‹#›</a:t>
            </a:fld>
            <a:endParaRPr lang="en-US"/>
          </a:p>
        </p:txBody>
      </p:sp>
    </p:spTree>
    <p:extLst>
      <p:ext uri="{BB962C8B-B14F-4D97-AF65-F5344CB8AC3E}">
        <p14:creationId xmlns:p14="http://schemas.microsoft.com/office/powerpoint/2010/main" val="1679542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A0DC5-6F33-9E87-68FD-87A0AD048A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08C00E-735E-7B19-F166-DC13903BBA3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658B46-18FF-6996-32D8-C03F3A3B293F}"/>
              </a:ext>
            </a:extLst>
          </p:cNvPr>
          <p:cNvSpPr>
            <a:spLocks noGrp="1"/>
          </p:cNvSpPr>
          <p:nvPr>
            <p:ph type="dt" sz="half" idx="10"/>
          </p:nvPr>
        </p:nvSpPr>
        <p:spPr/>
        <p:txBody>
          <a:bodyPr/>
          <a:lstStyle/>
          <a:p>
            <a:fld id="{DF940045-D3CC-F544-82EA-050364E657F5}" type="datetimeFigureOut">
              <a:rPr lang="en-US" smtClean="0"/>
              <a:t>8/24/25</a:t>
            </a:fld>
            <a:endParaRPr lang="en-US"/>
          </a:p>
        </p:txBody>
      </p:sp>
      <p:sp>
        <p:nvSpPr>
          <p:cNvPr id="5" name="Footer Placeholder 4">
            <a:extLst>
              <a:ext uri="{FF2B5EF4-FFF2-40B4-BE49-F238E27FC236}">
                <a16:creationId xmlns:a16="http://schemas.microsoft.com/office/drawing/2014/main" id="{D2BB6518-5CF7-8B44-A514-A50BD167D3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056432-1ECB-2F8F-FED6-7B34343928D2}"/>
              </a:ext>
            </a:extLst>
          </p:cNvPr>
          <p:cNvSpPr>
            <a:spLocks noGrp="1"/>
          </p:cNvSpPr>
          <p:nvPr>
            <p:ph type="sldNum" sz="quarter" idx="12"/>
          </p:nvPr>
        </p:nvSpPr>
        <p:spPr/>
        <p:txBody>
          <a:bodyPr/>
          <a:lstStyle/>
          <a:p>
            <a:fld id="{1166D15D-DE8D-4F41-A932-4115421ED4BD}" type="slidenum">
              <a:rPr lang="en-US" smtClean="0"/>
              <a:t>‹#›</a:t>
            </a:fld>
            <a:endParaRPr lang="en-US"/>
          </a:p>
        </p:txBody>
      </p:sp>
    </p:spTree>
    <p:extLst>
      <p:ext uri="{BB962C8B-B14F-4D97-AF65-F5344CB8AC3E}">
        <p14:creationId xmlns:p14="http://schemas.microsoft.com/office/powerpoint/2010/main" val="2379968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60D71-2AAE-D699-9CCF-212A8C5171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2A5016-2CA3-EC98-FD17-30DEBF6E62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40DF02-0A02-810D-E2A7-70F21C4A13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0262E3-2CD4-71F5-95CB-F30D22EF3E12}"/>
              </a:ext>
            </a:extLst>
          </p:cNvPr>
          <p:cNvSpPr>
            <a:spLocks noGrp="1"/>
          </p:cNvSpPr>
          <p:nvPr>
            <p:ph type="dt" sz="half" idx="10"/>
          </p:nvPr>
        </p:nvSpPr>
        <p:spPr/>
        <p:txBody>
          <a:bodyPr/>
          <a:lstStyle/>
          <a:p>
            <a:fld id="{DF940045-D3CC-F544-82EA-050364E657F5}" type="datetimeFigureOut">
              <a:rPr lang="en-US" smtClean="0"/>
              <a:t>8/24/25</a:t>
            </a:fld>
            <a:endParaRPr lang="en-US"/>
          </a:p>
        </p:txBody>
      </p:sp>
      <p:sp>
        <p:nvSpPr>
          <p:cNvPr id="6" name="Footer Placeholder 5">
            <a:extLst>
              <a:ext uri="{FF2B5EF4-FFF2-40B4-BE49-F238E27FC236}">
                <a16:creationId xmlns:a16="http://schemas.microsoft.com/office/drawing/2014/main" id="{B70E49C5-104C-D871-C853-098DE95916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077923-F2A9-23FD-BC1F-6F67A39903E1}"/>
              </a:ext>
            </a:extLst>
          </p:cNvPr>
          <p:cNvSpPr>
            <a:spLocks noGrp="1"/>
          </p:cNvSpPr>
          <p:nvPr>
            <p:ph type="sldNum" sz="quarter" idx="12"/>
          </p:nvPr>
        </p:nvSpPr>
        <p:spPr/>
        <p:txBody>
          <a:bodyPr/>
          <a:lstStyle/>
          <a:p>
            <a:fld id="{1166D15D-DE8D-4F41-A932-4115421ED4BD}" type="slidenum">
              <a:rPr lang="en-US" smtClean="0"/>
              <a:t>‹#›</a:t>
            </a:fld>
            <a:endParaRPr lang="en-US"/>
          </a:p>
        </p:txBody>
      </p:sp>
    </p:spTree>
    <p:extLst>
      <p:ext uri="{BB962C8B-B14F-4D97-AF65-F5344CB8AC3E}">
        <p14:creationId xmlns:p14="http://schemas.microsoft.com/office/powerpoint/2010/main" val="3591325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44B52-372B-4BF7-878A-697569C385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90BD005-476C-89F7-7EC2-23FD09BB68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F94E3A-53A8-1CD3-EF9C-15F9918F14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7551F2-3C7A-5918-18F3-5CE8BDD584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9F11A6-FD03-C502-7B76-D1DA6885C8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85AEF7-A778-D18C-E752-8C536DC53228}"/>
              </a:ext>
            </a:extLst>
          </p:cNvPr>
          <p:cNvSpPr>
            <a:spLocks noGrp="1"/>
          </p:cNvSpPr>
          <p:nvPr>
            <p:ph type="dt" sz="half" idx="10"/>
          </p:nvPr>
        </p:nvSpPr>
        <p:spPr/>
        <p:txBody>
          <a:bodyPr/>
          <a:lstStyle/>
          <a:p>
            <a:fld id="{DF940045-D3CC-F544-82EA-050364E657F5}" type="datetimeFigureOut">
              <a:rPr lang="en-US" smtClean="0"/>
              <a:t>8/24/25</a:t>
            </a:fld>
            <a:endParaRPr lang="en-US"/>
          </a:p>
        </p:txBody>
      </p:sp>
      <p:sp>
        <p:nvSpPr>
          <p:cNvPr id="8" name="Footer Placeholder 7">
            <a:extLst>
              <a:ext uri="{FF2B5EF4-FFF2-40B4-BE49-F238E27FC236}">
                <a16:creationId xmlns:a16="http://schemas.microsoft.com/office/drawing/2014/main" id="{2E6CB3F4-7E7D-BFF4-84B1-87E028E0BC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CC1FB6F-DFEA-3D3F-87A5-701A46CEBF79}"/>
              </a:ext>
            </a:extLst>
          </p:cNvPr>
          <p:cNvSpPr>
            <a:spLocks noGrp="1"/>
          </p:cNvSpPr>
          <p:nvPr>
            <p:ph type="sldNum" sz="quarter" idx="12"/>
          </p:nvPr>
        </p:nvSpPr>
        <p:spPr/>
        <p:txBody>
          <a:bodyPr/>
          <a:lstStyle/>
          <a:p>
            <a:fld id="{1166D15D-DE8D-4F41-A932-4115421ED4BD}" type="slidenum">
              <a:rPr lang="en-US" smtClean="0"/>
              <a:t>‹#›</a:t>
            </a:fld>
            <a:endParaRPr lang="en-US"/>
          </a:p>
        </p:txBody>
      </p:sp>
    </p:spTree>
    <p:extLst>
      <p:ext uri="{BB962C8B-B14F-4D97-AF65-F5344CB8AC3E}">
        <p14:creationId xmlns:p14="http://schemas.microsoft.com/office/powerpoint/2010/main" val="4290822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8E808-014F-5193-E2C5-5993F208EE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68BC57-A3B0-A3A1-A46E-8AFEB0A773B9}"/>
              </a:ext>
            </a:extLst>
          </p:cNvPr>
          <p:cNvSpPr>
            <a:spLocks noGrp="1"/>
          </p:cNvSpPr>
          <p:nvPr>
            <p:ph type="dt" sz="half" idx="10"/>
          </p:nvPr>
        </p:nvSpPr>
        <p:spPr/>
        <p:txBody>
          <a:bodyPr/>
          <a:lstStyle/>
          <a:p>
            <a:fld id="{DF940045-D3CC-F544-82EA-050364E657F5}" type="datetimeFigureOut">
              <a:rPr lang="en-US" smtClean="0"/>
              <a:t>8/24/25</a:t>
            </a:fld>
            <a:endParaRPr lang="en-US"/>
          </a:p>
        </p:txBody>
      </p:sp>
      <p:sp>
        <p:nvSpPr>
          <p:cNvPr id="4" name="Footer Placeholder 3">
            <a:extLst>
              <a:ext uri="{FF2B5EF4-FFF2-40B4-BE49-F238E27FC236}">
                <a16:creationId xmlns:a16="http://schemas.microsoft.com/office/drawing/2014/main" id="{0ABC35B0-66EE-240E-A006-807FCBFDD1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21DC00-530E-8C75-B823-97EAB0E60B89}"/>
              </a:ext>
            </a:extLst>
          </p:cNvPr>
          <p:cNvSpPr>
            <a:spLocks noGrp="1"/>
          </p:cNvSpPr>
          <p:nvPr>
            <p:ph type="sldNum" sz="quarter" idx="12"/>
          </p:nvPr>
        </p:nvSpPr>
        <p:spPr/>
        <p:txBody>
          <a:bodyPr/>
          <a:lstStyle/>
          <a:p>
            <a:fld id="{1166D15D-DE8D-4F41-A932-4115421ED4BD}" type="slidenum">
              <a:rPr lang="en-US" smtClean="0"/>
              <a:t>‹#›</a:t>
            </a:fld>
            <a:endParaRPr lang="en-US"/>
          </a:p>
        </p:txBody>
      </p:sp>
    </p:spTree>
    <p:extLst>
      <p:ext uri="{BB962C8B-B14F-4D97-AF65-F5344CB8AC3E}">
        <p14:creationId xmlns:p14="http://schemas.microsoft.com/office/powerpoint/2010/main" val="3072584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9A1896-3E43-97ED-1301-5F3C4769E4DF}"/>
              </a:ext>
            </a:extLst>
          </p:cNvPr>
          <p:cNvSpPr>
            <a:spLocks noGrp="1"/>
          </p:cNvSpPr>
          <p:nvPr>
            <p:ph type="dt" sz="half" idx="10"/>
          </p:nvPr>
        </p:nvSpPr>
        <p:spPr/>
        <p:txBody>
          <a:bodyPr/>
          <a:lstStyle/>
          <a:p>
            <a:fld id="{DF940045-D3CC-F544-82EA-050364E657F5}" type="datetimeFigureOut">
              <a:rPr lang="en-US" smtClean="0"/>
              <a:t>8/24/25</a:t>
            </a:fld>
            <a:endParaRPr lang="en-US"/>
          </a:p>
        </p:txBody>
      </p:sp>
      <p:sp>
        <p:nvSpPr>
          <p:cNvPr id="3" name="Footer Placeholder 2">
            <a:extLst>
              <a:ext uri="{FF2B5EF4-FFF2-40B4-BE49-F238E27FC236}">
                <a16:creationId xmlns:a16="http://schemas.microsoft.com/office/drawing/2014/main" id="{9D8F6BB7-5B06-F29D-445F-23E6BCA46F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A8129C-74AA-26C5-B059-32D7A39D13EC}"/>
              </a:ext>
            </a:extLst>
          </p:cNvPr>
          <p:cNvSpPr>
            <a:spLocks noGrp="1"/>
          </p:cNvSpPr>
          <p:nvPr>
            <p:ph type="sldNum" sz="quarter" idx="12"/>
          </p:nvPr>
        </p:nvSpPr>
        <p:spPr/>
        <p:txBody>
          <a:bodyPr/>
          <a:lstStyle/>
          <a:p>
            <a:fld id="{1166D15D-DE8D-4F41-A932-4115421ED4BD}" type="slidenum">
              <a:rPr lang="en-US" smtClean="0"/>
              <a:t>‹#›</a:t>
            </a:fld>
            <a:endParaRPr lang="en-US"/>
          </a:p>
        </p:txBody>
      </p:sp>
    </p:spTree>
    <p:extLst>
      <p:ext uri="{BB962C8B-B14F-4D97-AF65-F5344CB8AC3E}">
        <p14:creationId xmlns:p14="http://schemas.microsoft.com/office/powerpoint/2010/main" val="2134888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9EF04-5E24-A854-44A0-7705B8A95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E0D163-434E-D666-7D39-8D44DD6005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7181FB-5CF6-7190-A6CB-F1ACC41654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03A8C6-A4B1-A28F-B001-DDA616963ED3}"/>
              </a:ext>
            </a:extLst>
          </p:cNvPr>
          <p:cNvSpPr>
            <a:spLocks noGrp="1"/>
          </p:cNvSpPr>
          <p:nvPr>
            <p:ph type="dt" sz="half" idx="10"/>
          </p:nvPr>
        </p:nvSpPr>
        <p:spPr/>
        <p:txBody>
          <a:bodyPr/>
          <a:lstStyle/>
          <a:p>
            <a:fld id="{DF940045-D3CC-F544-82EA-050364E657F5}" type="datetimeFigureOut">
              <a:rPr lang="en-US" smtClean="0"/>
              <a:t>8/24/25</a:t>
            </a:fld>
            <a:endParaRPr lang="en-US"/>
          </a:p>
        </p:txBody>
      </p:sp>
      <p:sp>
        <p:nvSpPr>
          <p:cNvPr id="6" name="Footer Placeholder 5">
            <a:extLst>
              <a:ext uri="{FF2B5EF4-FFF2-40B4-BE49-F238E27FC236}">
                <a16:creationId xmlns:a16="http://schemas.microsoft.com/office/drawing/2014/main" id="{341F246D-74ED-A69F-5FE4-717D6F3478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0D8947-14AE-BA01-D7EC-5C8A30B68B45}"/>
              </a:ext>
            </a:extLst>
          </p:cNvPr>
          <p:cNvSpPr>
            <a:spLocks noGrp="1"/>
          </p:cNvSpPr>
          <p:nvPr>
            <p:ph type="sldNum" sz="quarter" idx="12"/>
          </p:nvPr>
        </p:nvSpPr>
        <p:spPr/>
        <p:txBody>
          <a:bodyPr/>
          <a:lstStyle/>
          <a:p>
            <a:fld id="{1166D15D-DE8D-4F41-A932-4115421ED4BD}" type="slidenum">
              <a:rPr lang="en-US" smtClean="0"/>
              <a:t>‹#›</a:t>
            </a:fld>
            <a:endParaRPr lang="en-US"/>
          </a:p>
        </p:txBody>
      </p:sp>
    </p:spTree>
    <p:extLst>
      <p:ext uri="{BB962C8B-B14F-4D97-AF65-F5344CB8AC3E}">
        <p14:creationId xmlns:p14="http://schemas.microsoft.com/office/powerpoint/2010/main" val="353051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8C64D-C7C3-B167-4821-FD344229DD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AA1EA65-D4A1-199F-DFC8-81634C89B0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C74FE5-1400-BBF9-0B5B-4F9FE7CB48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472E42-E773-0B89-C769-7F1CBB14FF8A}"/>
              </a:ext>
            </a:extLst>
          </p:cNvPr>
          <p:cNvSpPr>
            <a:spLocks noGrp="1"/>
          </p:cNvSpPr>
          <p:nvPr>
            <p:ph type="dt" sz="half" idx="10"/>
          </p:nvPr>
        </p:nvSpPr>
        <p:spPr/>
        <p:txBody>
          <a:bodyPr/>
          <a:lstStyle/>
          <a:p>
            <a:fld id="{DF940045-D3CC-F544-82EA-050364E657F5}" type="datetimeFigureOut">
              <a:rPr lang="en-US" smtClean="0"/>
              <a:t>8/24/25</a:t>
            </a:fld>
            <a:endParaRPr lang="en-US"/>
          </a:p>
        </p:txBody>
      </p:sp>
      <p:sp>
        <p:nvSpPr>
          <p:cNvPr id="6" name="Footer Placeholder 5">
            <a:extLst>
              <a:ext uri="{FF2B5EF4-FFF2-40B4-BE49-F238E27FC236}">
                <a16:creationId xmlns:a16="http://schemas.microsoft.com/office/drawing/2014/main" id="{24B9A28C-8748-8339-CA13-47FD5313B3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295BA3-0E01-1F31-108B-5A2E60F6AF8A}"/>
              </a:ext>
            </a:extLst>
          </p:cNvPr>
          <p:cNvSpPr>
            <a:spLocks noGrp="1"/>
          </p:cNvSpPr>
          <p:nvPr>
            <p:ph type="sldNum" sz="quarter" idx="12"/>
          </p:nvPr>
        </p:nvSpPr>
        <p:spPr/>
        <p:txBody>
          <a:bodyPr/>
          <a:lstStyle/>
          <a:p>
            <a:fld id="{1166D15D-DE8D-4F41-A932-4115421ED4BD}" type="slidenum">
              <a:rPr lang="en-US" smtClean="0"/>
              <a:t>‹#›</a:t>
            </a:fld>
            <a:endParaRPr lang="en-US"/>
          </a:p>
        </p:txBody>
      </p:sp>
    </p:spTree>
    <p:extLst>
      <p:ext uri="{BB962C8B-B14F-4D97-AF65-F5344CB8AC3E}">
        <p14:creationId xmlns:p14="http://schemas.microsoft.com/office/powerpoint/2010/main" val="213454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3DBAA-C2AB-16A6-A02E-E05CFCDECE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5A5F2-A5E6-30C1-D5EF-9D5A65EE2D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DA121F-97AB-2A64-DEBD-2455FEB35389}"/>
              </a:ext>
            </a:extLst>
          </p:cNvPr>
          <p:cNvSpPr>
            <a:spLocks noGrp="1"/>
          </p:cNvSpPr>
          <p:nvPr>
            <p:ph type="dt" sz="half" idx="10"/>
          </p:nvPr>
        </p:nvSpPr>
        <p:spPr/>
        <p:txBody>
          <a:bodyPr/>
          <a:lstStyle/>
          <a:p>
            <a:fld id="{DF940045-D3CC-F544-82EA-050364E657F5}" type="datetimeFigureOut">
              <a:rPr lang="en-US" smtClean="0"/>
              <a:t>8/24/25</a:t>
            </a:fld>
            <a:endParaRPr lang="en-US"/>
          </a:p>
        </p:txBody>
      </p:sp>
      <p:sp>
        <p:nvSpPr>
          <p:cNvPr id="5" name="Footer Placeholder 4">
            <a:extLst>
              <a:ext uri="{FF2B5EF4-FFF2-40B4-BE49-F238E27FC236}">
                <a16:creationId xmlns:a16="http://schemas.microsoft.com/office/drawing/2014/main" id="{9048B1AF-0A22-5B05-C413-0A4189DF5A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8EDB4E-CE25-844E-3BDD-C5661FC8E6CA}"/>
              </a:ext>
            </a:extLst>
          </p:cNvPr>
          <p:cNvSpPr>
            <a:spLocks noGrp="1"/>
          </p:cNvSpPr>
          <p:nvPr>
            <p:ph type="sldNum" sz="quarter" idx="12"/>
          </p:nvPr>
        </p:nvSpPr>
        <p:spPr/>
        <p:txBody>
          <a:bodyPr/>
          <a:lstStyle/>
          <a:p>
            <a:fld id="{1166D15D-DE8D-4F41-A932-4115421ED4BD}" type="slidenum">
              <a:rPr lang="en-US" smtClean="0"/>
              <a:t>‹#›</a:t>
            </a:fld>
            <a:endParaRPr lang="en-US"/>
          </a:p>
        </p:txBody>
      </p:sp>
    </p:spTree>
    <p:extLst>
      <p:ext uri="{BB962C8B-B14F-4D97-AF65-F5344CB8AC3E}">
        <p14:creationId xmlns:p14="http://schemas.microsoft.com/office/powerpoint/2010/main" val="3280286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0AC594-50AA-854B-AE6E-4A6DED2F08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734EBD-1811-A1CF-B7E5-0E3A0D1B8A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65CDD1-386C-3E64-C55F-F8427F5C55D9}"/>
              </a:ext>
            </a:extLst>
          </p:cNvPr>
          <p:cNvSpPr>
            <a:spLocks noGrp="1"/>
          </p:cNvSpPr>
          <p:nvPr>
            <p:ph type="dt" sz="half" idx="10"/>
          </p:nvPr>
        </p:nvSpPr>
        <p:spPr/>
        <p:txBody>
          <a:bodyPr/>
          <a:lstStyle/>
          <a:p>
            <a:fld id="{DF940045-D3CC-F544-82EA-050364E657F5}" type="datetimeFigureOut">
              <a:rPr lang="en-US" smtClean="0"/>
              <a:t>8/24/25</a:t>
            </a:fld>
            <a:endParaRPr lang="en-US"/>
          </a:p>
        </p:txBody>
      </p:sp>
      <p:sp>
        <p:nvSpPr>
          <p:cNvPr id="5" name="Footer Placeholder 4">
            <a:extLst>
              <a:ext uri="{FF2B5EF4-FFF2-40B4-BE49-F238E27FC236}">
                <a16:creationId xmlns:a16="http://schemas.microsoft.com/office/drawing/2014/main" id="{46D76DC5-2B52-CE62-8E88-1D9A2FB33D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427CC3-C8E6-B0B1-1ECF-24322A5C72BB}"/>
              </a:ext>
            </a:extLst>
          </p:cNvPr>
          <p:cNvSpPr>
            <a:spLocks noGrp="1"/>
          </p:cNvSpPr>
          <p:nvPr>
            <p:ph type="sldNum" sz="quarter" idx="12"/>
          </p:nvPr>
        </p:nvSpPr>
        <p:spPr/>
        <p:txBody>
          <a:bodyPr/>
          <a:lstStyle/>
          <a:p>
            <a:fld id="{1166D15D-DE8D-4F41-A932-4115421ED4BD}" type="slidenum">
              <a:rPr lang="en-US" smtClean="0"/>
              <a:t>‹#›</a:t>
            </a:fld>
            <a:endParaRPr lang="en-US"/>
          </a:p>
        </p:txBody>
      </p:sp>
    </p:spTree>
    <p:extLst>
      <p:ext uri="{BB962C8B-B14F-4D97-AF65-F5344CB8AC3E}">
        <p14:creationId xmlns:p14="http://schemas.microsoft.com/office/powerpoint/2010/main" val="875357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3B8B25-02AC-9148-87B9-35838477F7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4F23F98-4414-BEA6-21A1-550AC1323F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AC35BEB-52D3-FB31-5DD4-A4F785D1C2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940045-D3CC-F544-82EA-050364E657F5}" type="datetimeFigureOut">
              <a:rPr lang="en-US" smtClean="0"/>
              <a:t>8/24/25</a:t>
            </a:fld>
            <a:endParaRPr lang="en-US"/>
          </a:p>
        </p:txBody>
      </p:sp>
      <p:sp>
        <p:nvSpPr>
          <p:cNvPr id="5" name="Footer Placeholder 4">
            <a:extLst>
              <a:ext uri="{FF2B5EF4-FFF2-40B4-BE49-F238E27FC236}">
                <a16:creationId xmlns:a16="http://schemas.microsoft.com/office/drawing/2014/main" id="{EC65115E-B538-95B9-9427-73D6273A9B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FFB4B38-CBCC-5F12-00BD-2EFE09442A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66D15D-DE8D-4F41-A932-4115421ED4BD}" type="slidenum">
              <a:rPr lang="en-US" smtClean="0"/>
              <a:t>‹#›</a:t>
            </a:fld>
            <a:endParaRPr lang="en-US"/>
          </a:p>
        </p:txBody>
      </p:sp>
      <p:sp>
        <p:nvSpPr>
          <p:cNvPr id="10" name="Rectangle 9">
            <a:extLst>
              <a:ext uri="{FF2B5EF4-FFF2-40B4-BE49-F238E27FC236}">
                <a16:creationId xmlns:a16="http://schemas.microsoft.com/office/drawing/2014/main" id="{19F3BE05-1CD9-C943-DC2C-18E0055891E6}"/>
              </a:ext>
            </a:extLst>
          </p:cNvPr>
          <p:cNvSpPr>
            <a:spLocks noChangeArrowheads="1"/>
          </p:cNvSpPr>
          <p:nvPr userDrawn="1"/>
        </p:nvSpPr>
        <p:spPr bwMode="auto">
          <a:xfrm>
            <a:off x="0" y="1"/>
            <a:ext cx="669073" cy="568712"/>
          </a:xfrm>
          <a:prstGeom prst="rect">
            <a:avLst/>
          </a:prstGeom>
          <a:solidFill>
            <a:srgbClr val="FFCC33"/>
          </a:solidFill>
          <a:ln>
            <a:noFill/>
          </a:ln>
        </p:spPr>
        <p:txBody>
          <a:bodyPr lIns="58778" tIns="29389" rIns="58778" bIns="29389"/>
          <a:lstStyle>
            <a:lvl1pPr>
              <a:defRPr sz="1500">
                <a:solidFill>
                  <a:schemeClr val="tx1"/>
                </a:solidFill>
                <a:latin typeface="Times" panose="02020603050405020304" pitchFamily="18" charset="0"/>
                <a:ea typeface="MS PGothic" panose="020B0600070205080204" pitchFamily="34" charset="-128"/>
              </a:defRPr>
            </a:lvl1pPr>
            <a:lvl2pPr marL="742950" indent="-285750">
              <a:defRPr sz="1500">
                <a:solidFill>
                  <a:schemeClr val="tx1"/>
                </a:solidFill>
                <a:latin typeface="Times" panose="02020603050405020304" pitchFamily="18" charset="0"/>
                <a:ea typeface="MS PGothic" panose="020B0600070205080204" pitchFamily="34" charset="-128"/>
              </a:defRPr>
            </a:lvl2pPr>
            <a:lvl3pPr marL="1143000" indent="-228600">
              <a:defRPr sz="1500">
                <a:solidFill>
                  <a:schemeClr val="tx1"/>
                </a:solidFill>
                <a:latin typeface="Times" panose="02020603050405020304" pitchFamily="18" charset="0"/>
                <a:ea typeface="MS PGothic" panose="020B0600070205080204" pitchFamily="34" charset="-128"/>
              </a:defRPr>
            </a:lvl3pPr>
            <a:lvl4pPr marL="1600200" indent="-228600">
              <a:defRPr sz="1500">
                <a:solidFill>
                  <a:schemeClr val="tx1"/>
                </a:solidFill>
                <a:latin typeface="Times" panose="02020603050405020304" pitchFamily="18" charset="0"/>
                <a:ea typeface="MS PGothic" panose="020B0600070205080204" pitchFamily="34" charset="-128"/>
              </a:defRPr>
            </a:lvl4pPr>
            <a:lvl5pPr marL="2057400" indent="-228600">
              <a:defRPr sz="1500">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500">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500">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500">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500">
                <a:solidFill>
                  <a:schemeClr val="tx1"/>
                </a:solidFill>
                <a:latin typeface="Times" panose="02020603050405020304" pitchFamily="18" charset="0"/>
                <a:ea typeface="MS PGothic" panose="020B0600070205080204" pitchFamily="34" charset="-128"/>
              </a:defRPr>
            </a:lvl9pPr>
          </a:lstStyle>
          <a:p>
            <a:endParaRPr lang="en-US" altLang="en-US"/>
          </a:p>
        </p:txBody>
      </p:sp>
      <p:sp>
        <p:nvSpPr>
          <p:cNvPr id="11" name="Rectangle 10">
            <a:extLst>
              <a:ext uri="{FF2B5EF4-FFF2-40B4-BE49-F238E27FC236}">
                <a16:creationId xmlns:a16="http://schemas.microsoft.com/office/drawing/2014/main" id="{8174C03F-928C-DE5A-1BF6-01C2B0EB0BD3}"/>
              </a:ext>
            </a:extLst>
          </p:cNvPr>
          <p:cNvSpPr>
            <a:spLocks noChangeArrowheads="1"/>
          </p:cNvSpPr>
          <p:nvPr userDrawn="1"/>
        </p:nvSpPr>
        <p:spPr bwMode="auto">
          <a:xfrm>
            <a:off x="11522927" y="756852"/>
            <a:ext cx="669073" cy="568712"/>
          </a:xfrm>
          <a:prstGeom prst="rect">
            <a:avLst/>
          </a:prstGeom>
          <a:solidFill>
            <a:srgbClr val="FFCC33"/>
          </a:solidFill>
          <a:ln>
            <a:noFill/>
          </a:ln>
        </p:spPr>
        <p:txBody>
          <a:bodyPr lIns="58778" tIns="29389" rIns="58778" bIns="29389"/>
          <a:lstStyle>
            <a:lvl1pPr>
              <a:defRPr sz="1500">
                <a:solidFill>
                  <a:schemeClr val="tx1"/>
                </a:solidFill>
                <a:latin typeface="Times" panose="02020603050405020304" pitchFamily="18" charset="0"/>
                <a:ea typeface="MS PGothic" panose="020B0600070205080204" pitchFamily="34" charset="-128"/>
              </a:defRPr>
            </a:lvl1pPr>
            <a:lvl2pPr marL="742950" indent="-285750">
              <a:defRPr sz="1500">
                <a:solidFill>
                  <a:schemeClr val="tx1"/>
                </a:solidFill>
                <a:latin typeface="Times" panose="02020603050405020304" pitchFamily="18" charset="0"/>
                <a:ea typeface="MS PGothic" panose="020B0600070205080204" pitchFamily="34" charset="-128"/>
              </a:defRPr>
            </a:lvl2pPr>
            <a:lvl3pPr marL="1143000" indent="-228600">
              <a:defRPr sz="1500">
                <a:solidFill>
                  <a:schemeClr val="tx1"/>
                </a:solidFill>
                <a:latin typeface="Times" panose="02020603050405020304" pitchFamily="18" charset="0"/>
                <a:ea typeface="MS PGothic" panose="020B0600070205080204" pitchFamily="34" charset="-128"/>
              </a:defRPr>
            </a:lvl3pPr>
            <a:lvl4pPr marL="1600200" indent="-228600">
              <a:defRPr sz="1500">
                <a:solidFill>
                  <a:schemeClr val="tx1"/>
                </a:solidFill>
                <a:latin typeface="Times" panose="02020603050405020304" pitchFamily="18" charset="0"/>
                <a:ea typeface="MS PGothic" panose="020B0600070205080204" pitchFamily="34" charset="-128"/>
              </a:defRPr>
            </a:lvl4pPr>
            <a:lvl5pPr marL="2057400" indent="-228600">
              <a:defRPr sz="1500">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500">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500">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500">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500">
                <a:solidFill>
                  <a:schemeClr val="tx1"/>
                </a:solidFill>
                <a:latin typeface="Times" panose="02020603050405020304" pitchFamily="18" charset="0"/>
                <a:ea typeface="MS PGothic" panose="020B0600070205080204" pitchFamily="34" charset="-128"/>
              </a:defRPr>
            </a:lvl9pPr>
          </a:lstStyle>
          <a:p>
            <a:endParaRPr lang="en-US" altLang="en-US"/>
          </a:p>
        </p:txBody>
      </p:sp>
      <p:sp>
        <p:nvSpPr>
          <p:cNvPr id="12" name="Snip Diagonal Corner Rectangle 5">
            <a:extLst>
              <a:ext uri="{FF2B5EF4-FFF2-40B4-BE49-F238E27FC236}">
                <a16:creationId xmlns:a16="http://schemas.microsoft.com/office/drawing/2014/main" id="{1AA990E3-0298-315D-6675-69E4009E18CA}"/>
              </a:ext>
            </a:extLst>
          </p:cNvPr>
          <p:cNvSpPr/>
          <p:nvPr userDrawn="1"/>
        </p:nvSpPr>
        <p:spPr bwMode="auto">
          <a:xfrm flipH="1">
            <a:off x="0" y="0"/>
            <a:ext cx="12192002" cy="1325563"/>
          </a:xfrm>
          <a:prstGeom prst="snip2DiagRect">
            <a:avLst>
              <a:gd name="adj1" fmla="val 0"/>
              <a:gd name="adj2" fmla="val 31289"/>
            </a:avLst>
          </a:prstGeom>
          <a:solidFill>
            <a:srgbClr val="0C5449"/>
          </a:solidFill>
          <a:ln w="9525" cap="flat" cmpd="sng" algn="ctr">
            <a:noFill/>
            <a:prstDash val="solid"/>
            <a:round/>
            <a:headEnd type="none" w="med" len="med"/>
            <a:tailEnd type="none" w="med" len="med"/>
          </a:ln>
          <a:effectLst/>
        </p:spPr>
        <p:txBody>
          <a:bodyPr/>
          <a:lstStyle/>
          <a:p>
            <a:pPr>
              <a:defRPr/>
            </a:pPr>
            <a:endParaRPr lang="en-US" sz="2400" dirty="0">
              <a:solidFill>
                <a:schemeClr val="bg1"/>
              </a:solidFill>
              <a:latin typeface="Times" pitchFamily="-65" charset="0"/>
              <a:ea typeface="ＭＳ Ｐゴシック" charset="0"/>
              <a:cs typeface="ＭＳ Ｐゴシック" charset="0"/>
            </a:endParaRPr>
          </a:p>
        </p:txBody>
      </p:sp>
      <p:pic>
        <p:nvPicPr>
          <p:cNvPr id="13" name="Picture 2" descr="Identity guidelines - University Communications and Marketing">
            <a:extLst>
              <a:ext uri="{FF2B5EF4-FFF2-40B4-BE49-F238E27FC236}">
                <a16:creationId xmlns:a16="http://schemas.microsoft.com/office/drawing/2014/main" id="{9D3FD221-4F7D-4B1B-F66E-955B1D293B32}"/>
              </a:ext>
            </a:extLst>
          </p:cNvPr>
          <p:cNvPicPr>
            <a:picLocks noChangeAspect="1" noChangeArrowheads="1"/>
          </p:cNvPicPr>
          <p:nvPr userDrawn="1"/>
        </p:nvPicPr>
        <p:blipFill rotWithShape="1">
          <a:blip r:embed="rId13">
            <a:extLst>
              <a:ext uri="{28A0092B-C50C-407E-A947-70E740481C1C}">
                <a14:useLocalDpi xmlns:a14="http://schemas.microsoft.com/office/drawing/2010/main" val="0"/>
              </a:ext>
            </a:extLst>
          </a:blip>
          <a:srcRect l="23240" t="-12098" r="22040" b="45910"/>
          <a:stretch/>
        </p:blipFill>
        <p:spPr bwMode="auto">
          <a:xfrm>
            <a:off x="10384138" y="130726"/>
            <a:ext cx="1426332" cy="1115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18677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2EBE4-4B62-C51B-9B80-9B896DFDA30A}"/>
              </a:ext>
            </a:extLst>
          </p:cNvPr>
          <p:cNvSpPr>
            <a:spLocks noGrp="1"/>
          </p:cNvSpPr>
          <p:nvPr>
            <p:ph type="ctrTitle"/>
          </p:nvPr>
        </p:nvSpPr>
        <p:spPr/>
        <p:txBody>
          <a:bodyPr>
            <a:normAutofit/>
          </a:bodyPr>
          <a:lstStyle/>
          <a:p>
            <a:r>
              <a:rPr lang="en-US" dirty="0"/>
              <a:t>Introduction </a:t>
            </a:r>
            <a:br>
              <a:rPr lang="en-US" dirty="0"/>
            </a:br>
            <a:r>
              <a:rPr lang="en-US" dirty="0"/>
              <a:t>to Algorithm design and Analysis</a:t>
            </a:r>
          </a:p>
        </p:txBody>
      </p:sp>
      <p:sp>
        <p:nvSpPr>
          <p:cNvPr id="4" name="Subtitle 2">
            <a:extLst>
              <a:ext uri="{FF2B5EF4-FFF2-40B4-BE49-F238E27FC236}">
                <a16:creationId xmlns:a16="http://schemas.microsoft.com/office/drawing/2014/main" id="{04CEFE3E-5C23-2091-7506-B7B3C0571908}"/>
              </a:ext>
            </a:extLst>
          </p:cNvPr>
          <p:cNvSpPr>
            <a:spLocks noGrp="1"/>
          </p:cNvSpPr>
          <p:nvPr>
            <p:ph type="subTitle" idx="1"/>
          </p:nvPr>
        </p:nvSpPr>
        <p:spPr>
          <a:xfrm>
            <a:off x="1524000" y="4181587"/>
            <a:ext cx="9144000" cy="1655762"/>
          </a:xfrm>
        </p:spPr>
        <p:txBody>
          <a:bodyPr/>
          <a:lstStyle/>
          <a:p>
            <a:r>
              <a:rPr lang="en-US" dirty="0"/>
              <a:t>This lecture has been prepared using the book “Introduction to the Design and Analysis of Algorithms” by </a:t>
            </a:r>
            <a:r>
              <a:rPr lang="en-US" dirty="0" err="1"/>
              <a:t>Anany</a:t>
            </a:r>
            <a:r>
              <a:rPr lang="en-US" dirty="0"/>
              <a:t> Levitin.</a:t>
            </a:r>
          </a:p>
        </p:txBody>
      </p:sp>
    </p:spTree>
    <p:extLst>
      <p:ext uri="{BB962C8B-B14F-4D97-AF65-F5344CB8AC3E}">
        <p14:creationId xmlns:p14="http://schemas.microsoft.com/office/powerpoint/2010/main" val="3736054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3CCB7-EBAE-C430-EF80-2B8563AE4285}"/>
              </a:ext>
            </a:extLst>
          </p:cNvPr>
          <p:cNvSpPr>
            <a:spLocks noGrp="1"/>
          </p:cNvSpPr>
          <p:nvPr>
            <p:ph type="title"/>
          </p:nvPr>
        </p:nvSpPr>
        <p:spPr/>
        <p:txBody>
          <a:bodyPr>
            <a:normAutofit/>
          </a:bodyPr>
          <a:lstStyle/>
          <a:p>
            <a:r>
              <a:rPr lang="en-US" dirty="0"/>
              <a:t>Why Do You Need To Study Algorithms? </a:t>
            </a:r>
          </a:p>
        </p:txBody>
      </p:sp>
      <p:sp>
        <p:nvSpPr>
          <p:cNvPr id="3" name="Content Placeholder 2">
            <a:extLst>
              <a:ext uri="{FF2B5EF4-FFF2-40B4-BE49-F238E27FC236}">
                <a16:creationId xmlns:a16="http://schemas.microsoft.com/office/drawing/2014/main" id="{E3233944-64C9-97EE-6431-ADF8B8F44E88}"/>
              </a:ext>
            </a:extLst>
          </p:cNvPr>
          <p:cNvSpPr>
            <a:spLocks noGrp="1"/>
          </p:cNvSpPr>
          <p:nvPr>
            <p:ph idx="1"/>
          </p:nvPr>
        </p:nvSpPr>
        <p:spPr/>
        <p:txBody>
          <a:bodyPr/>
          <a:lstStyle/>
          <a:p>
            <a:r>
              <a:rPr lang="en-US" dirty="0"/>
              <a:t>There are both practical and theoretical reasons to study algorithms: </a:t>
            </a:r>
          </a:p>
          <a:p>
            <a:pPr lvl="1"/>
            <a:r>
              <a:rPr lang="en-US" dirty="0"/>
              <a:t>From a </a:t>
            </a:r>
            <a:r>
              <a:rPr lang="en-US" b="1" dirty="0"/>
              <a:t>practical standpoint</a:t>
            </a:r>
            <a:r>
              <a:rPr lang="en-US" dirty="0"/>
              <a:t>, you have to know a standard set of important algorithms from different areas of computing; </a:t>
            </a:r>
          </a:p>
          <a:p>
            <a:pPr lvl="2"/>
            <a:r>
              <a:rPr lang="en-US" dirty="0"/>
              <a:t>In addition, you should be able to design new algorithms and analyze their efficiency. </a:t>
            </a:r>
          </a:p>
          <a:p>
            <a:pPr lvl="1"/>
            <a:r>
              <a:rPr lang="en-US" dirty="0"/>
              <a:t>From the </a:t>
            </a:r>
            <a:r>
              <a:rPr lang="en-US" b="1" dirty="0"/>
              <a:t>theoretical standpoint</a:t>
            </a:r>
            <a:r>
              <a:rPr lang="en-US" dirty="0"/>
              <a:t>, the study of algorithms, sometimes called algorithmics, has come to be recognized as the cornerstone of computer science. </a:t>
            </a:r>
          </a:p>
          <a:p>
            <a:pPr lvl="2"/>
            <a:r>
              <a:rPr lang="en-US" dirty="0"/>
              <a:t>Algorithmics is more than a branch of computer science. It is the core of computer science</a:t>
            </a:r>
          </a:p>
          <a:p>
            <a:pPr lvl="2"/>
            <a:r>
              <a:rPr lang="en-US" dirty="0"/>
              <a:t>Computer programs would not exist without algorithms. </a:t>
            </a:r>
          </a:p>
          <a:p>
            <a:endParaRPr lang="en-US" dirty="0"/>
          </a:p>
        </p:txBody>
      </p:sp>
    </p:spTree>
    <p:extLst>
      <p:ext uri="{BB962C8B-B14F-4D97-AF65-F5344CB8AC3E}">
        <p14:creationId xmlns:p14="http://schemas.microsoft.com/office/powerpoint/2010/main" val="2722005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3080D-6A6D-1228-5968-BCB0FA9823C4}"/>
              </a:ext>
            </a:extLst>
          </p:cNvPr>
          <p:cNvSpPr>
            <a:spLocks noGrp="1"/>
          </p:cNvSpPr>
          <p:nvPr>
            <p:ph type="title"/>
          </p:nvPr>
        </p:nvSpPr>
        <p:spPr/>
        <p:txBody>
          <a:bodyPr/>
          <a:lstStyle/>
          <a:p>
            <a:r>
              <a:rPr lang="en-US" dirty="0"/>
              <a:t>What is an algorithm? </a:t>
            </a:r>
          </a:p>
        </p:txBody>
      </p:sp>
      <p:sp>
        <p:nvSpPr>
          <p:cNvPr id="3" name="Content Placeholder 2">
            <a:extLst>
              <a:ext uri="{FF2B5EF4-FFF2-40B4-BE49-F238E27FC236}">
                <a16:creationId xmlns:a16="http://schemas.microsoft.com/office/drawing/2014/main" id="{EF008442-DFE6-4CC4-C0CE-C778876D648F}"/>
              </a:ext>
            </a:extLst>
          </p:cNvPr>
          <p:cNvSpPr>
            <a:spLocks noGrp="1"/>
          </p:cNvSpPr>
          <p:nvPr>
            <p:ph idx="1"/>
          </p:nvPr>
        </p:nvSpPr>
        <p:spPr/>
        <p:txBody>
          <a:bodyPr/>
          <a:lstStyle/>
          <a:p>
            <a:r>
              <a:rPr lang="en-US" dirty="0"/>
              <a:t>An </a:t>
            </a:r>
            <a:r>
              <a:rPr lang="en-US" b="1" dirty="0"/>
              <a:t>algorithm</a:t>
            </a:r>
            <a:r>
              <a:rPr lang="en-US" dirty="0"/>
              <a:t> is a sequence of unambiguous instructions for solving a problem, i.e., for obtaining a required output for any legitimate input in a finite amount of time. </a:t>
            </a:r>
          </a:p>
          <a:p>
            <a:endParaRPr lang="en-US" dirty="0"/>
          </a:p>
        </p:txBody>
      </p:sp>
      <p:pic>
        <p:nvPicPr>
          <p:cNvPr id="5" name="Picture 4" descr="A diagram of a problem&#10;&#10;Description automatically generated">
            <a:extLst>
              <a:ext uri="{FF2B5EF4-FFF2-40B4-BE49-F238E27FC236}">
                <a16:creationId xmlns:a16="http://schemas.microsoft.com/office/drawing/2014/main" id="{2712414F-DDCA-B175-0466-94ED38702E0B}"/>
              </a:ext>
            </a:extLst>
          </p:cNvPr>
          <p:cNvPicPr>
            <a:picLocks noChangeAspect="1"/>
          </p:cNvPicPr>
          <p:nvPr/>
        </p:nvPicPr>
        <p:blipFill>
          <a:blip r:embed="rId2"/>
          <a:stretch>
            <a:fillRect/>
          </a:stretch>
        </p:blipFill>
        <p:spPr>
          <a:xfrm>
            <a:off x="3554997" y="3031957"/>
            <a:ext cx="3975100" cy="2286000"/>
          </a:xfrm>
          <a:prstGeom prst="rect">
            <a:avLst/>
          </a:prstGeom>
        </p:spPr>
      </p:pic>
      <p:sp>
        <p:nvSpPr>
          <p:cNvPr id="7" name="TextBox 6">
            <a:extLst>
              <a:ext uri="{FF2B5EF4-FFF2-40B4-BE49-F238E27FC236}">
                <a16:creationId xmlns:a16="http://schemas.microsoft.com/office/drawing/2014/main" id="{2C65FEBF-4541-F304-46A9-2C2E61EB9B37}"/>
              </a:ext>
            </a:extLst>
          </p:cNvPr>
          <p:cNvSpPr txBox="1"/>
          <p:nvPr/>
        </p:nvSpPr>
        <p:spPr>
          <a:xfrm>
            <a:off x="2492542" y="5942568"/>
            <a:ext cx="6100010" cy="369332"/>
          </a:xfrm>
          <a:prstGeom prst="rect">
            <a:avLst/>
          </a:prstGeom>
          <a:noFill/>
        </p:spPr>
        <p:txBody>
          <a:bodyPr wrap="square">
            <a:spAutoFit/>
          </a:bodyPr>
          <a:lstStyle/>
          <a:p>
            <a:pPr algn="ctr"/>
            <a:r>
              <a:rPr lang="en-US" dirty="0"/>
              <a:t>FIGURE 1.1 The notion of the algorithm. </a:t>
            </a:r>
          </a:p>
        </p:txBody>
      </p:sp>
    </p:spTree>
    <p:extLst>
      <p:ext uri="{BB962C8B-B14F-4D97-AF65-F5344CB8AC3E}">
        <p14:creationId xmlns:p14="http://schemas.microsoft.com/office/powerpoint/2010/main" val="2221277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6D23E4-6EE6-D689-85C5-A0510BD8F0D8}"/>
              </a:ext>
            </a:extLst>
          </p:cNvPr>
          <p:cNvSpPr>
            <a:spLocks noGrp="1"/>
          </p:cNvSpPr>
          <p:nvPr>
            <p:ph idx="1"/>
          </p:nvPr>
        </p:nvSpPr>
        <p:spPr/>
        <p:txBody>
          <a:bodyPr/>
          <a:lstStyle/>
          <a:p>
            <a:r>
              <a:rPr lang="en-US" dirty="0"/>
              <a:t>As examples illustrating the notion of the algorithm, we consider in three methods for solving the same problem: </a:t>
            </a:r>
            <a:r>
              <a:rPr lang="en-US" b="1" dirty="0"/>
              <a:t>computing the greatest common divisor of two integers</a:t>
            </a:r>
            <a:r>
              <a:rPr lang="en-US" dirty="0"/>
              <a:t>. </a:t>
            </a:r>
          </a:p>
          <a:p>
            <a:r>
              <a:rPr lang="en-US" dirty="0"/>
              <a:t>These examples will help to illustrate several important points: </a:t>
            </a:r>
          </a:p>
          <a:p>
            <a:pPr lvl="1"/>
            <a:r>
              <a:rPr lang="en-US" dirty="0"/>
              <a:t>The </a:t>
            </a:r>
            <a:r>
              <a:rPr lang="en-US" dirty="0" err="1"/>
              <a:t>nonambiguity</a:t>
            </a:r>
            <a:r>
              <a:rPr lang="en-US" dirty="0"/>
              <a:t> requirement for each step of an algorithm cannot be compromised.</a:t>
            </a:r>
          </a:p>
          <a:p>
            <a:pPr lvl="1"/>
            <a:r>
              <a:rPr lang="en-US" dirty="0"/>
              <a:t>The range of inputs for which an algorithm works has to be specified carefully. </a:t>
            </a:r>
          </a:p>
          <a:p>
            <a:pPr lvl="1"/>
            <a:r>
              <a:rPr lang="en-US" dirty="0"/>
              <a:t>The same algorithm can be represented in several different ways. </a:t>
            </a:r>
          </a:p>
          <a:p>
            <a:pPr lvl="1"/>
            <a:r>
              <a:rPr lang="en-US" dirty="0"/>
              <a:t>There may exist several algorithms for solving the same problem. </a:t>
            </a:r>
          </a:p>
          <a:p>
            <a:pPr lvl="1"/>
            <a:r>
              <a:rPr lang="en-US" dirty="0"/>
              <a:t>Algorithms for the same problem can be based on very different ideas and can solve the problem with dramatically different speeds. </a:t>
            </a:r>
          </a:p>
          <a:p>
            <a:pPr lvl="1"/>
            <a:endParaRPr lang="en-US" dirty="0"/>
          </a:p>
          <a:p>
            <a:endParaRPr lang="en-US" dirty="0"/>
          </a:p>
        </p:txBody>
      </p:sp>
      <p:sp>
        <p:nvSpPr>
          <p:cNvPr id="5" name="Title 1">
            <a:extLst>
              <a:ext uri="{FF2B5EF4-FFF2-40B4-BE49-F238E27FC236}">
                <a16:creationId xmlns:a16="http://schemas.microsoft.com/office/drawing/2014/main" id="{662D1C43-070F-F019-E28B-3A9DBB3D3CAB}"/>
              </a:ext>
            </a:extLst>
          </p:cNvPr>
          <p:cNvSpPr>
            <a:spLocks noGrp="1"/>
          </p:cNvSpPr>
          <p:nvPr>
            <p:ph type="title"/>
          </p:nvPr>
        </p:nvSpPr>
        <p:spPr>
          <a:xfrm>
            <a:off x="838200" y="17393"/>
            <a:ext cx="10515600" cy="1325563"/>
          </a:xfrm>
        </p:spPr>
        <p:txBody>
          <a:bodyPr/>
          <a:lstStyle/>
          <a:p>
            <a:r>
              <a:rPr lang="en-US" dirty="0"/>
              <a:t>What is an algorithm? (cont.) </a:t>
            </a:r>
          </a:p>
        </p:txBody>
      </p:sp>
    </p:spTree>
    <p:extLst>
      <p:ext uri="{BB962C8B-B14F-4D97-AF65-F5344CB8AC3E}">
        <p14:creationId xmlns:p14="http://schemas.microsoft.com/office/powerpoint/2010/main" val="945941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7E863-3C10-54B1-E8B1-007F4B6A60C9}"/>
              </a:ext>
            </a:extLst>
          </p:cNvPr>
          <p:cNvSpPr>
            <a:spLocks noGrp="1"/>
          </p:cNvSpPr>
          <p:nvPr>
            <p:ph type="title"/>
          </p:nvPr>
        </p:nvSpPr>
        <p:spPr/>
        <p:txBody>
          <a:bodyPr/>
          <a:lstStyle/>
          <a:p>
            <a:r>
              <a:rPr lang="en-US" dirty="0"/>
              <a:t>Greatest Common Divisor</a:t>
            </a:r>
          </a:p>
        </p:txBody>
      </p:sp>
      <p:sp>
        <p:nvSpPr>
          <p:cNvPr id="3" name="Content Placeholder 2">
            <a:extLst>
              <a:ext uri="{FF2B5EF4-FFF2-40B4-BE49-F238E27FC236}">
                <a16:creationId xmlns:a16="http://schemas.microsoft.com/office/drawing/2014/main" id="{0BBCC93A-8E9E-1004-5411-30CCBD14260D}"/>
              </a:ext>
            </a:extLst>
          </p:cNvPr>
          <p:cNvSpPr>
            <a:spLocks noGrp="1"/>
          </p:cNvSpPr>
          <p:nvPr>
            <p:ph idx="1"/>
          </p:nvPr>
        </p:nvSpPr>
        <p:spPr/>
        <p:txBody>
          <a:bodyPr/>
          <a:lstStyle/>
          <a:p>
            <a:r>
              <a:rPr lang="en-US" b="1" dirty="0"/>
              <a:t>Greatest common divisor</a:t>
            </a:r>
            <a:r>
              <a:rPr lang="en-US" dirty="0"/>
              <a:t> of two nonnegative, not-both-zero integers m and n, denoted </a:t>
            </a:r>
            <a:r>
              <a:rPr lang="en-US" dirty="0" err="1"/>
              <a:t>gcd</a:t>
            </a:r>
            <a:r>
              <a:rPr lang="en-US" dirty="0"/>
              <a:t>(m, n), is defined as the largest integer that divides both m and n evenly, i.e., with a remainder of zero. </a:t>
            </a:r>
          </a:p>
          <a:p>
            <a:r>
              <a:rPr lang="en-US" dirty="0"/>
              <a:t>Several Algorithms for solving the problem: </a:t>
            </a:r>
          </a:p>
          <a:p>
            <a:pPr lvl="1"/>
            <a:r>
              <a:rPr lang="en-US" dirty="0"/>
              <a:t>Euclid’s algorithm </a:t>
            </a:r>
          </a:p>
          <a:p>
            <a:pPr lvl="1"/>
            <a:r>
              <a:rPr lang="en-US" dirty="0"/>
              <a:t>Consecutive integer checking algorithm </a:t>
            </a:r>
          </a:p>
          <a:p>
            <a:pPr lvl="1"/>
            <a:r>
              <a:rPr lang="en-US" dirty="0"/>
              <a:t>Middle-school procedure </a:t>
            </a:r>
          </a:p>
          <a:p>
            <a:endParaRPr lang="en-US" dirty="0"/>
          </a:p>
        </p:txBody>
      </p:sp>
    </p:spTree>
    <p:extLst>
      <p:ext uri="{BB962C8B-B14F-4D97-AF65-F5344CB8AC3E}">
        <p14:creationId xmlns:p14="http://schemas.microsoft.com/office/powerpoint/2010/main" val="3967827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ED651-0BDA-0791-58AB-D29400D2761C}"/>
              </a:ext>
            </a:extLst>
          </p:cNvPr>
          <p:cNvSpPr>
            <a:spLocks noGrp="1"/>
          </p:cNvSpPr>
          <p:nvPr>
            <p:ph type="title"/>
          </p:nvPr>
        </p:nvSpPr>
        <p:spPr/>
        <p:txBody>
          <a:bodyPr/>
          <a:lstStyle/>
          <a:p>
            <a:r>
              <a:rPr lang="en-US" dirty="0"/>
              <a:t>Euclid’s Algorithm </a:t>
            </a:r>
          </a:p>
        </p:txBody>
      </p:sp>
      <p:sp>
        <p:nvSpPr>
          <p:cNvPr id="3" name="Content Placeholder 2">
            <a:extLst>
              <a:ext uri="{FF2B5EF4-FFF2-40B4-BE49-F238E27FC236}">
                <a16:creationId xmlns:a16="http://schemas.microsoft.com/office/drawing/2014/main" id="{43E398BB-FB19-821A-87AB-B93ECC098358}"/>
              </a:ext>
            </a:extLst>
          </p:cNvPr>
          <p:cNvSpPr>
            <a:spLocks noGrp="1"/>
          </p:cNvSpPr>
          <p:nvPr>
            <p:ph idx="1"/>
          </p:nvPr>
        </p:nvSpPr>
        <p:spPr/>
        <p:txBody>
          <a:bodyPr/>
          <a:lstStyle/>
          <a:p>
            <a:r>
              <a:rPr lang="en-US" b="1" dirty="0"/>
              <a:t>Euclid’s Algorithm </a:t>
            </a:r>
            <a:r>
              <a:rPr lang="en-US" dirty="0"/>
              <a:t>is based on repeated application of equality </a:t>
            </a:r>
          </a:p>
          <a:p>
            <a:pPr marL="0" indent="0">
              <a:buNone/>
            </a:pPr>
            <a:r>
              <a:rPr lang="en-US" dirty="0"/>
              <a:t>	</a:t>
            </a:r>
            <a:r>
              <a:rPr lang="en-US" dirty="0" err="1"/>
              <a:t>gcd</a:t>
            </a:r>
            <a:r>
              <a:rPr lang="en-US" dirty="0"/>
              <a:t>(m, n) = </a:t>
            </a:r>
            <a:r>
              <a:rPr lang="en-US" dirty="0" err="1"/>
              <a:t>gcd</a:t>
            </a:r>
            <a:r>
              <a:rPr lang="en-US" dirty="0"/>
              <a:t>(n, m mod n)</a:t>
            </a:r>
            <a:br>
              <a:rPr lang="en-US" dirty="0"/>
            </a:br>
            <a:endParaRPr lang="en-US" dirty="0"/>
          </a:p>
          <a:p>
            <a:pPr marL="0" indent="0">
              <a:buNone/>
            </a:pPr>
            <a:r>
              <a:rPr lang="en-US" dirty="0"/>
              <a:t>until the second number becomes 0, which makes the problem trivial. the last value of m is also the greatest common divisor of the initial m and n. </a:t>
            </a:r>
          </a:p>
          <a:p>
            <a:pPr marL="0" indent="0">
              <a:buNone/>
            </a:pPr>
            <a:endParaRPr lang="en-US" dirty="0"/>
          </a:p>
          <a:p>
            <a:r>
              <a:rPr lang="en-US" dirty="0"/>
              <a:t>Example: </a:t>
            </a:r>
            <a:r>
              <a:rPr lang="en-US" dirty="0" err="1"/>
              <a:t>gcd</a:t>
            </a:r>
            <a:r>
              <a:rPr lang="en-US" dirty="0"/>
              <a:t>(60, 24) = </a:t>
            </a:r>
            <a:r>
              <a:rPr lang="en-US" dirty="0" err="1"/>
              <a:t>gcd</a:t>
            </a:r>
            <a:r>
              <a:rPr lang="en-US" dirty="0"/>
              <a:t>(24,12) = </a:t>
            </a:r>
            <a:r>
              <a:rPr lang="en-US" dirty="0" err="1"/>
              <a:t>gcd</a:t>
            </a:r>
            <a:r>
              <a:rPr lang="en-US" dirty="0"/>
              <a:t>(12,0) = 12 </a:t>
            </a:r>
          </a:p>
          <a:p>
            <a:endParaRPr lang="en-US" dirty="0"/>
          </a:p>
        </p:txBody>
      </p:sp>
    </p:spTree>
    <p:extLst>
      <p:ext uri="{BB962C8B-B14F-4D97-AF65-F5344CB8AC3E}">
        <p14:creationId xmlns:p14="http://schemas.microsoft.com/office/powerpoint/2010/main" val="3910893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F9F231-90F8-2689-E97D-710B7C3065FD}"/>
              </a:ext>
            </a:extLst>
          </p:cNvPr>
          <p:cNvSpPr>
            <a:spLocks noGrp="1"/>
          </p:cNvSpPr>
          <p:nvPr>
            <p:ph idx="1"/>
          </p:nvPr>
        </p:nvSpPr>
        <p:spPr>
          <a:xfrm>
            <a:off x="838200" y="1825625"/>
            <a:ext cx="10727028" cy="4351338"/>
          </a:xfrm>
        </p:spPr>
        <p:txBody>
          <a:bodyPr/>
          <a:lstStyle/>
          <a:p>
            <a:r>
              <a:rPr lang="en-US" b="1" dirty="0"/>
              <a:t>Euclid’s algorithm</a:t>
            </a:r>
            <a:r>
              <a:rPr lang="en-US" dirty="0"/>
              <a:t> for computing </a:t>
            </a:r>
            <a:r>
              <a:rPr lang="en-US" dirty="0" err="1"/>
              <a:t>gcd</a:t>
            </a:r>
            <a:r>
              <a:rPr lang="en-US" dirty="0"/>
              <a:t>(m, n) </a:t>
            </a:r>
          </a:p>
          <a:p>
            <a:pPr lvl="1"/>
            <a:r>
              <a:rPr lang="en-US" b="1" dirty="0"/>
              <a:t>Step 1:</a:t>
            </a:r>
            <a:r>
              <a:rPr lang="en-US" dirty="0"/>
              <a:t> If n = 0, return the value of m as the answer and stop; otherwise, proceed to Step 2. </a:t>
            </a:r>
          </a:p>
          <a:p>
            <a:pPr lvl="1"/>
            <a:r>
              <a:rPr lang="en-US" b="1" dirty="0"/>
              <a:t>Step 2:</a:t>
            </a:r>
            <a:r>
              <a:rPr lang="en-US" dirty="0"/>
              <a:t> Divide m by n and assign the value of the remainder to r. </a:t>
            </a:r>
          </a:p>
          <a:p>
            <a:pPr lvl="1"/>
            <a:r>
              <a:rPr lang="en-US" b="1" dirty="0"/>
              <a:t>Step3:</a:t>
            </a:r>
            <a:r>
              <a:rPr lang="en-US" dirty="0"/>
              <a:t> Assign the value of n to m and the value of r to n. Go to Step1. </a:t>
            </a:r>
          </a:p>
          <a:p>
            <a:endParaRPr lang="en-US" dirty="0"/>
          </a:p>
          <a:p>
            <a:endParaRPr lang="en-US" dirty="0"/>
          </a:p>
        </p:txBody>
      </p:sp>
      <p:sp>
        <p:nvSpPr>
          <p:cNvPr id="6" name="Title 1">
            <a:extLst>
              <a:ext uri="{FF2B5EF4-FFF2-40B4-BE49-F238E27FC236}">
                <a16:creationId xmlns:a16="http://schemas.microsoft.com/office/drawing/2014/main" id="{6F523B27-99CF-AB35-3FE8-0E070D9AFF12}"/>
              </a:ext>
            </a:extLst>
          </p:cNvPr>
          <p:cNvSpPr>
            <a:spLocks noGrp="1"/>
          </p:cNvSpPr>
          <p:nvPr>
            <p:ph type="title"/>
          </p:nvPr>
        </p:nvSpPr>
        <p:spPr>
          <a:xfrm>
            <a:off x="838200" y="30271"/>
            <a:ext cx="10515600" cy="1325563"/>
          </a:xfrm>
        </p:spPr>
        <p:txBody>
          <a:bodyPr/>
          <a:lstStyle/>
          <a:p>
            <a:r>
              <a:rPr lang="en-US" dirty="0"/>
              <a:t>Euclid’s Algorithm (cont.) </a:t>
            </a:r>
          </a:p>
        </p:txBody>
      </p:sp>
    </p:spTree>
    <p:extLst>
      <p:ext uri="{BB962C8B-B14F-4D97-AF65-F5344CB8AC3E}">
        <p14:creationId xmlns:p14="http://schemas.microsoft.com/office/powerpoint/2010/main" val="2948335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551F78-DAB6-97EE-D45F-A127180894A1}"/>
              </a:ext>
            </a:extLst>
          </p:cNvPr>
          <p:cNvSpPr>
            <a:spLocks noGrp="1"/>
          </p:cNvSpPr>
          <p:nvPr>
            <p:ph idx="1"/>
          </p:nvPr>
        </p:nvSpPr>
        <p:spPr/>
        <p:txBody>
          <a:bodyPr/>
          <a:lstStyle/>
          <a:p>
            <a:r>
              <a:rPr lang="en-US" dirty="0"/>
              <a:t>Alternatively, we can express the same algorithm in pseudocode: </a:t>
            </a:r>
          </a:p>
          <a:p>
            <a:endParaRPr lang="en-US" dirty="0"/>
          </a:p>
        </p:txBody>
      </p:sp>
      <p:pic>
        <p:nvPicPr>
          <p:cNvPr id="4" name="Picture 3" descr="A black text on a white background&#10;&#10;Description automatically generated">
            <a:extLst>
              <a:ext uri="{FF2B5EF4-FFF2-40B4-BE49-F238E27FC236}">
                <a16:creationId xmlns:a16="http://schemas.microsoft.com/office/drawing/2014/main" id="{85C6D8C3-0CE2-63BD-C5DE-9CA9CCC04CD1}"/>
              </a:ext>
            </a:extLst>
          </p:cNvPr>
          <p:cNvPicPr>
            <a:picLocks noChangeAspect="1"/>
          </p:cNvPicPr>
          <p:nvPr/>
        </p:nvPicPr>
        <p:blipFill>
          <a:blip r:embed="rId2"/>
          <a:stretch>
            <a:fillRect/>
          </a:stretch>
        </p:blipFill>
        <p:spPr>
          <a:xfrm>
            <a:off x="1203661" y="2449221"/>
            <a:ext cx="5486400" cy="2527300"/>
          </a:xfrm>
          <a:prstGeom prst="rect">
            <a:avLst/>
          </a:prstGeom>
        </p:spPr>
      </p:pic>
      <p:sp>
        <p:nvSpPr>
          <p:cNvPr id="5" name="Title 1">
            <a:extLst>
              <a:ext uri="{FF2B5EF4-FFF2-40B4-BE49-F238E27FC236}">
                <a16:creationId xmlns:a16="http://schemas.microsoft.com/office/drawing/2014/main" id="{62A18144-6155-6929-7B8B-69668CAC489D}"/>
              </a:ext>
            </a:extLst>
          </p:cNvPr>
          <p:cNvSpPr>
            <a:spLocks noGrp="1"/>
          </p:cNvSpPr>
          <p:nvPr>
            <p:ph type="title"/>
          </p:nvPr>
        </p:nvSpPr>
        <p:spPr>
          <a:xfrm>
            <a:off x="838200" y="17392"/>
            <a:ext cx="10515600" cy="1325563"/>
          </a:xfrm>
        </p:spPr>
        <p:txBody>
          <a:bodyPr/>
          <a:lstStyle/>
          <a:p>
            <a:r>
              <a:rPr lang="en-US" dirty="0"/>
              <a:t>Euclid’s Algorithm (cont.) </a:t>
            </a:r>
          </a:p>
        </p:txBody>
      </p:sp>
    </p:spTree>
    <p:extLst>
      <p:ext uri="{BB962C8B-B14F-4D97-AF65-F5344CB8AC3E}">
        <p14:creationId xmlns:p14="http://schemas.microsoft.com/office/powerpoint/2010/main" val="169988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2A0DD8-C116-E4C8-09A5-AB462CB32749}"/>
              </a:ext>
            </a:extLst>
          </p:cNvPr>
          <p:cNvSpPr>
            <a:spLocks noGrp="1"/>
          </p:cNvSpPr>
          <p:nvPr>
            <p:ph idx="1"/>
          </p:nvPr>
        </p:nvSpPr>
        <p:spPr/>
        <p:txBody>
          <a:bodyPr/>
          <a:lstStyle/>
          <a:p>
            <a:r>
              <a:rPr lang="en-US" dirty="0"/>
              <a:t>How do we know that Euclid’s algorithm eventually comes to a stop? </a:t>
            </a:r>
          </a:p>
          <a:p>
            <a:pPr lvl="1"/>
            <a:r>
              <a:rPr lang="en-US" dirty="0"/>
              <a:t>This follows from the observation that the second integer of the pair gets smaller with each iteration and it cannot become negative. </a:t>
            </a:r>
          </a:p>
          <a:p>
            <a:pPr lvl="1"/>
            <a:r>
              <a:rPr lang="en-US" dirty="0"/>
              <a:t>Indeed, the new value of n on the next iteration is m mod n, which is always smaller than n . </a:t>
            </a:r>
          </a:p>
          <a:p>
            <a:pPr lvl="2"/>
            <a:r>
              <a:rPr lang="en-US" dirty="0"/>
              <a:t>Hence, the value of the second integer eventually becomes 0, and the algorithm stops. </a:t>
            </a:r>
          </a:p>
          <a:p>
            <a:endParaRPr lang="en-US" dirty="0"/>
          </a:p>
        </p:txBody>
      </p:sp>
      <p:sp>
        <p:nvSpPr>
          <p:cNvPr id="4" name="Title 1">
            <a:extLst>
              <a:ext uri="{FF2B5EF4-FFF2-40B4-BE49-F238E27FC236}">
                <a16:creationId xmlns:a16="http://schemas.microsoft.com/office/drawing/2014/main" id="{9E8D1E82-81BE-8ABB-10ED-E0AEC26E31C4}"/>
              </a:ext>
            </a:extLst>
          </p:cNvPr>
          <p:cNvSpPr>
            <a:spLocks noGrp="1"/>
          </p:cNvSpPr>
          <p:nvPr>
            <p:ph type="title"/>
          </p:nvPr>
        </p:nvSpPr>
        <p:spPr>
          <a:xfrm>
            <a:off x="838200" y="30271"/>
            <a:ext cx="10515600" cy="1325563"/>
          </a:xfrm>
        </p:spPr>
        <p:txBody>
          <a:bodyPr/>
          <a:lstStyle/>
          <a:p>
            <a:r>
              <a:rPr lang="en-US" dirty="0"/>
              <a:t>Euclid’s Algorithm (cont.) </a:t>
            </a:r>
          </a:p>
        </p:txBody>
      </p:sp>
    </p:spTree>
    <p:extLst>
      <p:ext uri="{BB962C8B-B14F-4D97-AF65-F5344CB8AC3E}">
        <p14:creationId xmlns:p14="http://schemas.microsoft.com/office/powerpoint/2010/main" val="3232153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361AF-426A-17A7-BF70-963EC9DA64A4}"/>
              </a:ext>
            </a:extLst>
          </p:cNvPr>
          <p:cNvSpPr>
            <a:spLocks noGrp="1"/>
          </p:cNvSpPr>
          <p:nvPr>
            <p:ph type="title"/>
          </p:nvPr>
        </p:nvSpPr>
        <p:spPr/>
        <p:txBody>
          <a:bodyPr/>
          <a:lstStyle/>
          <a:p>
            <a:r>
              <a:rPr lang="en-US" dirty="0"/>
              <a:t>Consecutive integer checking algorithm </a:t>
            </a:r>
          </a:p>
        </p:txBody>
      </p:sp>
      <p:sp>
        <p:nvSpPr>
          <p:cNvPr id="3" name="Content Placeholder 2">
            <a:extLst>
              <a:ext uri="{FF2B5EF4-FFF2-40B4-BE49-F238E27FC236}">
                <a16:creationId xmlns:a16="http://schemas.microsoft.com/office/drawing/2014/main" id="{986E16DA-3E08-0159-3078-4A5C982BD418}"/>
              </a:ext>
            </a:extLst>
          </p:cNvPr>
          <p:cNvSpPr>
            <a:spLocks noGrp="1"/>
          </p:cNvSpPr>
          <p:nvPr>
            <p:ph idx="1"/>
          </p:nvPr>
        </p:nvSpPr>
        <p:spPr/>
        <p:txBody>
          <a:bodyPr/>
          <a:lstStyle/>
          <a:p>
            <a:r>
              <a:rPr lang="en-US" dirty="0"/>
              <a:t>Consecutive integer checking algorithm for computing </a:t>
            </a:r>
            <a:r>
              <a:rPr lang="en-US" dirty="0" err="1"/>
              <a:t>gcd</a:t>
            </a:r>
            <a:r>
              <a:rPr lang="en-US" dirty="0"/>
              <a:t>(m, n) </a:t>
            </a:r>
          </a:p>
          <a:p>
            <a:pPr lvl="1"/>
            <a:r>
              <a:rPr lang="en-US" b="1" dirty="0"/>
              <a:t>Step 1 </a:t>
            </a:r>
            <a:r>
              <a:rPr lang="en-US" dirty="0"/>
              <a:t>Assign the value of min{m, n} to t</a:t>
            </a:r>
          </a:p>
          <a:p>
            <a:pPr lvl="1"/>
            <a:r>
              <a:rPr lang="en-US" b="1" dirty="0"/>
              <a:t>Step 2</a:t>
            </a:r>
            <a:r>
              <a:rPr lang="en-US" dirty="0"/>
              <a:t> Divide m by t. If the remainder is 0, go to Step 3;  otherwise, go to Step 4 </a:t>
            </a:r>
          </a:p>
          <a:p>
            <a:pPr lvl="1"/>
            <a:r>
              <a:rPr lang="en-US" b="1" dirty="0"/>
              <a:t>Step 3</a:t>
            </a:r>
            <a:r>
              <a:rPr lang="en-US" dirty="0"/>
              <a:t> Divide n by t. If the remainder is 0, return t and stop;  otherwise, go to Step 4 </a:t>
            </a:r>
          </a:p>
          <a:p>
            <a:pPr lvl="1"/>
            <a:r>
              <a:rPr lang="en-US" b="1" dirty="0"/>
              <a:t>Step 4</a:t>
            </a:r>
            <a:r>
              <a:rPr lang="en-US" dirty="0"/>
              <a:t> Decrease t by 1 and go to Step 2 </a:t>
            </a:r>
          </a:p>
          <a:p>
            <a:endParaRPr lang="en-US" dirty="0"/>
          </a:p>
          <a:p>
            <a:r>
              <a:rPr lang="en-US" dirty="0"/>
              <a:t>This algorithm starts by checking whether t divides both m and n: if it does, t is the answer; if it doesn’t, we simply decrease t by 1 and try again. </a:t>
            </a:r>
          </a:p>
          <a:p>
            <a:endParaRPr lang="en-US" dirty="0"/>
          </a:p>
        </p:txBody>
      </p:sp>
    </p:spTree>
    <p:extLst>
      <p:ext uri="{BB962C8B-B14F-4D97-AF65-F5344CB8AC3E}">
        <p14:creationId xmlns:p14="http://schemas.microsoft.com/office/powerpoint/2010/main" val="2224998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A1E398-DB5A-B008-F059-F2B47214F8F9}"/>
              </a:ext>
            </a:extLst>
          </p:cNvPr>
          <p:cNvSpPr>
            <a:spLocks noGrp="1"/>
          </p:cNvSpPr>
          <p:nvPr>
            <p:ph idx="1"/>
          </p:nvPr>
        </p:nvSpPr>
        <p:spPr/>
        <p:txBody>
          <a:bodyPr/>
          <a:lstStyle/>
          <a:p>
            <a:r>
              <a:rPr lang="en-US" dirty="0"/>
              <a:t>Note that unlike Euclid’s algorithm, this algorithm, in the form presented, does not work correctly when one of its input numbers is zero. </a:t>
            </a:r>
          </a:p>
          <a:p>
            <a:r>
              <a:rPr lang="en-US" dirty="0"/>
              <a:t>This example illustrates why it is so important to specify the set of an algorithm’s inputs explicitly and carefully. </a:t>
            </a:r>
          </a:p>
          <a:p>
            <a:endParaRPr lang="en-US" dirty="0"/>
          </a:p>
        </p:txBody>
      </p:sp>
      <p:sp>
        <p:nvSpPr>
          <p:cNvPr id="4" name="Title 1">
            <a:extLst>
              <a:ext uri="{FF2B5EF4-FFF2-40B4-BE49-F238E27FC236}">
                <a16:creationId xmlns:a16="http://schemas.microsoft.com/office/drawing/2014/main" id="{5DFE8CEA-FB6E-51B3-AB58-2868EDD76803}"/>
              </a:ext>
            </a:extLst>
          </p:cNvPr>
          <p:cNvSpPr>
            <a:spLocks noGrp="1"/>
          </p:cNvSpPr>
          <p:nvPr>
            <p:ph type="title"/>
          </p:nvPr>
        </p:nvSpPr>
        <p:spPr>
          <a:xfrm>
            <a:off x="838200" y="17392"/>
            <a:ext cx="10515600" cy="1325563"/>
          </a:xfrm>
        </p:spPr>
        <p:txBody>
          <a:bodyPr/>
          <a:lstStyle/>
          <a:p>
            <a:r>
              <a:rPr lang="en-US" dirty="0"/>
              <a:t>Consecutive integer checking algorithm (cont.) </a:t>
            </a:r>
          </a:p>
        </p:txBody>
      </p:sp>
    </p:spTree>
    <p:extLst>
      <p:ext uri="{BB962C8B-B14F-4D97-AF65-F5344CB8AC3E}">
        <p14:creationId xmlns:p14="http://schemas.microsoft.com/office/powerpoint/2010/main" val="1313042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F18A6-12D4-A3A2-2CE0-7D9A9E9D55C5}"/>
              </a:ext>
            </a:extLst>
          </p:cNvPr>
          <p:cNvSpPr>
            <a:spLocks noGrp="1"/>
          </p:cNvSpPr>
          <p:nvPr>
            <p:ph type="title"/>
          </p:nvPr>
        </p:nvSpPr>
        <p:spPr/>
        <p:txBody>
          <a:bodyPr/>
          <a:lstStyle/>
          <a:p>
            <a:r>
              <a:rPr lang="en-US" dirty="0"/>
              <a:t>Middle-school procedure </a:t>
            </a:r>
          </a:p>
        </p:txBody>
      </p:sp>
      <p:sp>
        <p:nvSpPr>
          <p:cNvPr id="3" name="Content Placeholder 2">
            <a:extLst>
              <a:ext uri="{FF2B5EF4-FFF2-40B4-BE49-F238E27FC236}">
                <a16:creationId xmlns:a16="http://schemas.microsoft.com/office/drawing/2014/main" id="{5618D3EE-23E7-0AD2-34BA-F3C3FFAA74DF}"/>
              </a:ext>
            </a:extLst>
          </p:cNvPr>
          <p:cNvSpPr>
            <a:spLocks noGrp="1"/>
          </p:cNvSpPr>
          <p:nvPr>
            <p:ph idx="1"/>
          </p:nvPr>
        </p:nvSpPr>
        <p:spPr/>
        <p:txBody>
          <a:bodyPr/>
          <a:lstStyle/>
          <a:p>
            <a:r>
              <a:rPr lang="en-US" b="1" dirty="0"/>
              <a:t>Step 1</a:t>
            </a:r>
            <a:r>
              <a:rPr lang="en-US" dirty="0"/>
              <a:t> Find the prime factorization of m </a:t>
            </a:r>
          </a:p>
          <a:p>
            <a:r>
              <a:rPr lang="en-US" b="1" dirty="0"/>
              <a:t>Step 2</a:t>
            </a:r>
            <a:r>
              <a:rPr lang="en-US" dirty="0"/>
              <a:t> Find the prime factorization of n </a:t>
            </a:r>
          </a:p>
          <a:p>
            <a:r>
              <a:rPr lang="en-US" b="1" dirty="0"/>
              <a:t>Step 3</a:t>
            </a:r>
            <a:r>
              <a:rPr lang="en-US" dirty="0"/>
              <a:t> Find all the common prime factors </a:t>
            </a:r>
          </a:p>
          <a:p>
            <a:r>
              <a:rPr lang="en-US" b="1" dirty="0"/>
              <a:t>Step 4</a:t>
            </a:r>
            <a:r>
              <a:rPr lang="en-US" dirty="0"/>
              <a:t> Compute the product of all the common prime factors and return it as </a:t>
            </a:r>
            <a:r>
              <a:rPr lang="en-US" dirty="0" err="1"/>
              <a:t>gcd</a:t>
            </a:r>
            <a:r>
              <a:rPr lang="en-US" dirty="0"/>
              <a:t>(</a:t>
            </a:r>
            <a:r>
              <a:rPr lang="en-US" dirty="0" err="1"/>
              <a:t>m,n</a:t>
            </a:r>
            <a:r>
              <a:rPr lang="en-US" dirty="0"/>
              <a:t>) </a:t>
            </a:r>
          </a:p>
          <a:p>
            <a:endParaRPr lang="en-US" dirty="0"/>
          </a:p>
          <a:p>
            <a:r>
              <a:rPr lang="en-US" dirty="0"/>
              <a:t>Example:</a:t>
            </a:r>
          </a:p>
          <a:p>
            <a:r>
              <a:rPr lang="en-US" dirty="0" err="1"/>
              <a:t>gcd</a:t>
            </a:r>
            <a:r>
              <a:rPr lang="en-US" dirty="0"/>
              <a:t>(60,24) can be computed as follows: </a:t>
            </a:r>
          </a:p>
          <a:p>
            <a:pPr marL="0" indent="0">
              <a:buNone/>
            </a:pPr>
            <a:r>
              <a:rPr lang="en-US" dirty="0"/>
              <a:t>	60 = 2 . 2 . 3 . 5</a:t>
            </a:r>
          </a:p>
          <a:p>
            <a:pPr marL="0" indent="0">
              <a:buNone/>
            </a:pPr>
            <a:r>
              <a:rPr lang="en-US" dirty="0"/>
              <a:t>	24 = 2 . 2 . 2 . 3</a:t>
            </a:r>
          </a:p>
          <a:p>
            <a:pPr marL="0" indent="0">
              <a:buNone/>
            </a:pPr>
            <a:r>
              <a:rPr lang="en-US" dirty="0"/>
              <a:t>	</a:t>
            </a:r>
            <a:r>
              <a:rPr lang="en-US" dirty="0" err="1"/>
              <a:t>gcd</a:t>
            </a:r>
            <a:r>
              <a:rPr lang="en-US" dirty="0"/>
              <a:t>(60, 24) = 2 . 2 . 3 = 12. </a:t>
            </a:r>
          </a:p>
          <a:p>
            <a:endParaRPr lang="en-US" dirty="0"/>
          </a:p>
        </p:txBody>
      </p:sp>
    </p:spTree>
    <p:extLst>
      <p:ext uri="{BB962C8B-B14F-4D97-AF65-F5344CB8AC3E}">
        <p14:creationId xmlns:p14="http://schemas.microsoft.com/office/powerpoint/2010/main" val="3593301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CA0F4D-61AD-2B2C-C9D1-337A07C16301}"/>
              </a:ext>
            </a:extLst>
          </p:cNvPr>
          <p:cNvSpPr>
            <a:spLocks noGrp="1"/>
          </p:cNvSpPr>
          <p:nvPr>
            <p:ph idx="1"/>
          </p:nvPr>
        </p:nvSpPr>
        <p:spPr/>
        <p:txBody>
          <a:bodyPr/>
          <a:lstStyle/>
          <a:p>
            <a:r>
              <a:rPr lang="en-US" dirty="0"/>
              <a:t>The middle- school procedure does not qualify, in the form presented, as a legitimate algorithm. Why? </a:t>
            </a:r>
          </a:p>
          <a:p>
            <a:pPr lvl="1"/>
            <a:r>
              <a:rPr lang="en-US" dirty="0"/>
              <a:t>Because the prime factorization steps are not defined unambiguously: they require a list of prime numbers, </a:t>
            </a:r>
          </a:p>
          <a:p>
            <a:pPr lvl="1"/>
            <a:r>
              <a:rPr lang="en-US" dirty="0"/>
              <a:t>Step 3 is also not defined clearly enough. </a:t>
            </a:r>
          </a:p>
          <a:p>
            <a:pPr lvl="1"/>
            <a:r>
              <a:rPr lang="en-US" dirty="0"/>
              <a:t>Much more complex and slower than Euclid’s Algorithm </a:t>
            </a:r>
          </a:p>
          <a:p>
            <a:endParaRPr lang="en-US" dirty="0"/>
          </a:p>
        </p:txBody>
      </p:sp>
      <p:sp>
        <p:nvSpPr>
          <p:cNvPr id="4" name="Title 1">
            <a:extLst>
              <a:ext uri="{FF2B5EF4-FFF2-40B4-BE49-F238E27FC236}">
                <a16:creationId xmlns:a16="http://schemas.microsoft.com/office/drawing/2014/main" id="{D8EE8420-6E8D-6A12-237C-EA65C5307529}"/>
              </a:ext>
            </a:extLst>
          </p:cNvPr>
          <p:cNvSpPr>
            <a:spLocks noGrp="1"/>
          </p:cNvSpPr>
          <p:nvPr>
            <p:ph type="title"/>
          </p:nvPr>
        </p:nvSpPr>
        <p:spPr>
          <a:xfrm>
            <a:off x="838200" y="17392"/>
            <a:ext cx="10515600" cy="1325563"/>
          </a:xfrm>
        </p:spPr>
        <p:txBody>
          <a:bodyPr/>
          <a:lstStyle/>
          <a:p>
            <a:r>
              <a:rPr lang="en-US" dirty="0"/>
              <a:t>Middle-school procedure (cont.)</a:t>
            </a:r>
            <a:br>
              <a:rPr lang="en-US" dirty="0"/>
            </a:br>
            <a:endParaRPr lang="en-US" dirty="0"/>
          </a:p>
        </p:txBody>
      </p:sp>
    </p:spTree>
    <p:extLst>
      <p:ext uri="{BB962C8B-B14F-4D97-AF65-F5344CB8AC3E}">
        <p14:creationId xmlns:p14="http://schemas.microsoft.com/office/powerpoint/2010/main" val="3333779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8DB61-7CE9-6006-6016-CB41C0E438C1}"/>
              </a:ext>
            </a:extLst>
          </p:cNvPr>
          <p:cNvSpPr>
            <a:spLocks noGrp="1"/>
          </p:cNvSpPr>
          <p:nvPr>
            <p:ph type="title"/>
          </p:nvPr>
        </p:nvSpPr>
        <p:spPr/>
        <p:txBody>
          <a:bodyPr/>
          <a:lstStyle/>
          <a:p>
            <a:r>
              <a:rPr lang="en-US" dirty="0"/>
              <a:t>Fundamentals of Algorithmic Problem Solving </a:t>
            </a:r>
          </a:p>
        </p:txBody>
      </p:sp>
      <p:sp>
        <p:nvSpPr>
          <p:cNvPr id="3" name="Content Placeholder 2">
            <a:extLst>
              <a:ext uri="{FF2B5EF4-FFF2-40B4-BE49-F238E27FC236}">
                <a16:creationId xmlns:a16="http://schemas.microsoft.com/office/drawing/2014/main" id="{6A248181-A269-71C1-83BA-F174329AB49B}"/>
              </a:ext>
            </a:extLst>
          </p:cNvPr>
          <p:cNvSpPr>
            <a:spLocks noGrp="1"/>
          </p:cNvSpPr>
          <p:nvPr>
            <p:ph idx="1"/>
          </p:nvPr>
        </p:nvSpPr>
        <p:spPr/>
        <p:txBody>
          <a:bodyPr/>
          <a:lstStyle/>
          <a:p>
            <a:r>
              <a:rPr lang="en-US" dirty="0"/>
              <a:t>We can consider </a:t>
            </a:r>
            <a:r>
              <a:rPr lang="en-US" b="1" dirty="0"/>
              <a:t>algorithms</a:t>
            </a:r>
            <a:r>
              <a:rPr lang="en-US" dirty="0"/>
              <a:t> to be </a:t>
            </a:r>
            <a:r>
              <a:rPr lang="en-US" b="1" dirty="0"/>
              <a:t>procedural solutions to problems</a:t>
            </a:r>
            <a:r>
              <a:rPr lang="en-US" dirty="0"/>
              <a:t>. </a:t>
            </a:r>
          </a:p>
          <a:p>
            <a:r>
              <a:rPr lang="en-US" dirty="0"/>
              <a:t>These </a:t>
            </a:r>
            <a:r>
              <a:rPr lang="en-US" b="1" dirty="0"/>
              <a:t>solutions are not answers but specific instructions for getting answers</a:t>
            </a:r>
            <a:r>
              <a:rPr lang="en-US" dirty="0"/>
              <a:t>. </a:t>
            </a:r>
          </a:p>
          <a:p>
            <a:r>
              <a:rPr lang="en-US" b="1" dirty="0"/>
              <a:t>It is this emphasis on precisely defined constructive procedures that makes computer science distinct from other disciplines. </a:t>
            </a:r>
          </a:p>
          <a:p>
            <a:r>
              <a:rPr lang="en-US" dirty="0"/>
              <a:t>In particular, this distinguishes it from theoretical mathematics, whose practitioners are typically satisfied with just proving the existence of a solution to a problem and, possibly, investigating the solution’s properties. </a:t>
            </a:r>
          </a:p>
          <a:p>
            <a:endParaRPr lang="en-US" dirty="0"/>
          </a:p>
        </p:txBody>
      </p:sp>
    </p:spTree>
    <p:extLst>
      <p:ext uri="{BB962C8B-B14F-4D97-AF65-F5344CB8AC3E}">
        <p14:creationId xmlns:p14="http://schemas.microsoft.com/office/powerpoint/2010/main" val="209498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AE5D0-83D7-BA88-6AF1-2833838C2832}"/>
              </a:ext>
            </a:extLst>
          </p:cNvPr>
          <p:cNvSpPr>
            <a:spLocks noGrp="1"/>
          </p:cNvSpPr>
          <p:nvPr>
            <p:ph type="title"/>
          </p:nvPr>
        </p:nvSpPr>
        <p:spPr/>
        <p:txBody>
          <a:bodyPr/>
          <a:lstStyle/>
          <a:p>
            <a:r>
              <a:rPr lang="en-US" dirty="0"/>
              <a:t>Algorithm design and analysis process</a:t>
            </a:r>
          </a:p>
        </p:txBody>
      </p:sp>
      <p:pic>
        <p:nvPicPr>
          <p:cNvPr id="7" name="Content Placeholder 6" descr="A diagram of a algorithm&#10;&#10;Description automatically generated">
            <a:extLst>
              <a:ext uri="{FF2B5EF4-FFF2-40B4-BE49-F238E27FC236}">
                <a16:creationId xmlns:a16="http://schemas.microsoft.com/office/drawing/2014/main" id="{36557FF9-0966-9FA3-FA7E-AEB436E94445}"/>
              </a:ext>
            </a:extLst>
          </p:cNvPr>
          <p:cNvPicPr>
            <a:picLocks noGrp="1" noChangeAspect="1"/>
          </p:cNvPicPr>
          <p:nvPr>
            <p:ph idx="1"/>
          </p:nvPr>
        </p:nvPicPr>
        <p:blipFill>
          <a:blip r:embed="rId2"/>
          <a:stretch>
            <a:fillRect/>
          </a:stretch>
        </p:blipFill>
        <p:spPr>
          <a:xfrm>
            <a:off x="3870626" y="1427078"/>
            <a:ext cx="3987499" cy="4723653"/>
          </a:xfrm>
        </p:spPr>
      </p:pic>
      <p:sp>
        <p:nvSpPr>
          <p:cNvPr id="5" name="TextBox 4">
            <a:extLst>
              <a:ext uri="{FF2B5EF4-FFF2-40B4-BE49-F238E27FC236}">
                <a16:creationId xmlns:a16="http://schemas.microsoft.com/office/drawing/2014/main" id="{AB161AC6-63BA-1635-A203-432C83D8C984}"/>
              </a:ext>
            </a:extLst>
          </p:cNvPr>
          <p:cNvSpPr txBox="1"/>
          <p:nvPr/>
        </p:nvSpPr>
        <p:spPr>
          <a:xfrm>
            <a:off x="3254541" y="6311900"/>
            <a:ext cx="6100010" cy="369332"/>
          </a:xfrm>
          <a:prstGeom prst="rect">
            <a:avLst/>
          </a:prstGeom>
          <a:noFill/>
        </p:spPr>
        <p:txBody>
          <a:bodyPr wrap="square">
            <a:spAutoFit/>
          </a:bodyPr>
          <a:lstStyle/>
          <a:p>
            <a:r>
              <a:rPr lang="en-US" dirty="0"/>
              <a:t>FIGURE 1.2 Algorithm design and analysis process. </a:t>
            </a:r>
          </a:p>
        </p:txBody>
      </p:sp>
    </p:spTree>
    <p:extLst>
      <p:ext uri="{BB962C8B-B14F-4D97-AF65-F5344CB8AC3E}">
        <p14:creationId xmlns:p14="http://schemas.microsoft.com/office/powerpoint/2010/main" val="2762134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A3937-4EAF-48AA-27CC-714993C4FDB4}"/>
              </a:ext>
            </a:extLst>
          </p:cNvPr>
          <p:cNvSpPr>
            <a:spLocks noGrp="1"/>
          </p:cNvSpPr>
          <p:nvPr>
            <p:ph type="title"/>
          </p:nvPr>
        </p:nvSpPr>
        <p:spPr/>
        <p:txBody>
          <a:bodyPr/>
          <a:lstStyle/>
          <a:p>
            <a:r>
              <a:rPr lang="en-US" dirty="0"/>
              <a:t>Understanding the Problem </a:t>
            </a:r>
          </a:p>
        </p:txBody>
      </p:sp>
      <p:sp>
        <p:nvSpPr>
          <p:cNvPr id="3" name="Content Placeholder 2">
            <a:extLst>
              <a:ext uri="{FF2B5EF4-FFF2-40B4-BE49-F238E27FC236}">
                <a16:creationId xmlns:a16="http://schemas.microsoft.com/office/drawing/2014/main" id="{1E6A3CE7-07F2-1699-DDFD-8F69EAA75528}"/>
              </a:ext>
            </a:extLst>
          </p:cNvPr>
          <p:cNvSpPr>
            <a:spLocks noGrp="1"/>
          </p:cNvSpPr>
          <p:nvPr>
            <p:ph idx="1"/>
          </p:nvPr>
        </p:nvSpPr>
        <p:spPr/>
        <p:txBody>
          <a:bodyPr/>
          <a:lstStyle/>
          <a:p>
            <a:r>
              <a:rPr lang="en-US" dirty="0"/>
              <a:t>The first thing you need to do before designing an algorithm is to understand completely the problem given: </a:t>
            </a:r>
          </a:p>
          <a:p>
            <a:pPr lvl="1"/>
            <a:r>
              <a:rPr lang="en-US" dirty="0"/>
              <a:t>Read the problem’s description carefully and ask questions if you have any doubts about the problem.</a:t>
            </a:r>
          </a:p>
          <a:p>
            <a:pPr lvl="1"/>
            <a:r>
              <a:rPr lang="en-US" dirty="0"/>
              <a:t>Do a few small examples by hand, think about special cases, and ask questions again if needed. </a:t>
            </a:r>
          </a:p>
          <a:p>
            <a:pPr lvl="1"/>
            <a:r>
              <a:rPr lang="en-US" dirty="0"/>
              <a:t>Use a known algorithm for solving the problem. Of course, it helps to understand how such an algorithm works and to know its strengths and weaknesses, especially if you have to choose among several available algorithms. </a:t>
            </a:r>
          </a:p>
          <a:p>
            <a:pPr lvl="1"/>
            <a:r>
              <a:rPr lang="en-US" dirty="0"/>
              <a:t>Often you will not find a readily available algorithm and will have to design your own.</a:t>
            </a:r>
          </a:p>
          <a:p>
            <a:pPr lvl="1"/>
            <a:r>
              <a:rPr lang="en-US" dirty="0"/>
              <a:t>It is very important to specify exactly the set of instances the algorithm needs to handle. </a:t>
            </a:r>
          </a:p>
          <a:p>
            <a:endParaRPr lang="en-US" dirty="0"/>
          </a:p>
        </p:txBody>
      </p:sp>
    </p:spTree>
    <p:extLst>
      <p:ext uri="{BB962C8B-B14F-4D97-AF65-F5344CB8AC3E}">
        <p14:creationId xmlns:p14="http://schemas.microsoft.com/office/powerpoint/2010/main" val="3770574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29542-6CA9-ADF4-5850-542383C374B4}"/>
              </a:ext>
            </a:extLst>
          </p:cNvPr>
          <p:cNvSpPr>
            <a:spLocks noGrp="1"/>
          </p:cNvSpPr>
          <p:nvPr>
            <p:ph type="title"/>
          </p:nvPr>
        </p:nvSpPr>
        <p:spPr/>
        <p:txBody>
          <a:bodyPr/>
          <a:lstStyle/>
          <a:p>
            <a:r>
              <a:rPr lang="en-US" dirty="0"/>
              <a:t>Decide on Computational Means </a:t>
            </a:r>
          </a:p>
        </p:txBody>
      </p:sp>
      <p:sp>
        <p:nvSpPr>
          <p:cNvPr id="3" name="Content Placeholder 2">
            <a:extLst>
              <a:ext uri="{FF2B5EF4-FFF2-40B4-BE49-F238E27FC236}">
                <a16:creationId xmlns:a16="http://schemas.microsoft.com/office/drawing/2014/main" id="{463F252E-D303-FE55-E13D-216B69BC1CBC}"/>
              </a:ext>
            </a:extLst>
          </p:cNvPr>
          <p:cNvSpPr>
            <a:spLocks noGrp="1"/>
          </p:cNvSpPr>
          <p:nvPr>
            <p:ph idx="1"/>
          </p:nvPr>
        </p:nvSpPr>
        <p:spPr/>
        <p:txBody>
          <a:bodyPr/>
          <a:lstStyle/>
          <a:p>
            <a:r>
              <a:rPr lang="en-US" dirty="0"/>
              <a:t>Once you completely understand a problem, you need to ascertain the capabilities of the computational device the algorithm is intended for. </a:t>
            </a:r>
          </a:p>
          <a:p>
            <a:r>
              <a:rPr lang="en-US" dirty="0"/>
              <a:t>The vast majority of algorithms in use today are still destined to be programmed for a computer closely resembling the von Neumann machine—(a computer architecture). The essence of this architecture is captured by the so-called random-access machine (RAM). </a:t>
            </a:r>
          </a:p>
          <a:p>
            <a:r>
              <a:rPr lang="en-US" dirty="0"/>
              <a:t>Its central assumption is that instructions are executed one after another, one operation at a time. Accordingly, </a:t>
            </a:r>
            <a:r>
              <a:rPr lang="en-US" dirty="0">
                <a:solidFill>
                  <a:schemeClr val="tx2">
                    <a:lumMod val="75000"/>
                    <a:lumOff val="25000"/>
                  </a:schemeClr>
                </a:solidFill>
              </a:rPr>
              <a:t>algorithms designed to be executed on such machines are called </a:t>
            </a:r>
            <a:r>
              <a:rPr lang="en-US" b="1" dirty="0">
                <a:solidFill>
                  <a:schemeClr val="tx2">
                    <a:lumMod val="75000"/>
                    <a:lumOff val="25000"/>
                  </a:schemeClr>
                </a:solidFill>
              </a:rPr>
              <a:t>sequential algorithms</a:t>
            </a:r>
            <a:r>
              <a:rPr lang="en-US" dirty="0">
                <a:solidFill>
                  <a:schemeClr val="tx2">
                    <a:lumMod val="75000"/>
                    <a:lumOff val="25000"/>
                  </a:schemeClr>
                </a:solidFill>
              </a:rPr>
              <a:t>. </a:t>
            </a:r>
          </a:p>
          <a:p>
            <a:r>
              <a:rPr lang="en-US" dirty="0"/>
              <a:t>The central assumption of the RAM model does not hold for some newer computers that can execute operations </a:t>
            </a:r>
            <a:r>
              <a:rPr lang="en-US" b="1" dirty="0"/>
              <a:t>concurrently, i.e., in parallel</a:t>
            </a:r>
            <a:r>
              <a:rPr lang="en-US" dirty="0"/>
              <a:t>. </a:t>
            </a:r>
          </a:p>
          <a:p>
            <a:pPr lvl="1"/>
            <a:r>
              <a:rPr lang="en-US" dirty="0"/>
              <a:t>Algorithms that take advantage of this capability are called </a:t>
            </a:r>
            <a:r>
              <a:rPr lang="en-US" b="1" dirty="0">
                <a:solidFill>
                  <a:schemeClr val="tx2">
                    <a:lumMod val="75000"/>
                    <a:lumOff val="25000"/>
                  </a:schemeClr>
                </a:solidFill>
              </a:rPr>
              <a:t>parallel algorithms</a:t>
            </a:r>
            <a:r>
              <a:rPr lang="en-US" dirty="0"/>
              <a:t>. </a:t>
            </a:r>
          </a:p>
          <a:p>
            <a:endParaRPr lang="en-US" dirty="0"/>
          </a:p>
          <a:p>
            <a:endParaRPr lang="en-US" dirty="0"/>
          </a:p>
        </p:txBody>
      </p:sp>
    </p:spTree>
    <p:extLst>
      <p:ext uri="{BB962C8B-B14F-4D97-AF65-F5344CB8AC3E}">
        <p14:creationId xmlns:p14="http://schemas.microsoft.com/office/powerpoint/2010/main" val="2336765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C518DC-2ECD-DF23-3B5B-7E61EBE2F2A5}"/>
              </a:ext>
            </a:extLst>
          </p:cNvPr>
          <p:cNvSpPr>
            <a:spLocks noGrp="1"/>
          </p:cNvSpPr>
          <p:nvPr>
            <p:ph idx="1"/>
          </p:nvPr>
        </p:nvSpPr>
        <p:spPr/>
        <p:txBody>
          <a:bodyPr/>
          <a:lstStyle/>
          <a:p>
            <a:r>
              <a:rPr lang="en-US" dirty="0"/>
              <a:t>Studying the classic techniques for design and analysis of algorithms under the RAM model remains the cornerstone of algorithmics for the foreseeable future.</a:t>
            </a:r>
          </a:p>
        </p:txBody>
      </p:sp>
      <p:sp>
        <p:nvSpPr>
          <p:cNvPr id="4" name="Title 1">
            <a:extLst>
              <a:ext uri="{FF2B5EF4-FFF2-40B4-BE49-F238E27FC236}">
                <a16:creationId xmlns:a16="http://schemas.microsoft.com/office/drawing/2014/main" id="{D637F2E9-61CB-A89E-4F1D-4B84E2FB2864}"/>
              </a:ext>
            </a:extLst>
          </p:cNvPr>
          <p:cNvSpPr>
            <a:spLocks noGrp="1"/>
          </p:cNvSpPr>
          <p:nvPr>
            <p:ph type="title"/>
          </p:nvPr>
        </p:nvSpPr>
        <p:spPr>
          <a:xfrm>
            <a:off x="838200" y="30272"/>
            <a:ext cx="10515600" cy="1325563"/>
          </a:xfrm>
        </p:spPr>
        <p:txBody>
          <a:bodyPr/>
          <a:lstStyle/>
          <a:p>
            <a:r>
              <a:rPr lang="en-US" dirty="0"/>
              <a:t>Decide on Computational Means (cont.) </a:t>
            </a:r>
          </a:p>
        </p:txBody>
      </p:sp>
    </p:spTree>
    <p:extLst>
      <p:ext uri="{BB962C8B-B14F-4D97-AF65-F5344CB8AC3E}">
        <p14:creationId xmlns:p14="http://schemas.microsoft.com/office/powerpoint/2010/main" val="1947702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57DEA3-D9EF-C313-5A18-588CAEE9470F}"/>
              </a:ext>
            </a:extLst>
          </p:cNvPr>
          <p:cNvSpPr>
            <a:spLocks noGrp="1"/>
          </p:cNvSpPr>
          <p:nvPr>
            <p:ph idx="1"/>
          </p:nvPr>
        </p:nvSpPr>
        <p:spPr/>
        <p:txBody>
          <a:bodyPr/>
          <a:lstStyle/>
          <a:p>
            <a:r>
              <a:rPr lang="en-US" sz="1800" dirty="0">
                <a:solidFill>
                  <a:srgbClr val="001630"/>
                </a:solidFill>
                <a:effectLst/>
                <a:latin typeface="HelveticaNeue" panose="02000503000000020004" pitchFamily="2" charset="0"/>
              </a:rPr>
              <a:t>Sequential OR Parallel? </a:t>
            </a:r>
          </a:p>
          <a:p>
            <a:pPr lvl="1"/>
            <a:r>
              <a:rPr lang="en-US" sz="1800" b="1" dirty="0">
                <a:solidFill>
                  <a:srgbClr val="001630"/>
                </a:solidFill>
                <a:effectLst/>
                <a:latin typeface="HelveticaNeue" panose="02000503000000020004" pitchFamily="2" charset="0"/>
              </a:rPr>
              <a:t>Sequential Algorithm</a:t>
            </a:r>
            <a:endParaRPr lang="en-US" sz="1800" b="1" dirty="0">
              <a:solidFill>
                <a:srgbClr val="001630"/>
              </a:solidFill>
              <a:latin typeface="HelveticaNeue" panose="02000503000000020004" pitchFamily="2" charset="0"/>
            </a:endParaRPr>
          </a:p>
          <a:p>
            <a:pPr lvl="2"/>
            <a:r>
              <a:rPr lang="en-US" sz="1800" dirty="0">
                <a:solidFill>
                  <a:srgbClr val="001630"/>
                </a:solidFill>
                <a:effectLst/>
                <a:latin typeface="HelveticaNeue" panose="02000503000000020004" pitchFamily="2" charset="0"/>
              </a:rPr>
              <a:t>Instructions are executed one after another, one operation at time. </a:t>
            </a:r>
            <a:endParaRPr lang="en-US" dirty="0">
              <a:effectLst/>
            </a:endParaRPr>
          </a:p>
          <a:p>
            <a:pPr lvl="1"/>
            <a:r>
              <a:rPr lang="en-US" sz="1800" b="1" dirty="0">
                <a:solidFill>
                  <a:srgbClr val="001630"/>
                </a:solidFill>
                <a:effectLst/>
                <a:latin typeface="HelveticaNeue" panose="02000503000000020004" pitchFamily="2" charset="0"/>
              </a:rPr>
              <a:t>Parallel Parallel</a:t>
            </a:r>
          </a:p>
          <a:p>
            <a:pPr lvl="2"/>
            <a:r>
              <a:rPr lang="en-US" sz="1800" dirty="0">
                <a:solidFill>
                  <a:srgbClr val="001630"/>
                </a:solidFill>
                <a:effectLst/>
                <a:latin typeface="HelveticaNeue" panose="02000503000000020004" pitchFamily="2" charset="0"/>
              </a:rPr>
              <a:t>Operations are executed concurrently. </a:t>
            </a:r>
            <a:endParaRPr lang="en-US" dirty="0">
              <a:effectLst/>
            </a:endParaRPr>
          </a:p>
          <a:p>
            <a:endParaRPr lang="en-US" dirty="0"/>
          </a:p>
        </p:txBody>
      </p:sp>
      <p:sp>
        <p:nvSpPr>
          <p:cNvPr id="8" name="Title 1">
            <a:extLst>
              <a:ext uri="{FF2B5EF4-FFF2-40B4-BE49-F238E27FC236}">
                <a16:creationId xmlns:a16="http://schemas.microsoft.com/office/drawing/2014/main" id="{639972C8-7183-F14F-B222-63E13A72DECE}"/>
              </a:ext>
            </a:extLst>
          </p:cNvPr>
          <p:cNvSpPr>
            <a:spLocks noGrp="1"/>
          </p:cNvSpPr>
          <p:nvPr>
            <p:ph type="title"/>
          </p:nvPr>
        </p:nvSpPr>
        <p:spPr>
          <a:xfrm>
            <a:off x="838200" y="30272"/>
            <a:ext cx="10515600" cy="1325563"/>
          </a:xfrm>
        </p:spPr>
        <p:txBody>
          <a:bodyPr/>
          <a:lstStyle/>
          <a:p>
            <a:r>
              <a:rPr lang="en-US" dirty="0"/>
              <a:t>Decide on Computational Means (cont.) </a:t>
            </a:r>
          </a:p>
        </p:txBody>
      </p:sp>
    </p:spTree>
    <p:extLst>
      <p:ext uri="{BB962C8B-B14F-4D97-AF65-F5344CB8AC3E}">
        <p14:creationId xmlns:p14="http://schemas.microsoft.com/office/powerpoint/2010/main" val="954119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BC92AF-4828-712A-FF60-BCA13AC17AB0}"/>
              </a:ext>
            </a:extLst>
          </p:cNvPr>
          <p:cNvSpPr>
            <a:spLocks noGrp="1"/>
          </p:cNvSpPr>
          <p:nvPr>
            <p:ph idx="1"/>
          </p:nvPr>
        </p:nvSpPr>
        <p:spPr/>
        <p:txBody>
          <a:bodyPr/>
          <a:lstStyle/>
          <a:p>
            <a:r>
              <a:rPr lang="en-US" dirty="0"/>
              <a:t>Should you worry about the speed and amount of memory of a computer at your disposal? </a:t>
            </a:r>
          </a:p>
          <a:p>
            <a:pPr lvl="1"/>
            <a:r>
              <a:rPr lang="en-US" dirty="0"/>
              <a:t>If you are designing an algorithm as a scientific exercise, the answer is a qualified no., most computer scientists prefer to study algorithms in terms independent of specification parameters for a particular computer.</a:t>
            </a:r>
          </a:p>
          <a:p>
            <a:pPr lvl="1"/>
            <a:r>
              <a:rPr lang="en-US" dirty="0"/>
              <a:t>If you are designing an algorithm as a practical tool, the answer may depend on a problem you need to solve. </a:t>
            </a:r>
          </a:p>
          <a:p>
            <a:pPr lvl="2"/>
            <a:r>
              <a:rPr lang="en-US" dirty="0"/>
              <a:t>Even the “slow” computers of today are almost unimaginably fast. Consequently, in many situations you need not worry about a computer being too slow for the task. </a:t>
            </a:r>
          </a:p>
          <a:p>
            <a:pPr lvl="2"/>
            <a:r>
              <a:rPr lang="en-US" dirty="0"/>
              <a:t>There are important problems, however, that are very complex by their nature, or have to process huge volumes of data, or deal with applications where the time is critical. In such situations, it is imperative to be aware of the speed and memory available on a particular computer system. </a:t>
            </a:r>
          </a:p>
          <a:p>
            <a:endParaRPr lang="en-US" dirty="0"/>
          </a:p>
        </p:txBody>
      </p:sp>
      <p:sp>
        <p:nvSpPr>
          <p:cNvPr id="4" name="Title 1">
            <a:extLst>
              <a:ext uri="{FF2B5EF4-FFF2-40B4-BE49-F238E27FC236}">
                <a16:creationId xmlns:a16="http://schemas.microsoft.com/office/drawing/2014/main" id="{10AE25C6-059B-7A8D-C0BA-475C6FC0A296}"/>
              </a:ext>
            </a:extLst>
          </p:cNvPr>
          <p:cNvSpPr>
            <a:spLocks noGrp="1"/>
          </p:cNvSpPr>
          <p:nvPr>
            <p:ph type="title"/>
          </p:nvPr>
        </p:nvSpPr>
        <p:spPr>
          <a:xfrm>
            <a:off x="838200" y="17392"/>
            <a:ext cx="10515600" cy="1325563"/>
          </a:xfrm>
        </p:spPr>
        <p:txBody>
          <a:bodyPr/>
          <a:lstStyle/>
          <a:p>
            <a:r>
              <a:rPr lang="en-US" dirty="0"/>
              <a:t>Decide on Computational Means (cont.) </a:t>
            </a:r>
          </a:p>
        </p:txBody>
      </p:sp>
    </p:spTree>
    <p:extLst>
      <p:ext uri="{BB962C8B-B14F-4D97-AF65-F5344CB8AC3E}">
        <p14:creationId xmlns:p14="http://schemas.microsoft.com/office/powerpoint/2010/main" val="392455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1495D-D62C-4DEA-0F98-1E9EFE8578B8}"/>
              </a:ext>
            </a:extLst>
          </p:cNvPr>
          <p:cNvSpPr>
            <a:spLocks noGrp="1"/>
          </p:cNvSpPr>
          <p:nvPr>
            <p:ph type="title"/>
          </p:nvPr>
        </p:nvSpPr>
        <p:spPr/>
        <p:txBody>
          <a:bodyPr/>
          <a:lstStyle/>
          <a:p>
            <a:r>
              <a:rPr lang="en-US" dirty="0"/>
              <a:t>Choosing between Exact and Approximate Problem Solving </a:t>
            </a:r>
          </a:p>
        </p:txBody>
      </p:sp>
      <p:sp>
        <p:nvSpPr>
          <p:cNvPr id="3" name="Content Placeholder 2">
            <a:extLst>
              <a:ext uri="{FF2B5EF4-FFF2-40B4-BE49-F238E27FC236}">
                <a16:creationId xmlns:a16="http://schemas.microsoft.com/office/drawing/2014/main" id="{9E55412C-26D6-9D93-B5E7-DF366EFED0CC}"/>
              </a:ext>
            </a:extLst>
          </p:cNvPr>
          <p:cNvSpPr>
            <a:spLocks noGrp="1"/>
          </p:cNvSpPr>
          <p:nvPr>
            <p:ph idx="1"/>
          </p:nvPr>
        </p:nvSpPr>
        <p:spPr/>
        <p:txBody>
          <a:bodyPr>
            <a:normAutofit/>
          </a:bodyPr>
          <a:lstStyle/>
          <a:p>
            <a:r>
              <a:rPr lang="en-US" dirty="0"/>
              <a:t>The next principal decision is to choose between solving the problem exactly (exact algorithm) or solving it approximately (approximation algorithm). </a:t>
            </a:r>
          </a:p>
          <a:p>
            <a:pPr lvl="1"/>
            <a:endParaRPr lang="en-US" dirty="0"/>
          </a:p>
          <a:p>
            <a:r>
              <a:rPr lang="en-US" dirty="0"/>
              <a:t>Why would one opt for an approximation algorithm? </a:t>
            </a:r>
          </a:p>
          <a:p>
            <a:pPr lvl="1"/>
            <a:r>
              <a:rPr lang="en-US" dirty="0"/>
              <a:t>First, there are important problems that simply cannot be solved exactly for most of their instances; </a:t>
            </a:r>
          </a:p>
          <a:p>
            <a:pPr lvl="2"/>
            <a:r>
              <a:rPr lang="en-US" dirty="0"/>
              <a:t>Example: extracting square roots</a:t>
            </a:r>
          </a:p>
          <a:p>
            <a:pPr lvl="1"/>
            <a:r>
              <a:rPr lang="en-US" dirty="0"/>
              <a:t>Second, available algorithms for solving a problem exactly can be unacceptably slow because of the problem’s intrinsic complexity. </a:t>
            </a:r>
          </a:p>
          <a:p>
            <a:pPr lvl="2"/>
            <a:r>
              <a:rPr lang="en-US" dirty="0"/>
              <a:t>This happens, in particular, for many problems involving a very large number of choices; </a:t>
            </a:r>
          </a:p>
          <a:p>
            <a:pPr lvl="1"/>
            <a:r>
              <a:rPr lang="en-US" dirty="0"/>
              <a:t>Third, an approximation algorithm can be a part of a more sophisticated algorithm that solves a problem exactly. </a:t>
            </a:r>
          </a:p>
          <a:p>
            <a:endParaRPr lang="en-US" dirty="0"/>
          </a:p>
        </p:txBody>
      </p:sp>
    </p:spTree>
    <p:extLst>
      <p:ext uri="{BB962C8B-B14F-4D97-AF65-F5344CB8AC3E}">
        <p14:creationId xmlns:p14="http://schemas.microsoft.com/office/powerpoint/2010/main" val="277332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3DCAE-EC8D-9EC0-9966-0022B7170159}"/>
              </a:ext>
            </a:extLst>
          </p:cNvPr>
          <p:cNvSpPr>
            <a:spLocks noGrp="1"/>
          </p:cNvSpPr>
          <p:nvPr>
            <p:ph type="title"/>
          </p:nvPr>
        </p:nvSpPr>
        <p:spPr/>
        <p:txBody>
          <a:bodyPr/>
          <a:lstStyle/>
          <a:p>
            <a:r>
              <a:rPr lang="en-US" dirty="0"/>
              <a:t>Decide on Algorithm Design Technique </a:t>
            </a:r>
          </a:p>
        </p:txBody>
      </p:sp>
      <p:sp>
        <p:nvSpPr>
          <p:cNvPr id="3" name="Content Placeholder 2">
            <a:extLst>
              <a:ext uri="{FF2B5EF4-FFF2-40B4-BE49-F238E27FC236}">
                <a16:creationId xmlns:a16="http://schemas.microsoft.com/office/drawing/2014/main" id="{5B620BBB-80B7-9E8A-E3A0-439AD3F3AB47}"/>
              </a:ext>
            </a:extLst>
          </p:cNvPr>
          <p:cNvSpPr>
            <a:spLocks noGrp="1"/>
          </p:cNvSpPr>
          <p:nvPr>
            <p:ph idx="1"/>
          </p:nvPr>
        </p:nvSpPr>
        <p:spPr/>
        <p:txBody>
          <a:bodyPr>
            <a:normAutofit/>
          </a:bodyPr>
          <a:lstStyle/>
          <a:p>
            <a:r>
              <a:rPr lang="en-US" dirty="0"/>
              <a:t>An </a:t>
            </a:r>
            <a:r>
              <a:rPr lang="en-US" b="1" dirty="0"/>
              <a:t>algorithm design technique </a:t>
            </a:r>
            <a:r>
              <a:rPr lang="en-US" dirty="0"/>
              <a:t>(or “strategy” or “paradigm”) is a general approach to solving problems algorithmically that is applicable to a variety of problems from different areas of computing. </a:t>
            </a:r>
          </a:p>
          <a:p>
            <a:r>
              <a:rPr lang="en-US" b="1" dirty="0"/>
              <a:t>General algorithm design technique: </a:t>
            </a:r>
          </a:p>
          <a:p>
            <a:pPr lvl="1"/>
            <a:r>
              <a:rPr lang="en-US" dirty="0"/>
              <a:t>Brute Force and Exhaustive Search </a:t>
            </a:r>
          </a:p>
          <a:p>
            <a:pPr lvl="1"/>
            <a:r>
              <a:rPr lang="en-US" dirty="0"/>
              <a:t>Decrease-and-Conquer </a:t>
            </a:r>
          </a:p>
          <a:p>
            <a:pPr lvl="1"/>
            <a:r>
              <a:rPr lang="en-US" dirty="0"/>
              <a:t>Divide-and-Conquer </a:t>
            </a:r>
          </a:p>
          <a:p>
            <a:pPr lvl="1"/>
            <a:r>
              <a:rPr lang="en-US" dirty="0"/>
              <a:t>Transform-and-Conquer </a:t>
            </a:r>
          </a:p>
          <a:p>
            <a:pPr lvl="1"/>
            <a:r>
              <a:rPr lang="en-US" dirty="0"/>
              <a:t>Space and Time Trade-Offs </a:t>
            </a:r>
          </a:p>
          <a:p>
            <a:pPr lvl="1"/>
            <a:r>
              <a:rPr lang="en-US" dirty="0"/>
              <a:t>Dynamic Programming </a:t>
            </a:r>
          </a:p>
          <a:p>
            <a:pPr lvl="1"/>
            <a:r>
              <a:rPr lang="en-US" dirty="0"/>
              <a:t>Greedy Technique </a:t>
            </a:r>
          </a:p>
          <a:p>
            <a:pPr lvl="1"/>
            <a:r>
              <a:rPr lang="en-US" dirty="0"/>
              <a:t>Iterative Improvement </a:t>
            </a:r>
          </a:p>
          <a:p>
            <a:endParaRPr lang="en-US" dirty="0"/>
          </a:p>
        </p:txBody>
      </p:sp>
    </p:spTree>
    <p:extLst>
      <p:ext uri="{BB962C8B-B14F-4D97-AF65-F5344CB8AC3E}">
        <p14:creationId xmlns:p14="http://schemas.microsoft.com/office/powerpoint/2010/main" val="256491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 calcmode="lin" valueType="num">
                                      <p:cBhvr additive="base">
                                        <p:cTn id="5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BA580-2D2D-35F6-008F-41E385FBE2CA}"/>
              </a:ext>
            </a:extLst>
          </p:cNvPr>
          <p:cNvSpPr>
            <a:spLocks noGrp="1"/>
          </p:cNvSpPr>
          <p:nvPr>
            <p:ph type="title"/>
          </p:nvPr>
        </p:nvSpPr>
        <p:spPr/>
        <p:txBody>
          <a:bodyPr/>
          <a:lstStyle/>
          <a:p>
            <a:r>
              <a:rPr lang="en-US" dirty="0"/>
              <a:t>Designing an Algorithm and Data Structures </a:t>
            </a:r>
          </a:p>
        </p:txBody>
      </p:sp>
      <p:sp>
        <p:nvSpPr>
          <p:cNvPr id="3" name="Content Placeholder 2">
            <a:extLst>
              <a:ext uri="{FF2B5EF4-FFF2-40B4-BE49-F238E27FC236}">
                <a16:creationId xmlns:a16="http://schemas.microsoft.com/office/drawing/2014/main" id="{C2B10E4D-4594-C15F-8AD4-4B0F62D2E9B5}"/>
              </a:ext>
            </a:extLst>
          </p:cNvPr>
          <p:cNvSpPr>
            <a:spLocks noGrp="1"/>
          </p:cNvSpPr>
          <p:nvPr>
            <p:ph idx="1"/>
          </p:nvPr>
        </p:nvSpPr>
        <p:spPr/>
        <p:txBody>
          <a:bodyPr/>
          <a:lstStyle/>
          <a:p>
            <a:r>
              <a:rPr lang="en-US" dirty="0"/>
              <a:t>Designing an algorithm for a particular problem may still be a challenging task:</a:t>
            </a:r>
          </a:p>
          <a:p>
            <a:pPr lvl="1"/>
            <a:r>
              <a:rPr lang="en-US" dirty="0"/>
              <a:t>Some design techniques can be simply inapplicable to the problem in question. </a:t>
            </a:r>
          </a:p>
          <a:p>
            <a:pPr lvl="1"/>
            <a:r>
              <a:rPr lang="en-US" dirty="0"/>
              <a:t>Sometimes, several techniques need to be combined, </a:t>
            </a:r>
          </a:p>
          <a:p>
            <a:pPr lvl="1"/>
            <a:r>
              <a:rPr lang="en-US" dirty="0"/>
              <a:t>There are algorithms that are hard to pinpoint as applications of the known design techniques. </a:t>
            </a:r>
          </a:p>
          <a:p>
            <a:r>
              <a:rPr lang="en-US" dirty="0"/>
              <a:t>Even when a particular design technique is applicable, getting an algorithm often requires a nontrivial ingenuity on the part of the algorithm designer. </a:t>
            </a:r>
          </a:p>
          <a:p>
            <a:r>
              <a:rPr lang="en-US" dirty="0"/>
              <a:t>With practice, both tasks—choosing among the general techniques and applying them—get easier, but they are rarely easy. </a:t>
            </a:r>
          </a:p>
          <a:p>
            <a:endParaRPr lang="en-US" dirty="0"/>
          </a:p>
        </p:txBody>
      </p:sp>
    </p:spTree>
    <p:extLst>
      <p:ext uri="{BB962C8B-B14F-4D97-AF65-F5344CB8AC3E}">
        <p14:creationId xmlns:p14="http://schemas.microsoft.com/office/powerpoint/2010/main" val="9330876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C6D943-08E7-1F12-DC66-1EC35CA8A43A}"/>
              </a:ext>
            </a:extLst>
          </p:cNvPr>
          <p:cNvSpPr>
            <a:spLocks noGrp="1"/>
          </p:cNvSpPr>
          <p:nvPr>
            <p:ph idx="1"/>
          </p:nvPr>
        </p:nvSpPr>
        <p:spPr/>
        <p:txBody>
          <a:bodyPr/>
          <a:lstStyle/>
          <a:p>
            <a:r>
              <a:rPr lang="en-US" dirty="0"/>
              <a:t>One should pay close attention to choosing data structures appropriate for the operations performed by the algorithm. </a:t>
            </a:r>
          </a:p>
          <a:p>
            <a:pPr lvl="1"/>
            <a:r>
              <a:rPr lang="en-US" b="1" dirty="0"/>
              <a:t>For example</a:t>
            </a:r>
            <a:r>
              <a:rPr lang="en-US" dirty="0"/>
              <a:t>, performing a binary search on a sorted list would be inefficient if we used a </a:t>
            </a:r>
            <a:r>
              <a:rPr lang="en-US" b="1" dirty="0"/>
              <a:t>linked list</a:t>
            </a:r>
            <a:r>
              <a:rPr lang="en-US" dirty="0"/>
              <a:t> instead of an </a:t>
            </a:r>
            <a:r>
              <a:rPr lang="en-US" b="1" dirty="0"/>
              <a:t>array</a:t>
            </a:r>
            <a:r>
              <a:rPr lang="en-US" dirty="0"/>
              <a:t>, because accessing the middle element in a linked list takes linear time, whereas in an array it takes constant time.</a:t>
            </a:r>
          </a:p>
          <a:p>
            <a:pPr lvl="1"/>
            <a:r>
              <a:rPr lang="en-US" dirty="0"/>
              <a:t>This would increase the time complexity of each search step from O(1) to O(n), making the entire algorithm </a:t>
            </a:r>
            <a:r>
              <a:rPr lang="en-US" b="1" dirty="0"/>
              <a:t>O(n log n)</a:t>
            </a:r>
            <a:r>
              <a:rPr lang="en-US" dirty="0"/>
              <a:t> instead of the usual </a:t>
            </a:r>
            <a:r>
              <a:rPr lang="en-US" b="1" dirty="0"/>
              <a:t>O(log n)</a:t>
            </a:r>
            <a:r>
              <a:rPr lang="en-US" dirty="0"/>
              <a:t>.</a:t>
            </a:r>
          </a:p>
        </p:txBody>
      </p:sp>
      <p:sp>
        <p:nvSpPr>
          <p:cNvPr id="4" name="Title 1">
            <a:extLst>
              <a:ext uri="{FF2B5EF4-FFF2-40B4-BE49-F238E27FC236}">
                <a16:creationId xmlns:a16="http://schemas.microsoft.com/office/drawing/2014/main" id="{2BC24EE4-1524-C274-EEAA-6B813B870EAA}"/>
              </a:ext>
            </a:extLst>
          </p:cNvPr>
          <p:cNvSpPr>
            <a:spLocks noGrp="1"/>
          </p:cNvSpPr>
          <p:nvPr>
            <p:ph type="title"/>
          </p:nvPr>
        </p:nvSpPr>
        <p:spPr>
          <a:xfrm>
            <a:off x="838200" y="30272"/>
            <a:ext cx="10515600" cy="1325563"/>
          </a:xfrm>
        </p:spPr>
        <p:txBody>
          <a:bodyPr/>
          <a:lstStyle/>
          <a:p>
            <a:r>
              <a:rPr lang="en-US" dirty="0"/>
              <a:t>Designing an Algorithm and Data Structures (Cont.) </a:t>
            </a:r>
          </a:p>
        </p:txBody>
      </p:sp>
    </p:spTree>
    <p:extLst>
      <p:ext uri="{BB962C8B-B14F-4D97-AF65-F5344CB8AC3E}">
        <p14:creationId xmlns:p14="http://schemas.microsoft.com/office/powerpoint/2010/main" val="29346066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CAC69-00A4-722F-0F9B-361CC586F562}"/>
              </a:ext>
            </a:extLst>
          </p:cNvPr>
          <p:cNvSpPr>
            <a:spLocks noGrp="1"/>
          </p:cNvSpPr>
          <p:nvPr>
            <p:ph type="title"/>
          </p:nvPr>
        </p:nvSpPr>
        <p:spPr/>
        <p:txBody>
          <a:bodyPr/>
          <a:lstStyle/>
          <a:p>
            <a:r>
              <a:rPr lang="en-US" dirty="0"/>
              <a:t>Methods of Specifying an Algorithm </a:t>
            </a:r>
          </a:p>
        </p:txBody>
      </p:sp>
      <p:sp>
        <p:nvSpPr>
          <p:cNvPr id="3" name="Content Placeholder 2">
            <a:extLst>
              <a:ext uri="{FF2B5EF4-FFF2-40B4-BE49-F238E27FC236}">
                <a16:creationId xmlns:a16="http://schemas.microsoft.com/office/drawing/2014/main" id="{FB01095F-ECF0-ED6D-DA62-A0DE88C7A3B3}"/>
              </a:ext>
            </a:extLst>
          </p:cNvPr>
          <p:cNvSpPr>
            <a:spLocks noGrp="1"/>
          </p:cNvSpPr>
          <p:nvPr>
            <p:ph idx="1"/>
          </p:nvPr>
        </p:nvSpPr>
        <p:spPr/>
        <p:txBody>
          <a:bodyPr/>
          <a:lstStyle/>
          <a:p>
            <a:r>
              <a:rPr lang="en-US" dirty="0"/>
              <a:t>Once you have designed an algorithm, you need to specify it in some fashion. </a:t>
            </a:r>
          </a:p>
          <a:p>
            <a:pPr lvl="1"/>
            <a:r>
              <a:rPr lang="en-US" dirty="0"/>
              <a:t>Using a </a:t>
            </a:r>
            <a:r>
              <a:rPr lang="en-US" b="1" dirty="0"/>
              <a:t>natural language </a:t>
            </a:r>
            <a:r>
              <a:rPr lang="en-US" dirty="0"/>
              <a:t>has an obvious appeal; however, the inherent ambiguity of any natural language makes a succinct and clear description of algorithms surprisingly difficult. </a:t>
            </a:r>
          </a:p>
          <a:p>
            <a:pPr lvl="2"/>
            <a:r>
              <a:rPr lang="en-US" dirty="0"/>
              <a:t>Nevertheless, being able to do this is an important skill that you should strive to develop in the process of learning algorithms. </a:t>
            </a:r>
          </a:p>
          <a:p>
            <a:pPr lvl="1"/>
            <a:r>
              <a:rPr lang="en-US" b="1" dirty="0"/>
              <a:t>Pseudocode</a:t>
            </a:r>
            <a:r>
              <a:rPr lang="en-US" dirty="0"/>
              <a:t> is a mixture of a natural language and programming language- like constructs. </a:t>
            </a:r>
          </a:p>
          <a:p>
            <a:pPr lvl="2"/>
            <a:r>
              <a:rPr lang="en-US" dirty="0"/>
              <a:t>Pseudocode is usually more precise than natural language, and its usage often yields more succinct algorithm descriptions. Surprisingly, computer scientists have never agreed on a single form of pseudocode </a:t>
            </a:r>
          </a:p>
          <a:p>
            <a:pPr lvl="1"/>
            <a:endParaRPr lang="en-US" dirty="0"/>
          </a:p>
          <a:p>
            <a:endParaRPr lang="en-US" dirty="0"/>
          </a:p>
        </p:txBody>
      </p:sp>
    </p:spTree>
    <p:extLst>
      <p:ext uri="{BB962C8B-B14F-4D97-AF65-F5344CB8AC3E}">
        <p14:creationId xmlns:p14="http://schemas.microsoft.com/office/powerpoint/2010/main" val="22623757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3D788B-AB6F-EDC0-5E8A-6B87D887F950}"/>
              </a:ext>
            </a:extLst>
          </p:cNvPr>
          <p:cNvSpPr>
            <a:spLocks noGrp="1"/>
          </p:cNvSpPr>
          <p:nvPr>
            <p:ph idx="1"/>
          </p:nvPr>
        </p:nvSpPr>
        <p:spPr/>
        <p:txBody>
          <a:bodyPr/>
          <a:lstStyle/>
          <a:p>
            <a:r>
              <a:rPr lang="en-US" dirty="0"/>
              <a:t>In the earlier days of computing, the dominant vehicle for specifying algorithms was a </a:t>
            </a:r>
            <a:r>
              <a:rPr lang="en-US" b="1" dirty="0"/>
              <a:t>flowchart</a:t>
            </a:r>
            <a:r>
              <a:rPr lang="en-US" dirty="0"/>
              <a:t>, a method of expressing an algorithm by a collection of connected geometric shapes containing descriptions of the algorithm’s steps. </a:t>
            </a:r>
          </a:p>
          <a:p>
            <a:r>
              <a:rPr lang="en-US" dirty="0"/>
              <a:t>This representation technique has proved to be inconvenient for all but very simple algorithms; nowadays, it can be found only in old algorithm books. </a:t>
            </a:r>
          </a:p>
          <a:p>
            <a:endParaRPr lang="en-US" dirty="0"/>
          </a:p>
        </p:txBody>
      </p:sp>
      <p:sp>
        <p:nvSpPr>
          <p:cNvPr id="4" name="Title 1">
            <a:extLst>
              <a:ext uri="{FF2B5EF4-FFF2-40B4-BE49-F238E27FC236}">
                <a16:creationId xmlns:a16="http://schemas.microsoft.com/office/drawing/2014/main" id="{52573B44-4A1E-6A97-BD13-CA7736A49739}"/>
              </a:ext>
            </a:extLst>
          </p:cNvPr>
          <p:cNvSpPr>
            <a:spLocks noGrp="1"/>
          </p:cNvSpPr>
          <p:nvPr>
            <p:ph type="title"/>
          </p:nvPr>
        </p:nvSpPr>
        <p:spPr>
          <a:xfrm>
            <a:off x="838200" y="18255"/>
            <a:ext cx="10515600" cy="1325563"/>
          </a:xfrm>
        </p:spPr>
        <p:txBody>
          <a:bodyPr/>
          <a:lstStyle/>
          <a:p>
            <a:r>
              <a:rPr lang="en-US" dirty="0"/>
              <a:t>Methods of Specifying an Algorithm (cont.) </a:t>
            </a:r>
          </a:p>
        </p:txBody>
      </p:sp>
    </p:spTree>
    <p:extLst>
      <p:ext uri="{BB962C8B-B14F-4D97-AF65-F5344CB8AC3E}">
        <p14:creationId xmlns:p14="http://schemas.microsoft.com/office/powerpoint/2010/main" val="3352824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F244F-03FC-4448-EAC7-6E3C47BBC46C}"/>
              </a:ext>
            </a:extLst>
          </p:cNvPr>
          <p:cNvSpPr>
            <a:spLocks noGrp="1"/>
          </p:cNvSpPr>
          <p:nvPr>
            <p:ph type="title"/>
          </p:nvPr>
        </p:nvSpPr>
        <p:spPr/>
        <p:txBody>
          <a:bodyPr/>
          <a:lstStyle/>
          <a:p>
            <a:r>
              <a:rPr lang="en-US" dirty="0"/>
              <a:t>Proving an Algorithm’s Correctness </a:t>
            </a:r>
          </a:p>
        </p:txBody>
      </p:sp>
      <p:sp>
        <p:nvSpPr>
          <p:cNvPr id="3" name="Content Placeholder 2">
            <a:extLst>
              <a:ext uri="{FF2B5EF4-FFF2-40B4-BE49-F238E27FC236}">
                <a16:creationId xmlns:a16="http://schemas.microsoft.com/office/drawing/2014/main" id="{9B6006B7-BC61-BB95-BFE4-44FF3AC6F81B}"/>
              </a:ext>
            </a:extLst>
          </p:cNvPr>
          <p:cNvSpPr>
            <a:spLocks noGrp="1"/>
          </p:cNvSpPr>
          <p:nvPr>
            <p:ph idx="1"/>
          </p:nvPr>
        </p:nvSpPr>
        <p:spPr/>
        <p:txBody>
          <a:bodyPr/>
          <a:lstStyle/>
          <a:p>
            <a:r>
              <a:rPr lang="en-US" dirty="0"/>
              <a:t>Once an algorithm has been specified, you have to prove its correctness. </a:t>
            </a:r>
          </a:p>
          <a:p>
            <a:r>
              <a:rPr lang="en-US" b="1" dirty="0"/>
              <a:t>Prove Correctness</a:t>
            </a:r>
            <a:r>
              <a:rPr lang="en-US" dirty="0"/>
              <a:t>: Prove that the algorithm yields a required result for every legitimate input in a finite amount of time. </a:t>
            </a:r>
          </a:p>
          <a:p>
            <a:pPr lvl="1"/>
            <a:r>
              <a:rPr lang="en-US" dirty="0"/>
              <a:t>For example, the correctness of Euclid’s algorithm for computing the greatest common divisor stems from the correctness of the equality </a:t>
            </a:r>
            <a:r>
              <a:rPr lang="en-US" dirty="0" err="1"/>
              <a:t>gcd</a:t>
            </a:r>
            <a:r>
              <a:rPr lang="en-US" dirty="0"/>
              <a:t>(m, n) = </a:t>
            </a:r>
            <a:r>
              <a:rPr lang="en-US" dirty="0" err="1"/>
              <a:t>gcd</a:t>
            </a:r>
            <a:r>
              <a:rPr lang="en-US" dirty="0"/>
              <a:t>(n, m mod n), the simple observation that the second integer gets smaller on every iteration of the algorithm, and the fact that the algorithm stops when the second integer becomes 0. </a:t>
            </a:r>
          </a:p>
          <a:p>
            <a:pPr marL="0" indent="0">
              <a:buNone/>
            </a:pPr>
            <a:endParaRPr lang="en-US" dirty="0"/>
          </a:p>
        </p:txBody>
      </p:sp>
    </p:spTree>
    <p:extLst>
      <p:ext uri="{BB962C8B-B14F-4D97-AF65-F5344CB8AC3E}">
        <p14:creationId xmlns:p14="http://schemas.microsoft.com/office/powerpoint/2010/main" val="39330049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DC051-1EC2-15BA-878A-4647C5600AC1}"/>
              </a:ext>
            </a:extLst>
          </p:cNvPr>
          <p:cNvSpPr>
            <a:spLocks noGrp="1"/>
          </p:cNvSpPr>
          <p:nvPr>
            <p:ph type="title"/>
          </p:nvPr>
        </p:nvSpPr>
        <p:spPr/>
        <p:txBody>
          <a:bodyPr/>
          <a:lstStyle/>
          <a:p>
            <a:r>
              <a:rPr lang="en-US" dirty="0"/>
              <a:t>Analyzing the Algorithm </a:t>
            </a:r>
          </a:p>
        </p:txBody>
      </p:sp>
      <p:sp>
        <p:nvSpPr>
          <p:cNvPr id="3" name="Content Placeholder 2">
            <a:extLst>
              <a:ext uri="{FF2B5EF4-FFF2-40B4-BE49-F238E27FC236}">
                <a16:creationId xmlns:a16="http://schemas.microsoft.com/office/drawing/2014/main" id="{5D23EE5E-35B8-DDE3-A8CE-C20C89F4069B}"/>
              </a:ext>
            </a:extLst>
          </p:cNvPr>
          <p:cNvSpPr>
            <a:spLocks noGrp="1"/>
          </p:cNvSpPr>
          <p:nvPr>
            <p:ph idx="1"/>
          </p:nvPr>
        </p:nvSpPr>
        <p:spPr/>
        <p:txBody>
          <a:bodyPr/>
          <a:lstStyle/>
          <a:p>
            <a:r>
              <a:rPr lang="en-US" dirty="0"/>
              <a:t>We usually want our algorithms to possess several qualities:</a:t>
            </a:r>
          </a:p>
          <a:p>
            <a:r>
              <a:rPr lang="en-US" dirty="0"/>
              <a:t> After correctness, by far the most important is </a:t>
            </a:r>
            <a:r>
              <a:rPr lang="en-US" b="1" dirty="0"/>
              <a:t>efficiency</a:t>
            </a:r>
            <a:r>
              <a:rPr lang="en-US" dirty="0"/>
              <a:t>. </a:t>
            </a:r>
          </a:p>
          <a:p>
            <a:pPr lvl="1"/>
            <a:r>
              <a:rPr lang="en-US" b="1" dirty="0"/>
              <a:t>Time efficiency</a:t>
            </a:r>
            <a:r>
              <a:rPr lang="en-US" dirty="0"/>
              <a:t>, indicating how fast the algorithm runs</a:t>
            </a:r>
          </a:p>
          <a:p>
            <a:pPr lvl="1"/>
            <a:r>
              <a:rPr lang="en-US" b="1" dirty="0"/>
              <a:t>Space efficiency</a:t>
            </a:r>
            <a:r>
              <a:rPr lang="en-US" dirty="0"/>
              <a:t>, indicating how much extra memory it uses. </a:t>
            </a:r>
          </a:p>
          <a:p>
            <a:r>
              <a:rPr lang="en-US" dirty="0"/>
              <a:t>Another desirable characteristic of an algorithm is </a:t>
            </a:r>
            <a:r>
              <a:rPr lang="en-US" b="1" dirty="0"/>
              <a:t>simplicity</a:t>
            </a:r>
            <a:r>
              <a:rPr lang="en-US" dirty="0"/>
              <a:t>. </a:t>
            </a:r>
          </a:p>
          <a:p>
            <a:pPr lvl="1"/>
            <a:r>
              <a:rPr lang="en-US" dirty="0"/>
              <a:t>Simpler algorithms are easier to understand and easier to program, consequently, the resulting programs usually contain fewer bugs. </a:t>
            </a:r>
          </a:p>
          <a:p>
            <a:r>
              <a:rPr lang="en-US" dirty="0"/>
              <a:t>Yet another desirable characteristic of an algorithm is </a:t>
            </a:r>
            <a:r>
              <a:rPr lang="en-US" b="1" dirty="0"/>
              <a:t>generality</a:t>
            </a:r>
            <a:r>
              <a:rPr lang="en-US" dirty="0"/>
              <a:t>. </a:t>
            </a:r>
          </a:p>
          <a:p>
            <a:pPr lvl="1"/>
            <a:r>
              <a:rPr lang="en-US" dirty="0"/>
              <a:t>There are, in fact, two issues here: </a:t>
            </a:r>
            <a:r>
              <a:rPr lang="en-US" b="1" dirty="0"/>
              <a:t>generality of the problem the algorithm solves and the set of inputs it accepts. </a:t>
            </a:r>
          </a:p>
          <a:p>
            <a:endParaRPr lang="en-US" dirty="0"/>
          </a:p>
        </p:txBody>
      </p:sp>
    </p:spTree>
    <p:extLst>
      <p:ext uri="{BB962C8B-B14F-4D97-AF65-F5344CB8AC3E}">
        <p14:creationId xmlns:p14="http://schemas.microsoft.com/office/powerpoint/2010/main" val="16101587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50F49A-875B-3106-A27D-AF34594B3736}"/>
              </a:ext>
            </a:extLst>
          </p:cNvPr>
          <p:cNvSpPr>
            <a:spLocks noGrp="1"/>
          </p:cNvSpPr>
          <p:nvPr>
            <p:ph idx="1"/>
          </p:nvPr>
        </p:nvSpPr>
        <p:spPr/>
        <p:txBody>
          <a:bodyPr/>
          <a:lstStyle/>
          <a:p>
            <a:r>
              <a:rPr lang="en-US" dirty="0"/>
              <a:t>If you are not satisfied with the algorithm’s efficiency, simplicity, or generality, you must return to the drawing board and redesign the algorithm. </a:t>
            </a:r>
          </a:p>
          <a:p>
            <a:endParaRPr lang="en-US" dirty="0"/>
          </a:p>
        </p:txBody>
      </p:sp>
      <p:sp>
        <p:nvSpPr>
          <p:cNvPr id="4" name="Title 1">
            <a:extLst>
              <a:ext uri="{FF2B5EF4-FFF2-40B4-BE49-F238E27FC236}">
                <a16:creationId xmlns:a16="http://schemas.microsoft.com/office/drawing/2014/main" id="{0977518E-7BE2-43C8-7F30-D6FE05F00322}"/>
              </a:ext>
            </a:extLst>
          </p:cNvPr>
          <p:cNvSpPr>
            <a:spLocks noGrp="1"/>
          </p:cNvSpPr>
          <p:nvPr>
            <p:ph type="title"/>
          </p:nvPr>
        </p:nvSpPr>
        <p:spPr>
          <a:xfrm>
            <a:off x="838200" y="17393"/>
            <a:ext cx="10515600" cy="1325563"/>
          </a:xfrm>
        </p:spPr>
        <p:txBody>
          <a:bodyPr/>
          <a:lstStyle/>
          <a:p>
            <a:r>
              <a:rPr lang="en-US" dirty="0"/>
              <a:t>Analyzing the Algorithm (cont.) </a:t>
            </a:r>
          </a:p>
        </p:txBody>
      </p:sp>
    </p:spTree>
    <p:extLst>
      <p:ext uri="{BB962C8B-B14F-4D97-AF65-F5344CB8AC3E}">
        <p14:creationId xmlns:p14="http://schemas.microsoft.com/office/powerpoint/2010/main" val="34132472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44EA4-4B62-7B5C-83C6-9E3B3A497154}"/>
              </a:ext>
            </a:extLst>
          </p:cNvPr>
          <p:cNvSpPr>
            <a:spLocks noGrp="1"/>
          </p:cNvSpPr>
          <p:nvPr>
            <p:ph type="title"/>
          </p:nvPr>
        </p:nvSpPr>
        <p:spPr/>
        <p:txBody>
          <a:bodyPr>
            <a:normAutofit/>
          </a:bodyPr>
          <a:lstStyle/>
          <a:p>
            <a:r>
              <a:rPr lang="en-US" dirty="0"/>
              <a:t>Coding an Algorithm </a:t>
            </a:r>
          </a:p>
        </p:txBody>
      </p:sp>
      <p:sp>
        <p:nvSpPr>
          <p:cNvPr id="3" name="Content Placeholder 2">
            <a:extLst>
              <a:ext uri="{FF2B5EF4-FFF2-40B4-BE49-F238E27FC236}">
                <a16:creationId xmlns:a16="http://schemas.microsoft.com/office/drawing/2014/main" id="{EAFB11CE-EA7B-1AD7-B920-D81D108BF750}"/>
              </a:ext>
            </a:extLst>
          </p:cNvPr>
          <p:cNvSpPr>
            <a:spLocks noGrp="1"/>
          </p:cNvSpPr>
          <p:nvPr>
            <p:ph idx="1"/>
          </p:nvPr>
        </p:nvSpPr>
        <p:spPr/>
        <p:txBody>
          <a:bodyPr/>
          <a:lstStyle/>
          <a:p>
            <a:r>
              <a:rPr lang="en-US" dirty="0"/>
              <a:t>Most algorithms are destined to be ultimately implemented as computer programs. </a:t>
            </a:r>
          </a:p>
          <a:p>
            <a:r>
              <a:rPr lang="en-US" dirty="0"/>
              <a:t>Programming an algorithm presents both a </a:t>
            </a:r>
            <a:r>
              <a:rPr lang="en-US" b="1" dirty="0"/>
              <a:t>peril</a:t>
            </a:r>
            <a:r>
              <a:rPr lang="en-US" dirty="0"/>
              <a:t> and an </a:t>
            </a:r>
            <a:r>
              <a:rPr lang="en-US" b="1" dirty="0"/>
              <a:t>opportunity</a:t>
            </a:r>
            <a:r>
              <a:rPr lang="en-US" dirty="0"/>
              <a:t>. </a:t>
            </a:r>
          </a:p>
          <a:p>
            <a:r>
              <a:rPr lang="en-US" dirty="0"/>
              <a:t>The </a:t>
            </a:r>
            <a:r>
              <a:rPr lang="en-US" b="1" dirty="0"/>
              <a:t>peril</a:t>
            </a:r>
            <a:r>
              <a:rPr lang="en-US" dirty="0"/>
              <a:t> lies in the possibility of making the transition from an algorithm to a program either </a:t>
            </a:r>
            <a:r>
              <a:rPr lang="en-US" b="1" dirty="0"/>
              <a:t>incorrectly</a:t>
            </a:r>
            <a:r>
              <a:rPr lang="en-US" dirty="0"/>
              <a:t> or very </a:t>
            </a:r>
            <a:r>
              <a:rPr lang="en-US" b="1" dirty="0"/>
              <a:t>inefficiently</a:t>
            </a:r>
            <a:r>
              <a:rPr lang="en-US" dirty="0"/>
              <a:t>. </a:t>
            </a:r>
          </a:p>
        </p:txBody>
      </p:sp>
    </p:spTree>
    <p:extLst>
      <p:ext uri="{BB962C8B-B14F-4D97-AF65-F5344CB8AC3E}">
        <p14:creationId xmlns:p14="http://schemas.microsoft.com/office/powerpoint/2010/main" val="13521178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80144F-F1AF-DD2C-B8B2-06E09EC582C6}"/>
              </a:ext>
            </a:extLst>
          </p:cNvPr>
          <p:cNvSpPr>
            <a:spLocks noGrp="1"/>
          </p:cNvSpPr>
          <p:nvPr>
            <p:ph idx="1"/>
          </p:nvPr>
        </p:nvSpPr>
        <p:spPr/>
        <p:txBody>
          <a:bodyPr/>
          <a:lstStyle/>
          <a:p>
            <a:r>
              <a:rPr lang="en-US" dirty="0"/>
              <a:t>Some influential computer scientists strongly believe that unless the correctness of a computer program is proven with full mathematical rigor, the program cannot be considered correct. </a:t>
            </a:r>
          </a:p>
          <a:p>
            <a:r>
              <a:rPr lang="en-US" dirty="0"/>
              <a:t>As a practical matter, the validity of programs is still established by testing. </a:t>
            </a:r>
          </a:p>
          <a:p>
            <a:pPr lvl="1"/>
            <a:r>
              <a:rPr lang="en-US" dirty="0"/>
              <a:t>Testing of computer programs is an art rather than a science, but that does not mean that there is nothing in it to learn. </a:t>
            </a:r>
          </a:p>
          <a:p>
            <a:pPr lvl="1"/>
            <a:r>
              <a:rPr lang="en-US" dirty="0"/>
              <a:t>Test and debug your program thoroughly whenever you implement an algorithm. </a:t>
            </a:r>
          </a:p>
          <a:p>
            <a:pPr lvl="1"/>
            <a:r>
              <a:rPr lang="en-US" dirty="0"/>
              <a:t>Provide verifications of the algorithm’s input </a:t>
            </a:r>
          </a:p>
          <a:p>
            <a:pPr lvl="2"/>
            <a:r>
              <a:rPr lang="en-US" dirty="0"/>
              <a:t>W assume that inputs to algorithms belong to the specified sets and hence require no verification. When implementing algorithms as programs to be used in actual applications, you should provide such verifications. </a:t>
            </a:r>
          </a:p>
          <a:p>
            <a:pPr lvl="1"/>
            <a:endParaRPr lang="en-US" dirty="0"/>
          </a:p>
          <a:p>
            <a:endParaRPr lang="en-US" dirty="0"/>
          </a:p>
        </p:txBody>
      </p:sp>
      <p:sp>
        <p:nvSpPr>
          <p:cNvPr id="4" name="Title 1">
            <a:extLst>
              <a:ext uri="{FF2B5EF4-FFF2-40B4-BE49-F238E27FC236}">
                <a16:creationId xmlns:a16="http://schemas.microsoft.com/office/drawing/2014/main" id="{4F561614-BC61-1E7F-3947-517CCFD445B7}"/>
              </a:ext>
            </a:extLst>
          </p:cNvPr>
          <p:cNvSpPr>
            <a:spLocks noGrp="1"/>
          </p:cNvSpPr>
          <p:nvPr>
            <p:ph type="title"/>
          </p:nvPr>
        </p:nvSpPr>
        <p:spPr>
          <a:xfrm>
            <a:off x="838200" y="17393"/>
            <a:ext cx="10515600" cy="1325563"/>
          </a:xfrm>
        </p:spPr>
        <p:txBody>
          <a:bodyPr/>
          <a:lstStyle/>
          <a:p>
            <a:r>
              <a:rPr lang="en-US" dirty="0"/>
              <a:t>Coding an Algorithm (cont.) </a:t>
            </a:r>
          </a:p>
        </p:txBody>
      </p:sp>
    </p:spTree>
    <p:extLst>
      <p:ext uri="{BB962C8B-B14F-4D97-AF65-F5344CB8AC3E}">
        <p14:creationId xmlns:p14="http://schemas.microsoft.com/office/powerpoint/2010/main" val="9922058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52BD82-49F1-8CF0-E5C9-9A7C452410A4}"/>
              </a:ext>
            </a:extLst>
          </p:cNvPr>
          <p:cNvSpPr>
            <a:spLocks noGrp="1"/>
          </p:cNvSpPr>
          <p:nvPr>
            <p:ph idx="1"/>
          </p:nvPr>
        </p:nvSpPr>
        <p:spPr/>
        <p:txBody>
          <a:bodyPr/>
          <a:lstStyle/>
          <a:p>
            <a:r>
              <a:rPr lang="en-US" dirty="0"/>
              <a:t>Of course, implementing an algorithm correctly is necessary but not sufficient: you would not like to diminish your algorithm’s power by an inefficient implementation. </a:t>
            </a:r>
          </a:p>
          <a:p>
            <a:pPr lvl="1"/>
            <a:r>
              <a:rPr lang="en-US" dirty="0"/>
              <a:t>Modern compilers do provide a certain safety net in this regard, especially when they are used in their code optimization mode. Still, you need to be aware of such standard tricks as: computing a loop’s invariant (an expression that does not change its value) outside the loop, collecting common subexpressions, replacing expensive operations by cheap ones, and so on. </a:t>
            </a:r>
          </a:p>
          <a:p>
            <a:endParaRPr lang="en-US" dirty="0"/>
          </a:p>
        </p:txBody>
      </p:sp>
      <p:sp>
        <p:nvSpPr>
          <p:cNvPr id="4" name="Title 1">
            <a:extLst>
              <a:ext uri="{FF2B5EF4-FFF2-40B4-BE49-F238E27FC236}">
                <a16:creationId xmlns:a16="http://schemas.microsoft.com/office/drawing/2014/main" id="{D0F3A49A-D4A3-BD4C-1C97-F1D78679F417}"/>
              </a:ext>
            </a:extLst>
          </p:cNvPr>
          <p:cNvSpPr>
            <a:spLocks noGrp="1"/>
          </p:cNvSpPr>
          <p:nvPr>
            <p:ph type="title"/>
          </p:nvPr>
        </p:nvSpPr>
        <p:spPr>
          <a:xfrm>
            <a:off x="838200" y="18255"/>
            <a:ext cx="10515600" cy="1325563"/>
          </a:xfrm>
        </p:spPr>
        <p:txBody>
          <a:bodyPr/>
          <a:lstStyle/>
          <a:p>
            <a:r>
              <a:rPr lang="en-US" dirty="0"/>
              <a:t>Coding an Algorithm (cont.) </a:t>
            </a:r>
          </a:p>
        </p:txBody>
      </p:sp>
    </p:spTree>
    <p:extLst>
      <p:ext uri="{BB962C8B-B14F-4D97-AF65-F5344CB8AC3E}">
        <p14:creationId xmlns:p14="http://schemas.microsoft.com/office/powerpoint/2010/main" val="20385665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CCDBC-41BC-0F76-F746-53FF249F08F1}"/>
              </a:ext>
            </a:extLst>
          </p:cNvPr>
          <p:cNvSpPr>
            <a:spLocks noGrp="1"/>
          </p:cNvSpPr>
          <p:nvPr>
            <p:ph type="title"/>
          </p:nvPr>
        </p:nvSpPr>
        <p:spPr/>
        <p:txBody>
          <a:bodyPr/>
          <a:lstStyle/>
          <a:p>
            <a:r>
              <a:rPr lang="en-US" dirty="0"/>
              <a:t>Important Problem Types </a:t>
            </a:r>
          </a:p>
        </p:txBody>
      </p:sp>
      <p:sp>
        <p:nvSpPr>
          <p:cNvPr id="3" name="Content Placeholder 2">
            <a:extLst>
              <a:ext uri="{FF2B5EF4-FFF2-40B4-BE49-F238E27FC236}">
                <a16:creationId xmlns:a16="http://schemas.microsoft.com/office/drawing/2014/main" id="{C95CC94E-E6F5-1ECE-E6CA-5C3381BE7275}"/>
              </a:ext>
            </a:extLst>
          </p:cNvPr>
          <p:cNvSpPr>
            <a:spLocks noGrp="1"/>
          </p:cNvSpPr>
          <p:nvPr>
            <p:ph idx="1"/>
          </p:nvPr>
        </p:nvSpPr>
        <p:spPr/>
        <p:txBody>
          <a:bodyPr/>
          <a:lstStyle/>
          <a:p>
            <a:r>
              <a:rPr lang="en-US" dirty="0"/>
              <a:t>There are a few areas that have attracted particular attention from researchers:</a:t>
            </a:r>
          </a:p>
          <a:p>
            <a:pPr lvl="1"/>
            <a:r>
              <a:rPr lang="en-US" dirty="0"/>
              <a:t>Sorting</a:t>
            </a:r>
          </a:p>
          <a:p>
            <a:pPr lvl="1"/>
            <a:r>
              <a:rPr lang="en-US" dirty="0"/>
              <a:t>Searching</a:t>
            </a:r>
          </a:p>
          <a:p>
            <a:pPr lvl="1"/>
            <a:r>
              <a:rPr lang="en-US" dirty="0"/>
              <a:t>String processing</a:t>
            </a:r>
          </a:p>
          <a:p>
            <a:pPr lvl="1"/>
            <a:r>
              <a:rPr lang="en-US" dirty="0"/>
              <a:t>Graph problems </a:t>
            </a:r>
          </a:p>
          <a:p>
            <a:pPr lvl="1"/>
            <a:r>
              <a:rPr lang="en-US" dirty="0"/>
              <a:t>Combinatorial problems </a:t>
            </a:r>
          </a:p>
          <a:p>
            <a:pPr lvl="1"/>
            <a:r>
              <a:rPr lang="en-US" dirty="0"/>
              <a:t>Geometric problems </a:t>
            </a:r>
          </a:p>
          <a:p>
            <a:pPr lvl="1"/>
            <a:r>
              <a:rPr lang="en-US" dirty="0"/>
              <a:t>Numerical problems </a:t>
            </a:r>
          </a:p>
          <a:p>
            <a:endParaRPr lang="en-US" dirty="0"/>
          </a:p>
          <a:p>
            <a:r>
              <a:rPr lang="en-US" dirty="0"/>
              <a:t>Their interest has been driven either by the problem’s practical importance or by some specific characteristics making the problem an interesting research subject; </a:t>
            </a:r>
          </a:p>
          <a:p>
            <a:endParaRPr lang="en-US" dirty="0"/>
          </a:p>
        </p:txBody>
      </p:sp>
    </p:spTree>
    <p:extLst>
      <p:ext uri="{BB962C8B-B14F-4D97-AF65-F5344CB8AC3E}">
        <p14:creationId xmlns:p14="http://schemas.microsoft.com/office/powerpoint/2010/main" val="3193264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E125A-59FF-511D-CA2C-CB564C01D365}"/>
              </a:ext>
            </a:extLst>
          </p:cNvPr>
          <p:cNvSpPr>
            <a:spLocks noGrp="1"/>
          </p:cNvSpPr>
          <p:nvPr>
            <p:ph type="title"/>
          </p:nvPr>
        </p:nvSpPr>
        <p:spPr/>
        <p:txBody>
          <a:bodyPr/>
          <a:lstStyle/>
          <a:p>
            <a:r>
              <a:rPr lang="en-US" dirty="0"/>
              <a:t>Sorting </a:t>
            </a:r>
          </a:p>
        </p:txBody>
      </p:sp>
      <p:sp>
        <p:nvSpPr>
          <p:cNvPr id="3" name="Content Placeholder 2">
            <a:extLst>
              <a:ext uri="{FF2B5EF4-FFF2-40B4-BE49-F238E27FC236}">
                <a16:creationId xmlns:a16="http://schemas.microsoft.com/office/drawing/2014/main" id="{C1CA7EFC-3F80-9CE8-2915-C8958479C36E}"/>
              </a:ext>
            </a:extLst>
          </p:cNvPr>
          <p:cNvSpPr>
            <a:spLocks noGrp="1"/>
          </p:cNvSpPr>
          <p:nvPr>
            <p:ph idx="1"/>
          </p:nvPr>
        </p:nvSpPr>
        <p:spPr/>
        <p:txBody>
          <a:bodyPr/>
          <a:lstStyle/>
          <a:p>
            <a:r>
              <a:rPr lang="en-US" dirty="0"/>
              <a:t>The </a:t>
            </a:r>
            <a:r>
              <a:rPr lang="en-US" b="1" dirty="0"/>
              <a:t>sorting problem </a:t>
            </a:r>
            <a:r>
              <a:rPr lang="en-US" dirty="0"/>
              <a:t>is to rearrange the items of a given list in nondecreasing order. </a:t>
            </a:r>
          </a:p>
          <a:p>
            <a:r>
              <a:rPr lang="en-US" dirty="0"/>
              <a:t>Of course, for this problem to be meaningful, the nature of the list items must allow such an ordering. (Mathematicians would say that there must exist a relation of total ordering.) </a:t>
            </a:r>
          </a:p>
          <a:p>
            <a:r>
              <a:rPr lang="en-US" dirty="0"/>
              <a:t>As a practical matter, we usually need to sort lists of numbers, characters from an alphabet, character strings, and, most important, records similar to those maintained by schools about their students, libraries about their holdings, and companies about their employees. </a:t>
            </a:r>
          </a:p>
          <a:p>
            <a:endParaRPr lang="en-US" dirty="0"/>
          </a:p>
        </p:txBody>
      </p:sp>
    </p:spTree>
    <p:extLst>
      <p:ext uri="{BB962C8B-B14F-4D97-AF65-F5344CB8AC3E}">
        <p14:creationId xmlns:p14="http://schemas.microsoft.com/office/powerpoint/2010/main" val="19340279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B1CF0C-0C57-B9FC-833E-A68F8A093B8C}"/>
              </a:ext>
            </a:extLst>
          </p:cNvPr>
          <p:cNvSpPr>
            <a:spLocks noGrp="1"/>
          </p:cNvSpPr>
          <p:nvPr>
            <p:ph idx="1"/>
          </p:nvPr>
        </p:nvSpPr>
        <p:spPr/>
        <p:txBody>
          <a:bodyPr/>
          <a:lstStyle/>
          <a:p>
            <a:r>
              <a:rPr lang="en-US" dirty="0"/>
              <a:t>In the case of records, we need to choose a piece of information to guide sorting. </a:t>
            </a:r>
          </a:p>
          <a:p>
            <a:r>
              <a:rPr lang="en-US" dirty="0"/>
              <a:t>For example, we can choose to sort student records in alphabetical order of names or by student number or by student grade-point average. </a:t>
            </a:r>
          </a:p>
          <a:p>
            <a:r>
              <a:rPr lang="en-US" dirty="0"/>
              <a:t>Such a specially chosen piece of information is called a key. </a:t>
            </a:r>
          </a:p>
          <a:p>
            <a:r>
              <a:rPr lang="en-US" dirty="0"/>
              <a:t>Computer scientists often talk about sorting a list of keys even when the list’s items are not records but, say, just integers. </a:t>
            </a:r>
          </a:p>
          <a:p>
            <a:endParaRPr lang="en-US" dirty="0"/>
          </a:p>
        </p:txBody>
      </p:sp>
      <p:sp>
        <p:nvSpPr>
          <p:cNvPr id="4" name="Title 1">
            <a:extLst>
              <a:ext uri="{FF2B5EF4-FFF2-40B4-BE49-F238E27FC236}">
                <a16:creationId xmlns:a16="http://schemas.microsoft.com/office/drawing/2014/main" id="{07463F88-E581-C3AA-34BB-471EE2220FB2}"/>
              </a:ext>
            </a:extLst>
          </p:cNvPr>
          <p:cNvSpPr>
            <a:spLocks noGrp="1"/>
          </p:cNvSpPr>
          <p:nvPr>
            <p:ph type="title"/>
          </p:nvPr>
        </p:nvSpPr>
        <p:spPr>
          <a:xfrm>
            <a:off x="838200" y="18255"/>
            <a:ext cx="10515600" cy="1325563"/>
          </a:xfrm>
        </p:spPr>
        <p:txBody>
          <a:bodyPr/>
          <a:lstStyle/>
          <a:p>
            <a:r>
              <a:rPr lang="en-US" dirty="0"/>
              <a:t>Sorting (cont.) </a:t>
            </a:r>
          </a:p>
        </p:txBody>
      </p:sp>
    </p:spTree>
    <p:extLst>
      <p:ext uri="{BB962C8B-B14F-4D97-AF65-F5344CB8AC3E}">
        <p14:creationId xmlns:p14="http://schemas.microsoft.com/office/powerpoint/2010/main" val="28270840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D3A940-252C-602C-F335-CBFBCF63D596}"/>
              </a:ext>
            </a:extLst>
          </p:cNvPr>
          <p:cNvSpPr>
            <a:spLocks noGrp="1"/>
          </p:cNvSpPr>
          <p:nvPr>
            <p:ph idx="1"/>
          </p:nvPr>
        </p:nvSpPr>
        <p:spPr/>
        <p:txBody>
          <a:bodyPr>
            <a:normAutofit/>
          </a:bodyPr>
          <a:lstStyle/>
          <a:p>
            <a:r>
              <a:rPr lang="en-US" dirty="0"/>
              <a:t>Why would we want a sorted list? </a:t>
            </a:r>
          </a:p>
          <a:p>
            <a:pPr lvl="1"/>
            <a:r>
              <a:rPr lang="en-US" dirty="0"/>
              <a:t>Can be a required output of a task (example: Ranking students by their GPA scores) </a:t>
            </a:r>
          </a:p>
          <a:p>
            <a:pPr lvl="1"/>
            <a:r>
              <a:rPr lang="en-US" dirty="0"/>
              <a:t>Makes many questions about the list easier to answer (example: searching in dictionaries, class list, etc.) </a:t>
            </a:r>
          </a:p>
          <a:p>
            <a:pPr lvl="1"/>
            <a:r>
              <a:rPr lang="en-US" dirty="0"/>
              <a:t>Used as an auxiliary step in several important algorithms (example: The Greedy approach requires a sorted input) </a:t>
            </a:r>
          </a:p>
          <a:p>
            <a:endParaRPr lang="en-US" dirty="0"/>
          </a:p>
          <a:p>
            <a:endParaRPr lang="en-US" dirty="0"/>
          </a:p>
        </p:txBody>
      </p:sp>
      <p:sp>
        <p:nvSpPr>
          <p:cNvPr id="4" name="Title 1">
            <a:extLst>
              <a:ext uri="{FF2B5EF4-FFF2-40B4-BE49-F238E27FC236}">
                <a16:creationId xmlns:a16="http://schemas.microsoft.com/office/drawing/2014/main" id="{F1B9E714-9306-5608-325C-AD5D9226C37E}"/>
              </a:ext>
            </a:extLst>
          </p:cNvPr>
          <p:cNvSpPr>
            <a:spLocks noGrp="1"/>
          </p:cNvSpPr>
          <p:nvPr>
            <p:ph type="title"/>
          </p:nvPr>
        </p:nvSpPr>
        <p:spPr>
          <a:xfrm>
            <a:off x="838200" y="18255"/>
            <a:ext cx="10515600" cy="1325563"/>
          </a:xfrm>
        </p:spPr>
        <p:txBody>
          <a:bodyPr/>
          <a:lstStyle/>
          <a:p>
            <a:r>
              <a:rPr lang="en-US" dirty="0"/>
              <a:t>Sorting (cont.) </a:t>
            </a:r>
          </a:p>
        </p:txBody>
      </p:sp>
    </p:spTree>
    <p:extLst>
      <p:ext uri="{BB962C8B-B14F-4D97-AF65-F5344CB8AC3E}">
        <p14:creationId xmlns:p14="http://schemas.microsoft.com/office/powerpoint/2010/main" val="17355074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87E54F-15F2-F87B-EFBF-C5E348D30056}"/>
              </a:ext>
            </a:extLst>
          </p:cNvPr>
          <p:cNvSpPr>
            <a:spLocks noGrp="1"/>
          </p:cNvSpPr>
          <p:nvPr>
            <p:ph idx="1"/>
          </p:nvPr>
        </p:nvSpPr>
        <p:spPr/>
        <p:txBody>
          <a:bodyPr/>
          <a:lstStyle/>
          <a:p>
            <a:r>
              <a:rPr lang="en-US" dirty="0"/>
              <a:t>Although some sorting algorithms are indeed better than others, there is no algorithm that would be the best solution in all situations. </a:t>
            </a:r>
          </a:p>
          <a:p>
            <a:pPr lvl="1"/>
            <a:r>
              <a:rPr lang="en-US" dirty="0"/>
              <a:t>Some of the algorithms are simple but relatively slow, while others are faster but more complex; </a:t>
            </a:r>
          </a:p>
          <a:p>
            <a:pPr lvl="1"/>
            <a:r>
              <a:rPr lang="en-US" dirty="0"/>
              <a:t>Some work better on randomly ordered inputs, while others do better on almost-sorted lists; </a:t>
            </a:r>
          </a:p>
          <a:p>
            <a:pPr lvl="1"/>
            <a:r>
              <a:rPr lang="en-US" dirty="0"/>
              <a:t>Some are suitable only for lists residing in the fast memory, while others can be adapted for sorting large files stored on a disk; </a:t>
            </a:r>
          </a:p>
        </p:txBody>
      </p:sp>
      <p:sp>
        <p:nvSpPr>
          <p:cNvPr id="4" name="Title 1">
            <a:extLst>
              <a:ext uri="{FF2B5EF4-FFF2-40B4-BE49-F238E27FC236}">
                <a16:creationId xmlns:a16="http://schemas.microsoft.com/office/drawing/2014/main" id="{62105D38-A45A-E8F5-FC9B-964438D78E31}"/>
              </a:ext>
            </a:extLst>
          </p:cNvPr>
          <p:cNvSpPr>
            <a:spLocks noGrp="1"/>
          </p:cNvSpPr>
          <p:nvPr>
            <p:ph type="title"/>
          </p:nvPr>
        </p:nvSpPr>
        <p:spPr>
          <a:xfrm>
            <a:off x="838200" y="18255"/>
            <a:ext cx="10515600" cy="1325563"/>
          </a:xfrm>
        </p:spPr>
        <p:txBody>
          <a:bodyPr/>
          <a:lstStyle/>
          <a:p>
            <a:r>
              <a:rPr lang="en-US" dirty="0"/>
              <a:t>Sorting (cont.) </a:t>
            </a:r>
          </a:p>
        </p:txBody>
      </p:sp>
    </p:spTree>
    <p:extLst>
      <p:ext uri="{BB962C8B-B14F-4D97-AF65-F5344CB8AC3E}">
        <p14:creationId xmlns:p14="http://schemas.microsoft.com/office/powerpoint/2010/main" val="5668425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5F2CC1-14DA-ABA7-1250-FB80D3EF43C4}"/>
              </a:ext>
            </a:extLst>
          </p:cNvPr>
          <p:cNvSpPr>
            <a:spLocks noGrp="1"/>
          </p:cNvSpPr>
          <p:nvPr>
            <p:ph idx="1"/>
          </p:nvPr>
        </p:nvSpPr>
        <p:spPr/>
        <p:txBody>
          <a:bodyPr/>
          <a:lstStyle/>
          <a:p>
            <a:r>
              <a:rPr lang="en-US" dirty="0"/>
              <a:t>Two properties of sorting algorithms deserve special mention: stability and in-place operation.</a:t>
            </a:r>
          </a:p>
        </p:txBody>
      </p:sp>
      <p:sp>
        <p:nvSpPr>
          <p:cNvPr id="4" name="Title 1">
            <a:extLst>
              <a:ext uri="{FF2B5EF4-FFF2-40B4-BE49-F238E27FC236}">
                <a16:creationId xmlns:a16="http://schemas.microsoft.com/office/drawing/2014/main" id="{BB331676-C881-D04C-DA77-05394306320F}"/>
              </a:ext>
            </a:extLst>
          </p:cNvPr>
          <p:cNvSpPr>
            <a:spLocks noGrp="1"/>
          </p:cNvSpPr>
          <p:nvPr>
            <p:ph type="title"/>
          </p:nvPr>
        </p:nvSpPr>
        <p:spPr>
          <a:xfrm>
            <a:off x="838200" y="18255"/>
            <a:ext cx="10515600" cy="1325563"/>
          </a:xfrm>
        </p:spPr>
        <p:txBody>
          <a:bodyPr/>
          <a:lstStyle/>
          <a:p>
            <a:r>
              <a:rPr lang="en-US" dirty="0"/>
              <a:t>Sorting (cont.) </a:t>
            </a:r>
          </a:p>
        </p:txBody>
      </p:sp>
    </p:spTree>
    <p:extLst>
      <p:ext uri="{BB962C8B-B14F-4D97-AF65-F5344CB8AC3E}">
        <p14:creationId xmlns:p14="http://schemas.microsoft.com/office/powerpoint/2010/main" val="26312499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3F894A-7311-C7AA-EAB1-D9C787BA38B1}"/>
              </a:ext>
            </a:extLst>
          </p:cNvPr>
          <p:cNvSpPr>
            <a:spLocks noGrp="1"/>
          </p:cNvSpPr>
          <p:nvPr>
            <p:ph idx="1"/>
          </p:nvPr>
        </p:nvSpPr>
        <p:spPr/>
        <p:txBody>
          <a:bodyPr/>
          <a:lstStyle/>
          <a:p>
            <a:r>
              <a:rPr lang="en-US" dirty="0"/>
              <a:t>A sorting algorithm is called </a:t>
            </a:r>
            <a:r>
              <a:rPr lang="en-US" b="1" dirty="0"/>
              <a:t>stable</a:t>
            </a:r>
            <a:r>
              <a:rPr lang="en-US" dirty="0"/>
              <a:t> if it preserves the relative order of any two equal elements in its input. </a:t>
            </a:r>
          </a:p>
          <a:p>
            <a:pPr lvl="2"/>
            <a:r>
              <a:rPr lang="en-US" dirty="0"/>
              <a:t>In other words, if an input list contains two equal elements in positions </a:t>
            </a:r>
            <a:r>
              <a:rPr lang="en-US" dirty="0" err="1"/>
              <a:t>i</a:t>
            </a:r>
            <a:r>
              <a:rPr lang="en-US" dirty="0"/>
              <a:t> and j where </a:t>
            </a:r>
            <a:r>
              <a:rPr lang="en-US" dirty="0" err="1"/>
              <a:t>i</a:t>
            </a:r>
            <a:r>
              <a:rPr lang="en-US" dirty="0"/>
              <a:t> &lt; j, then in the sorted list they have to be in positions </a:t>
            </a:r>
            <a:r>
              <a:rPr lang="en-US" dirty="0" err="1"/>
              <a:t>i</a:t>
            </a:r>
            <a:r>
              <a:rPr lang="en-US" dirty="0"/>
              <a:t>′ and j′, respectively, such that </a:t>
            </a:r>
            <a:r>
              <a:rPr lang="en-US" dirty="0" err="1"/>
              <a:t>i</a:t>
            </a:r>
            <a:r>
              <a:rPr lang="en-US" dirty="0"/>
              <a:t>′ &lt; j′. </a:t>
            </a:r>
          </a:p>
          <a:p>
            <a:pPr lvl="2"/>
            <a:r>
              <a:rPr lang="en-US" dirty="0"/>
              <a:t>This property can be desirable if, for example, we have a list of students sorted alphabetically and we want to sort it according to student GPA: a stable algorithm will yield a list in which students with the same GPA will still be sorted alphabetically. </a:t>
            </a:r>
          </a:p>
          <a:p>
            <a:pPr lvl="1"/>
            <a:r>
              <a:rPr lang="en-US" dirty="0"/>
              <a:t>Algorithms that can exchange keys located far apart are not stable, but they usually work faster; </a:t>
            </a:r>
          </a:p>
          <a:p>
            <a:endParaRPr lang="en-US" dirty="0"/>
          </a:p>
        </p:txBody>
      </p:sp>
      <p:sp>
        <p:nvSpPr>
          <p:cNvPr id="5" name="Title 1">
            <a:extLst>
              <a:ext uri="{FF2B5EF4-FFF2-40B4-BE49-F238E27FC236}">
                <a16:creationId xmlns:a16="http://schemas.microsoft.com/office/drawing/2014/main" id="{66E52FAF-F79C-445F-CD76-92231CB0D7D6}"/>
              </a:ext>
            </a:extLst>
          </p:cNvPr>
          <p:cNvSpPr>
            <a:spLocks noGrp="1"/>
          </p:cNvSpPr>
          <p:nvPr>
            <p:ph type="title"/>
          </p:nvPr>
        </p:nvSpPr>
        <p:spPr>
          <a:xfrm>
            <a:off x="838200" y="18255"/>
            <a:ext cx="10515600" cy="1325563"/>
          </a:xfrm>
        </p:spPr>
        <p:txBody>
          <a:bodyPr/>
          <a:lstStyle/>
          <a:p>
            <a:r>
              <a:rPr lang="en-US" dirty="0"/>
              <a:t>Sorting (cont.) </a:t>
            </a:r>
          </a:p>
        </p:txBody>
      </p:sp>
    </p:spTree>
    <p:extLst>
      <p:ext uri="{BB962C8B-B14F-4D97-AF65-F5344CB8AC3E}">
        <p14:creationId xmlns:p14="http://schemas.microsoft.com/office/powerpoint/2010/main" val="19758807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69A568-1B42-4BBB-BD0A-D144DABCEF17}"/>
              </a:ext>
            </a:extLst>
          </p:cNvPr>
          <p:cNvSpPr>
            <a:spLocks noGrp="1"/>
          </p:cNvSpPr>
          <p:nvPr>
            <p:ph idx="1"/>
          </p:nvPr>
        </p:nvSpPr>
        <p:spPr/>
        <p:txBody>
          <a:bodyPr/>
          <a:lstStyle/>
          <a:p>
            <a:r>
              <a:rPr lang="en-US" dirty="0"/>
              <a:t>The second notable feature of a sorting algorithm is the amount of extra memory the algorithm requires. </a:t>
            </a:r>
          </a:p>
          <a:p>
            <a:pPr lvl="1"/>
            <a:r>
              <a:rPr lang="en-US" dirty="0"/>
              <a:t>An algorithm is said to be </a:t>
            </a:r>
            <a:r>
              <a:rPr lang="en-US" b="1" dirty="0"/>
              <a:t>in-place</a:t>
            </a:r>
            <a:r>
              <a:rPr lang="en-US" dirty="0"/>
              <a:t> if it does not require extra memory, except, possibly, for a few memory units. There are important sorting algorithms that are in-place and those that are not. </a:t>
            </a:r>
          </a:p>
          <a:p>
            <a:endParaRPr lang="en-US" dirty="0"/>
          </a:p>
        </p:txBody>
      </p:sp>
      <p:sp>
        <p:nvSpPr>
          <p:cNvPr id="4" name="Title 1">
            <a:extLst>
              <a:ext uri="{FF2B5EF4-FFF2-40B4-BE49-F238E27FC236}">
                <a16:creationId xmlns:a16="http://schemas.microsoft.com/office/drawing/2014/main" id="{F74BC543-03C1-F719-65B9-1FE11F9CD9A0}"/>
              </a:ext>
            </a:extLst>
          </p:cNvPr>
          <p:cNvSpPr>
            <a:spLocks noGrp="1"/>
          </p:cNvSpPr>
          <p:nvPr>
            <p:ph type="title"/>
          </p:nvPr>
        </p:nvSpPr>
        <p:spPr>
          <a:xfrm>
            <a:off x="838200" y="18255"/>
            <a:ext cx="10515600" cy="1325563"/>
          </a:xfrm>
        </p:spPr>
        <p:txBody>
          <a:bodyPr/>
          <a:lstStyle/>
          <a:p>
            <a:r>
              <a:rPr lang="en-US" dirty="0"/>
              <a:t>Sorting (cont.) </a:t>
            </a:r>
          </a:p>
        </p:txBody>
      </p:sp>
    </p:spTree>
    <p:extLst>
      <p:ext uri="{BB962C8B-B14F-4D97-AF65-F5344CB8AC3E}">
        <p14:creationId xmlns:p14="http://schemas.microsoft.com/office/powerpoint/2010/main" val="40087457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51D80-9FA4-2B68-9390-4861A83F6303}"/>
              </a:ext>
            </a:extLst>
          </p:cNvPr>
          <p:cNvSpPr>
            <a:spLocks noGrp="1"/>
          </p:cNvSpPr>
          <p:nvPr>
            <p:ph type="title"/>
          </p:nvPr>
        </p:nvSpPr>
        <p:spPr/>
        <p:txBody>
          <a:bodyPr/>
          <a:lstStyle/>
          <a:p>
            <a:r>
              <a:rPr lang="en-US" dirty="0"/>
              <a:t>Searching </a:t>
            </a:r>
          </a:p>
        </p:txBody>
      </p:sp>
      <p:sp>
        <p:nvSpPr>
          <p:cNvPr id="3" name="Content Placeholder 2">
            <a:extLst>
              <a:ext uri="{FF2B5EF4-FFF2-40B4-BE49-F238E27FC236}">
                <a16:creationId xmlns:a16="http://schemas.microsoft.com/office/drawing/2014/main" id="{3271E189-0D9B-7329-873F-361FC9819015}"/>
              </a:ext>
            </a:extLst>
          </p:cNvPr>
          <p:cNvSpPr>
            <a:spLocks noGrp="1"/>
          </p:cNvSpPr>
          <p:nvPr>
            <p:ph idx="1"/>
          </p:nvPr>
        </p:nvSpPr>
        <p:spPr/>
        <p:txBody>
          <a:bodyPr/>
          <a:lstStyle/>
          <a:p>
            <a:r>
              <a:rPr lang="en-US" dirty="0"/>
              <a:t>The searching problem deals with finding a given value, called a search key, in a given set (or a multiset, which permits several elements to have the same value). </a:t>
            </a:r>
          </a:p>
          <a:p>
            <a:r>
              <a:rPr lang="en-US" dirty="0"/>
              <a:t>There are plenty of searching algorithms to choose from. </a:t>
            </a:r>
          </a:p>
          <a:p>
            <a:r>
              <a:rPr lang="en-US" dirty="0"/>
              <a:t>They range from the straightforward sequential search to a spectacularly efficient but limited binary search and algorithms based on representing the underlying set in a different form more conducive to searching. </a:t>
            </a:r>
          </a:p>
          <a:p>
            <a:r>
              <a:rPr lang="en-US" dirty="0"/>
              <a:t>The latter algorithms are of particular importance for real-world applications because they are indispensable for storing and retrieving information from large databases. </a:t>
            </a:r>
          </a:p>
          <a:p>
            <a:endParaRPr lang="en-US" dirty="0"/>
          </a:p>
        </p:txBody>
      </p:sp>
    </p:spTree>
    <p:extLst>
      <p:ext uri="{BB962C8B-B14F-4D97-AF65-F5344CB8AC3E}">
        <p14:creationId xmlns:p14="http://schemas.microsoft.com/office/powerpoint/2010/main" val="28677843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33F9-3668-CA79-22D6-BAF0138D576F}"/>
              </a:ext>
            </a:extLst>
          </p:cNvPr>
          <p:cNvSpPr>
            <a:spLocks noGrp="1"/>
          </p:cNvSpPr>
          <p:nvPr>
            <p:ph type="title"/>
          </p:nvPr>
        </p:nvSpPr>
        <p:spPr/>
        <p:txBody>
          <a:bodyPr/>
          <a:lstStyle/>
          <a:p>
            <a:r>
              <a:rPr lang="en-US" dirty="0"/>
              <a:t>String Processing </a:t>
            </a:r>
          </a:p>
        </p:txBody>
      </p:sp>
      <p:sp>
        <p:nvSpPr>
          <p:cNvPr id="3" name="Content Placeholder 2">
            <a:extLst>
              <a:ext uri="{FF2B5EF4-FFF2-40B4-BE49-F238E27FC236}">
                <a16:creationId xmlns:a16="http://schemas.microsoft.com/office/drawing/2014/main" id="{659C33E5-AA89-AF0E-93FB-EE0794B4F733}"/>
              </a:ext>
            </a:extLst>
          </p:cNvPr>
          <p:cNvSpPr>
            <a:spLocks noGrp="1"/>
          </p:cNvSpPr>
          <p:nvPr>
            <p:ph idx="1"/>
          </p:nvPr>
        </p:nvSpPr>
        <p:spPr/>
        <p:txBody>
          <a:bodyPr/>
          <a:lstStyle/>
          <a:p>
            <a:r>
              <a:rPr lang="en-US" dirty="0"/>
              <a:t>A string is a sequence of characters from an alphabet. </a:t>
            </a:r>
          </a:p>
          <a:p>
            <a:r>
              <a:rPr lang="en-US" dirty="0"/>
              <a:t>Strings of particular interest are:</a:t>
            </a:r>
          </a:p>
          <a:p>
            <a:pPr lvl="1"/>
            <a:r>
              <a:rPr lang="en-US" b="1" dirty="0"/>
              <a:t>Text strings</a:t>
            </a:r>
            <a:r>
              <a:rPr lang="en-US" dirty="0"/>
              <a:t>, which comprise letters, numbers, and special characters;</a:t>
            </a:r>
          </a:p>
          <a:p>
            <a:pPr lvl="1"/>
            <a:r>
              <a:rPr lang="en-US" b="1" dirty="0"/>
              <a:t>Bit strings</a:t>
            </a:r>
            <a:r>
              <a:rPr lang="en-US" dirty="0"/>
              <a:t>, which comprise zeros and ones; </a:t>
            </a:r>
          </a:p>
          <a:p>
            <a:pPr lvl="1"/>
            <a:r>
              <a:rPr lang="en-US" dirty="0"/>
              <a:t>and </a:t>
            </a:r>
            <a:r>
              <a:rPr lang="en-US" b="1" dirty="0"/>
              <a:t>gene sequences</a:t>
            </a:r>
            <a:r>
              <a:rPr lang="en-US" dirty="0"/>
              <a:t>, which can be modeled by strings of characters from the four-character alphabet {A, C, G, T}. </a:t>
            </a:r>
          </a:p>
          <a:p>
            <a:r>
              <a:rPr lang="en-US" b="1" dirty="0"/>
              <a:t>String-processing algorithms </a:t>
            </a:r>
            <a:r>
              <a:rPr lang="en-US" dirty="0"/>
              <a:t>have been important for computer science for a long time in conjunction with computer languages and compiling issues. </a:t>
            </a:r>
          </a:p>
          <a:p>
            <a:pPr lvl="1"/>
            <a:r>
              <a:rPr lang="en-US" dirty="0"/>
              <a:t>One particular problem—that of searching for a given word in a text—has attracted special attention from researchers. They call it </a:t>
            </a:r>
            <a:r>
              <a:rPr lang="en-US" b="1" dirty="0"/>
              <a:t>string matching</a:t>
            </a:r>
            <a:r>
              <a:rPr lang="en-US" dirty="0"/>
              <a:t>. </a:t>
            </a:r>
          </a:p>
        </p:txBody>
      </p:sp>
    </p:spTree>
    <p:extLst>
      <p:ext uri="{BB962C8B-B14F-4D97-AF65-F5344CB8AC3E}">
        <p14:creationId xmlns:p14="http://schemas.microsoft.com/office/powerpoint/2010/main" val="17420756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952A5-AA0E-5770-B845-4DF20B726D07}"/>
              </a:ext>
            </a:extLst>
          </p:cNvPr>
          <p:cNvSpPr>
            <a:spLocks noGrp="1"/>
          </p:cNvSpPr>
          <p:nvPr>
            <p:ph type="title"/>
          </p:nvPr>
        </p:nvSpPr>
        <p:spPr/>
        <p:txBody>
          <a:bodyPr/>
          <a:lstStyle/>
          <a:p>
            <a:r>
              <a:rPr lang="en-US" dirty="0"/>
              <a:t>Graph Problems </a:t>
            </a:r>
          </a:p>
        </p:txBody>
      </p:sp>
      <p:sp>
        <p:nvSpPr>
          <p:cNvPr id="3" name="Content Placeholder 2">
            <a:extLst>
              <a:ext uri="{FF2B5EF4-FFF2-40B4-BE49-F238E27FC236}">
                <a16:creationId xmlns:a16="http://schemas.microsoft.com/office/drawing/2014/main" id="{83A0CC27-1524-FE36-8FA1-356F1CD95ACA}"/>
              </a:ext>
            </a:extLst>
          </p:cNvPr>
          <p:cNvSpPr>
            <a:spLocks noGrp="1"/>
          </p:cNvSpPr>
          <p:nvPr>
            <p:ph idx="1"/>
          </p:nvPr>
        </p:nvSpPr>
        <p:spPr/>
        <p:txBody>
          <a:bodyPr/>
          <a:lstStyle/>
          <a:p>
            <a:r>
              <a:rPr lang="en-US" dirty="0"/>
              <a:t>A graph can be thought of as a collection of points called vertices, some of which are connected by line segments called edges. </a:t>
            </a:r>
          </a:p>
          <a:p>
            <a:r>
              <a:rPr lang="en-US" dirty="0"/>
              <a:t>Graphs can be used for modeling a wide variety of applications including:</a:t>
            </a:r>
          </a:p>
          <a:p>
            <a:pPr lvl="1"/>
            <a:r>
              <a:rPr lang="en-US" dirty="0"/>
              <a:t>Transportation</a:t>
            </a:r>
          </a:p>
          <a:p>
            <a:pPr lvl="1"/>
            <a:r>
              <a:rPr lang="en-US" dirty="0"/>
              <a:t>Communication</a:t>
            </a:r>
          </a:p>
          <a:p>
            <a:pPr lvl="1"/>
            <a:r>
              <a:rPr lang="en-US" dirty="0"/>
              <a:t>Social and economic networks</a:t>
            </a:r>
          </a:p>
          <a:p>
            <a:pPr lvl="1"/>
            <a:r>
              <a:rPr lang="en-US" dirty="0"/>
              <a:t>Project scheduling</a:t>
            </a:r>
          </a:p>
          <a:p>
            <a:pPr lvl="1"/>
            <a:r>
              <a:rPr lang="en-US" dirty="0"/>
              <a:t>Games</a:t>
            </a:r>
          </a:p>
        </p:txBody>
      </p:sp>
    </p:spTree>
    <p:extLst>
      <p:ext uri="{BB962C8B-B14F-4D97-AF65-F5344CB8AC3E}">
        <p14:creationId xmlns:p14="http://schemas.microsoft.com/office/powerpoint/2010/main" val="2390532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F29FFB-E702-5028-111B-B6A3BBF01D62}"/>
              </a:ext>
            </a:extLst>
          </p:cNvPr>
          <p:cNvSpPr>
            <a:spLocks noGrp="1"/>
          </p:cNvSpPr>
          <p:nvPr>
            <p:ph idx="1"/>
          </p:nvPr>
        </p:nvSpPr>
        <p:spPr/>
        <p:txBody>
          <a:bodyPr/>
          <a:lstStyle/>
          <a:p>
            <a:r>
              <a:rPr lang="en-US" dirty="0"/>
              <a:t>Some graph problems are computationally very hard; the most well-known examples are the traveling salesman problem and the graph-coloring problem. </a:t>
            </a:r>
          </a:p>
          <a:p>
            <a:r>
              <a:rPr lang="en-US" b="1" dirty="0"/>
              <a:t>Traveling salesman problem (TSP) </a:t>
            </a:r>
            <a:r>
              <a:rPr lang="en-US" dirty="0"/>
              <a:t>is the problem of finding the shortest tour through n cities that visits every city exactly once.  </a:t>
            </a:r>
          </a:p>
          <a:p>
            <a:pPr lvl="1"/>
            <a:r>
              <a:rPr lang="en-US" dirty="0"/>
              <a:t>This problem arises in several applications, such as route planning, </a:t>
            </a:r>
          </a:p>
          <a:p>
            <a:r>
              <a:rPr lang="en-US" b="1" dirty="0"/>
              <a:t>Graph-coloring problem </a:t>
            </a:r>
            <a:r>
              <a:rPr lang="en-US" dirty="0"/>
              <a:t>seeks to assign the smallest number of colors to the vertices of a graph so that no two adjacent vertices are the same color. </a:t>
            </a:r>
          </a:p>
          <a:p>
            <a:pPr lvl="1"/>
            <a:r>
              <a:rPr lang="en-US" dirty="0"/>
              <a:t>This problem arises in several applications, such as event scheduling</a:t>
            </a:r>
          </a:p>
        </p:txBody>
      </p:sp>
      <p:sp>
        <p:nvSpPr>
          <p:cNvPr id="4" name="Title 1">
            <a:extLst>
              <a:ext uri="{FF2B5EF4-FFF2-40B4-BE49-F238E27FC236}">
                <a16:creationId xmlns:a16="http://schemas.microsoft.com/office/drawing/2014/main" id="{7650FE24-72A0-A8DB-0ACB-546294F4E481}"/>
              </a:ext>
            </a:extLst>
          </p:cNvPr>
          <p:cNvSpPr>
            <a:spLocks noGrp="1"/>
          </p:cNvSpPr>
          <p:nvPr>
            <p:ph type="title"/>
          </p:nvPr>
        </p:nvSpPr>
        <p:spPr>
          <a:xfrm>
            <a:off x="838200" y="18255"/>
            <a:ext cx="10515600" cy="1325563"/>
          </a:xfrm>
        </p:spPr>
        <p:txBody>
          <a:bodyPr/>
          <a:lstStyle/>
          <a:p>
            <a:r>
              <a:rPr lang="en-US" dirty="0"/>
              <a:t>Graph Problems (cont.) </a:t>
            </a:r>
          </a:p>
        </p:txBody>
      </p:sp>
    </p:spTree>
    <p:extLst>
      <p:ext uri="{BB962C8B-B14F-4D97-AF65-F5344CB8AC3E}">
        <p14:creationId xmlns:p14="http://schemas.microsoft.com/office/powerpoint/2010/main" val="29134379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0F35C-240C-975D-528C-654412829154}"/>
              </a:ext>
            </a:extLst>
          </p:cNvPr>
          <p:cNvSpPr>
            <a:spLocks noGrp="1"/>
          </p:cNvSpPr>
          <p:nvPr>
            <p:ph type="title"/>
          </p:nvPr>
        </p:nvSpPr>
        <p:spPr/>
        <p:txBody>
          <a:bodyPr/>
          <a:lstStyle/>
          <a:p>
            <a:r>
              <a:rPr lang="en-US" dirty="0"/>
              <a:t>Combinatorial Problems </a:t>
            </a:r>
          </a:p>
        </p:txBody>
      </p:sp>
      <p:sp>
        <p:nvSpPr>
          <p:cNvPr id="3" name="Content Placeholder 2">
            <a:extLst>
              <a:ext uri="{FF2B5EF4-FFF2-40B4-BE49-F238E27FC236}">
                <a16:creationId xmlns:a16="http://schemas.microsoft.com/office/drawing/2014/main" id="{A0E7DBEA-25D7-762B-E5C4-1CDFD1E861B6}"/>
              </a:ext>
            </a:extLst>
          </p:cNvPr>
          <p:cNvSpPr>
            <a:spLocks noGrp="1"/>
          </p:cNvSpPr>
          <p:nvPr>
            <p:ph idx="1"/>
          </p:nvPr>
        </p:nvSpPr>
        <p:spPr/>
        <p:txBody>
          <a:bodyPr>
            <a:normAutofit/>
          </a:bodyPr>
          <a:lstStyle/>
          <a:p>
            <a:r>
              <a:rPr lang="en-US" dirty="0"/>
              <a:t>Combinatorial problems. These are problems that ask, explicitly or implicitly, to find a combinatorial object—such as a permutation, a combination, or a subset—that satisfies certain constraints. </a:t>
            </a:r>
          </a:p>
          <a:p>
            <a:endParaRPr lang="en-US" dirty="0"/>
          </a:p>
        </p:txBody>
      </p:sp>
    </p:spTree>
    <p:extLst>
      <p:ext uri="{BB962C8B-B14F-4D97-AF65-F5344CB8AC3E}">
        <p14:creationId xmlns:p14="http://schemas.microsoft.com/office/powerpoint/2010/main" val="18677227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F6C36D-3D32-CA2B-75CE-4C84F4998F4A}"/>
              </a:ext>
            </a:extLst>
          </p:cNvPr>
          <p:cNvSpPr>
            <a:spLocks noGrp="1"/>
          </p:cNvSpPr>
          <p:nvPr>
            <p:ph idx="1"/>
          </p:nvPr>
        </p:nvSpPr>
        <p:spPr/>
        <p:txBody>
          <a:bodyPr>
            <a:normAutofit/>
          </a:bodyPr>
          <a:lstStyle/>
          <a:p>
            <a:r>
              <a:rPr lang="en-US" dirty="0"/>
              <a:t>Combinatorial problems are the most difficult problems in computing, from both a theoretical and practical standpoint. </a:t>
            </a:r>
          </a:p>
          <a:p>
            <a:r>
              <a:rPr lang="en-US" dirty="0"/>
              <a:t>Their difficulty stems from the following facts:</a:t>
            </a:r>
          </a:p>
          <a:p>
            <a:pPr lvl="1"/>
            <a:r>
              <a:rPr lang="en-US" dirty="0"/>
              <a:t>The number of combinatorial objects typically grows extremely fast with a problem’s size, reaching unimaginable magnitudes even for moderate-sized instances. </a:t>
            </a:r>
          </a:p>
          <a:p>
            <a:pPr lvl="1"/>
            <a:r>
              <a:rPr lang="en-US" dirty="0"/>
              <a:t>There are no known algorithms for solving most such problems exactly in an acceptable amount of time. Moreover, most computer scientists believe that such algorithms do not exist. </a:t>
            </a:r>
          </a:p>
          <a:p>
            <a:endParaRPr lang="en-US" dirty="0"/>
          </a:p>
        </p:txBody>
      </p:sp>
      <p:sp>
        <p:nvSpPr>
          <p:cNvPr id="4" name="Title 1">
            <a:extLst>
              <a:ext uri="{FF2B5EF4-FFF2-40B4-BE49-F238E27FC236}">
                <a16:creationId xmlns:a16="http://schemas.microsoft.com/office/drawing/2014/main" id="{F2E224C2-2116-08A0-64E1-60EDE385DECD}"/>
              </a:ext>
            </a:extLst>
          </p:cNvPr>
          <p:cNvSpPr>
            <a:spLocks noGrp="1"/>
          </p:cNvSpPr>
          <p:nvPr>
            <p:ph type="title"/>
          </p:nvPr>
        </p:nvSpPr>
        <p:spPr>
          <a:xfrm>
            <a:off x="838200" y="18255"/>
            <a:ext cx="10515600" cy="1325563"/>
          </a:xfrm>
        </p:spPr>
        <p:txBody>
          <a:bodyPr/>
          <a:lstStyle/>
          <a:p>
            <a:r>
              <a:rPr lang="en-US" dirty="0"/>
              <a:t>Combinatorial Problems (cont.) </a:t>
            </a:r>
          </a:p>
        </p:txBody>
      </p:sp>
    </p:spTree>
    <p:extLst>
      <p:ext uri="{BB962C8B-B14F-4D97-AF65-F5344CB8AC3E}">
        <p14:creationId xmlns:p14="http://schemas.microsoft.com/office/powerpoint/2010/main" val="14485967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456866-5570-DE09-4FF7-28B41C54040F}"/>
              </a:ext>
            </a:extLst>
          </p:cNvPr>
          <p:cNvSpPr>
            <a:spLocks noGrp="1"/>
          </p:cNvSpPr>
          <p:nvPr>
            <p:ph idx="1"/>
          </p:nvPr>
        </p:nvSpPr>
        <p:spPr/>
        <p:txBody>
          <a:bodyPr/>
          <a:lstStyle/>
          <a:p>
            <a:r>
              <a:rPr lang="en-US" dirty="0"/>
              <a:t>Some combinatorial problems can be solved by efficient algorithms, but they should be considered fortunate exceptions to the rule. </a:t>
            </a:r>
          </a:p>
          <a:p>
            <a:pPr lvl="1"/>
            <a:r>
              <a:rPr lang="en-US" dirty="0"/>
              <a:t>The shortest-path problem is among such exceptions. </a:t>
            </a:r>
          </a:p>
          <a:p>
            <a:endParaRPr lang="en-US" dirty="0"/>
          </a:p>
        </p:txBody>
      </p:sp>
      <p:sp>
        <p:nvSpPr>
          <p:cNvPr id="4" name="Title 1">
            <a:extLst>
              <a:ext uri="{FF2B5EF4-FFF2-40B4-BE49-F238E27FC236}">
                <a16:creationId xmlns:a16="http://schemas.microsoft.com/office/drawing/2014/main" id="{ACE9CF90-3E62-7A9C-8E67-8635732DB649}"/>
              </a:ext>
            </a:extLst>
          </p:cNvPr>
          <p:cNvSpPr>
            <a:spLocks noGrp="1"/>
          </p:cNvSpPr>
          <p:nvPr>
            <p:ph type="title"/>
          </p:nvPr>
        </p:nvSpPr>
        <p:spPr>
          <a:xfrm>
            <a:off x="838200" y="18255"/>
            <a:ext cx="10515600" cy="1325563"/>
          </a:xfrm>
        </p:spPr>
        <p:txBody>
          <a:bodyPr/>
          <a:lstStyle/>
          <a:p>
            <a:r>
              <a:rPr lang="en-US" dirty="0"/>
              <a:t>Combinatorial Problems (cont.) </a:t>
            </a:r>
          </a:p>
        </p:txBody>
      </p:sp>
    </p:spTree>
    <p:extLst>
      <p:ext uri="{BB962C8B-B14F-4D97-AF65-F5344CB8AC3E}">
        <p14:creationId xmlns:p14="http://schemas.microsoft.com/office/powerpoint/2010/main" val="7750071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A999E-EF02-971B-F349-05BFAB9A2E79}"/>
              </a:ext>
            </a:extLst>
          </p:cNvPr>
          <p:cNvSpPr>
            <a:spLocks noGrp="1"/>
          </p:cNvSpPr>
          <p:nvPr>
            <p:ph type="title"/>
          </p:nvPr>
        </p:nvSpPr>
        <p:spPr/>
        <p:txBody>
          <a:bodyPr/>
          <a:lstStyle/>
          <a:p>
            <a:r>
              <a:rPr lang="en-US" dirty="0"/>
              <a:t>Geometric Problems </a:t>
            </a:r>
          </a:p>
        </p:txBody>
      </p:sp>
      <p:sp>
        <p:nvSpPr>
          <p:cNvPr id="3" name="Content Placeholder 2">
            <a:extLst>
              <a:ext uri="{FF2B5EF4-FFF2-40B4-BE49-F238E27FC236}">
                <a16:creationId xmlns:a16="http://schemas.microsoft.com/office/drawing/2014/main" id="{B2CD4153-958B-C1AD-29E2-43EB9045F09B}"/>
              </a:ext>
            </a:extLst>
          </p:cNvPr>
          <p:cNvSpPr>
            <a:spLocks noGrp="1"/>
          </p:cNvSpPr>
          <p:nvPr>
            <p:ph idx="1"/>
          </p:nvPr>
        </p:nvSpPr>
        <p:spPr/>
        <p:txBody>
          <a:bodyPr>
            <a:normAutofit/>
          </a:bodyPr>
          <a:lstStyle/>
          <a:p>
            <a:r>
              <a:rPr lang="en-US" b="1" dirty="0"/>
              <a:t>Geometric algorithms </a:t>
            </a:r>
            <a:r>
              <a:rPr lang="en-US" dirty="0"/>
              <a:t>deal with geometric objects such as points, lines, and polygons. </a:t>
            </a:r>
          </a:p>
          <a:p>
            <a:r>
              <a:rPr lang="en-US" dirty="0"/>
              <a:t>The ancient Greeks were very much interested in developing procedures for solving a variety of geometric problems, including problems of constructing simple geometric shapes—triangles, circles, and so on.</a:t>
            </a:r>
          </a:p>
          <a:p>
            <a:r>
              <a:rPr lang="en-US" dirty="0"/>
              <a:t>We will discuss algorithms for only two classic problems of computational geometry: </a:t>
            </a:r>
          </a:p>
          <a:p>
            <a:pPr lvl="1"/>
            <a:r>
              <a:rPr lang="en-US" dirty="0"/>
              <a:t>The closest-pair problem (given n points in the plane, find the closest pair among them. )</a:t>
            </a:r>
          </a:p>
          <a:p>
            <a:pPr lvl="1"/>
            <a:r>
              <a:rPr lang="en-US" dirty="0"/>
              <a:t>The convex-hull problem (asks to find the smallest convex polygon that would include all the points of a given set)</a:t>
            </a:r>
          </a:p>
        </p:txBody>
      </p:sp>
    </p:spTree>
    <p:extLst>
      <p:ext uri="{BB962C8B-B14F-4D97-AF65-F5344CB8AC3E}">
        <p14:creationId xmlns:p14="http://schemas.microsoft.com/office/powerpoint/2010/main" val="40921769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26D12-D2F2-ABE7-60C2-06307FD6CB39}"/>
              </a:ext>
            </a:extLst>
          </p:cNvPr>
          <p:cNvSpPr>
            <a:spLocks noGrp="1"/>
          </p:cNvSpPr>
          <p:nvPr>
            <p:ph type="title"/>
          </p:nvPr>
        </p:nvSpPr>
        <p:spPr/>
        <p:txBody>
          <a:bodyPr/>
          <a:lstStyle/>
          <a:p>
            <a:r>
              <a:rPr lang="en-US" dirty="0"/>
              <a:t>Numerical Problems </a:t>
            </a:r>
          </a:p>
        </p:txBody>
      </p:sp>
      <p:sp>
        <p:nvSpPr>
          <p:cNvPr id="3" name="Content Placeholder 2">
            <a:extLst>
              <a:ext uri="{FF2B5EF4-FFF2-40B4-BE49-F238E27FC236}">
                <a16:creationId xmlns:a16="http://schemas.microsoft.com/office/drawing/2014/main" id="{0D80C3DA-D683-BC7E-0A4D-1663AF461ABF}"/>
              </a:ext>
            </a:extLst>
          </p:cNvPr>
          <p:cNvSpPr>
            <a:spLocks noGrp="1"/>
          </p:cNvSpPr>
          <p:nvPr>
            <p:ph idx="1"/>
          </p:nvPr>
        </p:nvSpPr>
        <p:spPr/>
        <p:txBody>
          <a:bodyPr/>
          <a:lstStyle/>
          <a:p>
            <a:r>
              <a:rPr lang="en-US" b="1" dirty="0"/>
              <a:t>Numerical problems </a:t>
            </a:r>
            <a:r>
              <a:rPr lang="en-US" dirty="0"/>
              <a:t>are problems that involve mathematical objects of continuous nature: solving equations and systems of equations, evaluating functions, and so on. </a:t>
            </a:r>
          </a:p>
          <a:p>
            <a:endParaRPr lang="en-US" dirty="0"/>
          </a:p>
        </p:txBody>
      </p:sp>
    </p:spTree>
    <p:extLst>
      <p:ext uri="{BB962C8B-B14F-4D97-AF65-F5344CB8AC3E}">
        <p14:creationId xmlns:p14="http://schemas.microsoft.com/office/powerpoint/2010/main" val="17570276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9F64D-FE93-81BA-27D4-E759CB2104C8}"/>
              </a:ext>
            </a:extLst>
          </p:cNvPr>
          <p:cNvSpPr>
            <a:spLocks noGrp="1"/>
          </p:cNvSpPr>
          <p:nvPr>
            <p:ph type="title"/>
          </p:nvPr>
        </p:nvSpPr>
        <p:spPr/>
        <p:txBody>
          <a:bodyPr/>
          <a:lstStyle/>
          <a:p>
            <a:r>
              <a:rPr lang="en-US" dirty="0"/>
              <a:t>Fundamental Data Structures </a:t>
            </a:r>
          </a:p>
        </p:txBody>
      </p:sp>
      <p:sp>
        <p:nvSpPr>
          <p:cNvPr id="3" name="Content Placeholder 2">
            <a:extLst>
              <a:ext uri="{FF2B5EF4-FFF2-40B4-BE49-F238E27FC236}">
                <a16:creationId xmlns:a16="http://schemas.microsoft.com/office/drawing/2014/main" id="{6FE3417D-83DF-580D-60AC-18DE8E9926D3}"/>
              </a:ext>
            </a:extLst>
          </p:cNvPr>
          <p:cNvSpPr>
            <a:spLocks noGrp="1"/>
          </p:cNvSpPr>
          <p:nvPr>
            <p:ph idx="1"/>
          </p:nvPr>
        </p:nvSpPr>
        <p:spPr/>
        <p:txBody>
          <a:bodyPr/>
          <a:lstStyle/>
          <a:p>
            <a:r>
              <a:rPr lang="en-US" dirty="0"/>
              <a:t>Since the vast majority of algorithms of interest operate on data, particular ways of organizing data play a critical role in the design and analysis of algorithms. </a:t>
            </a:r>
          </a:p>
          <a:p>
            <a:r>
              <a:rPr lang="en-US" dirty="0"/>
              <a:t>A data structure can be defined as a particular scheme of organizing related data items. </a:t>
            </a:r>
          </a:p>
          <a:p>
            <a:r>
              <a:rPr lang="en-US" dirty="0"/>
              <a:t>The nature of the data items is dictated by the problem at hand; they can range from elementary data types (e.g., integers or characters) to data structures (e.g., a one-dimensional array of one-dimensional arrays is often used for implementing matrices). </a:t>
            </a:r>
          </a:p>
          <a:p>
            <a:r>
              <a:rPr lang="en-US" dirty="0"/>
              <a:t>There are a few data structures that have proved to be particularly important for computer algorithms. </a:t>
            </a:r>
          </a:p>
        </p:txBody>
      </p:sp>
    </p:spTree>
    <p:extLst>
      <p:ext uri="{BB962C8B-B14F-4D97-AF65-F5344CB8AC3E}">
        <p14:creationId xmlns:p14="http://schemas.microsoft.com/office/powerpoint/2010/main" val="3507028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0B8CF-37AE-3C39-BE1E-5E8368CDC28F}"/>
              </a:ext>
            </a:extLst>
          </p:cNvPr>
          <p:cNvSpPr>
            <a:spLocks noGrp="1"/>
          </p:cNvSpPr>
          <p:nvPr>
            <p:ph type="title"/>
          </p:nvPr>
        </p:nvSpPr>
        <p:spPr/>
        <p:txBody>
          <a:bodyPr/>
          <a:lstStyle/>
          <a:p>
            <a:r>
              <a:rPr lang="en-US" dirty="0"/>
              <a:t>Linear Data Structures </a:t>
            </a:r>
          </a:p>
        </p:txBody>
      </p:sp>
      <p:sp>
        <p:nvSpPr>
          <p:cNvPr id="3" name="Content Placeholder 2">
            <a:extLst>
              <a:ext uri="{FF2B5EF4-FFF2-40B4-BE49-F238E27FC236}">
                <a16:creationId xmlns:a16="http://schemas.microsoft.com/office/drawing/2014/main" id="{EC7025CD-5EA9-E8A8-9261-CA4AB874FD42}"/>
              </a:ext>
            </a:extLst>
          </p:cNvPr>
          <p:cNvSpPr>
            <a:spLocks noGrp="1"/>
          </p:cNvSpPr>
          <p:nvPr>
            <p:ph idx="1"/>
          </p:nvPr>
        </p:nvSpPr>
        <p:spPr/>
        <p:txBody>
          <a:bodyPr/>
          <a:lstStyle/>
          <a:p>
            <a:r>
              <a:rPr lang="en-US" dirty="0"/>
              <a:t>The two most important elementary data structures are:</a:t>
            </a:r>
          </a:p>
          <a:p>
            <a:pPr lvl="1"/>
            <a:r>
              <a:rPr lang="en-US" dirty="0"/>
              <a:t>The array </a:t>
            </a:r>
          </a:p>
          <a:p>
            <a:pPr lvl="1"/>
            <a:r>
              <a:rPr lang="en-US" dirty="0"/>
              <a:t>The linked list. </a:t>
            </a:r>
          </a:p>
          <a:p>
            <a:endParaRPr lang="en-US" dirty="0"/>
          </a:p>
        </p:txBody>
      </p:sp>
    </p:spTree>
    <p:extLst>
      <p:ext uri="{BB962C8B-B14F-4D97-AF65-F5344CB8AC3E}">
        <p14:creationId xmlns:p14="http://schemas.microsoft.com/office/powerpoint/2010/main" val="564064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A14B6-9DE1-F656-983E-9B436205416F}"/>
              </a:ext>
            </a:extLst>
          </p:cNvPr>
          <p:cNvSpPr>
            <a:spLocks noGrp="1"/>
          </p:cNvSpPr>
          <p:nvPr>
            <p:ph type="title"/>
          </p:nvPr>
        </p:nvSpPr>
        <p:spPr/>
        <p:txBody>
          <a:bodyPr/>
          <a:lstStyle/>
          <a:p>
            <a:r>
              <a:rPr lang="en-US" dirty="0"/>
              <a:t>Arrays</a:t>
            </a:r>
          </a:p>
        </p:txBody>
      </p:sp>
      <p:sp>
        <p:nvSpPr>
          <p:cNvPr id="3" name="Content Placeholder 2">
            <a:extLst>
              <a:ext uri="{FF2B5EF4-FFF2-40B4-BE49-F238E27FC236}">
                <a16:creationId xmlns:a16="http://schemas.microsoft.com/office/drawing/2014/main" id="{5030516C-EF56-8AC2-1628-8D30F65E97AB}"/>
              </a:ext>
            </a:extLst>
          </p:cNvPr>
          <p:cNvSpPr>
            <a:spLocks noGrp="1"/>
          </p:cNvSpPr>
          <p:nvPr>
            <p:ph idx="1"/>
          </p:nvPr>
        </p:nvSpPr>
        <p:spPr/>
        <p:txBody>
          <a:bodyPr/>
          <a:lstStyle/>
          <a:p>
            <a:r>
              <a:rPr lang="en-US" dirty="0"/>
              <a:t>A </a:t>
            </a:r>
            <a:r>
              <a:rPr lang="en-US" b="1" dirty="0"/>
              <a:t>(one-dimensional) array </a:t>
            </a:r>
            <a:r>
              <a:rPr lang="en-US" dirty="0"/>
              <a:t>is a sequence of n items of the same data type that are stored contiguously in computer memory and made accessible by specifying a value of the array’s index </a:t>
            </a:r>
          </a:p>
          <a:p>
            <a:endParaRPr lang="en-US" dirty="0"/>
          </a:p>
        </p:txBody>
      </p:sp>
      <p:pic>
        <p:nvPicPr>
          <p:cNvPr id="4" name="Picture 3" descr="A white rectangular object with black border&#10;&#10;Description automatically generated">
            <a:extLst>
              <a:ext uri="{FF2B5EF4-FFF2-40B4-BE49-F238E27FC236}">
                <a16:creationId xmlns:a16="http://schemas.microsoft.com/office/drawing/2014/main" id="{70E2849A-36D4-FB07-3340-A00C9056DF91}"/>
              </a:ext>
            </a:extLst>
          </p:cNvPr>
          <p:cNvPicPr>
            <a:picLocks noChangeAspect="1"/>
          </p:cNvPicPr>
          <p:nvPr/>
        </p:nvPicPr>
        <p:blipFill>
          <a:blip r:embed="rId2"/>
          <a:stretch>
            <a:fillRect/>
          </a:stretch>
        </p:blipFill>
        <p:spPr>
          <a:xfrm>
            <a:off x="2651228" y="3429000"/>
            <a:ext cx="5473700" cy="812800"/>
          </a:xfrm>
          <a:prstGeom prst="rect">
            <a:avLst/>
          </a:prstGeom>
        </p:spPr>
      </p:pic>
      <p:sp>
        <p:nvSpPr>
          <p:cNvPr id="5" name="TextBox 4">
            <a:extLst>
              <a:ext uri="{FF2B5EF4-FFF2-40B4-BE49-F238E27FC236}">
                <a16:creationId xmlns:a16="http://schemas.microsoft.com/office/drawing/2014/main" id="{8363DC14-AEA6-D66A-63CE-467B87E233F0}"/>
              </a:ext>
            </a:extLst>
          </p:cNvPr>
          <p:cNvSpPr txBox="1"/>
          <p:nvPr/>
        </p:nvSpPr>
        <p:spPr>
          <a:xfrm>
            <a:off x="2651228" y="4423056"/>
            <a:ext cx="6098458" cy="369332"/>
          </a:xfrm>
          <a:prstGeom prst="rect">
            <a:avLst/>
          </a:prstGeom>
          <a:noFill/>
        </p:spPr>
        <p:txBody>
          <a:bodyPr wrap="square">
            <a:spAutoFit/>
          </a:bodyPr>
          <a:lstStyle/>
          <a:p>
            <a:pPr algn="ctr"/>
            <a:r>
              <a:rPr lang="en-US" dirty="0"/>
              <a:t>FIGURE 1.3 Array of n elements. </a:t>
            </a:r>
          </a:p>
        </p:txBody>
      </p:sp>
    </p:spTree>
    <p:extLst>
      <p:ext uri="{BB962C8B-B14F-4D97-AF65-F5344CB8AC3E}">
        <p14:creationId xmlns:p14="http://schemas.microsoft.com/office/powerpoint/2010/main" val="11826769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D7BA96-A0B9-0986-E025-21C04F545BA4}"/>
              </a:ext>
            </a:extLst>
          </p:cNvPr>
          <p:cNvSpPr>
            <a:spLocks noGrp="1"/>
          </p:cNvSpPr>
          <p:nvPr>
            <p:ph idx="1"/>
          </p:nvPr>
        </p:nvSpPr>
        <p:spPr>
          <a:xfrm>
            <a:off x="838200" y="1825625"/>
            <a:ext cx="10754032" cy="4351338"/>
          </a:xfrm>
        </p:spPr>
        <p:txBody>
          <a:bodyPr/>
          <a:lstStyle/>
          <a:p>
            <a:r>
              <a:rPr lang="en-US" dirty="0"/>
              <a:t>In the majority of cases, the index is an integer either between 0 and n − 1 or between 1 and n. </a:t>
            </a:r>
          </a:p>
          <a:p>
            <a:r>
              <a:rPr lang="en-US" dirty="0"/>
              <a:t>Some computer languages allow an array index to range between any two integer bounds low and high, and some even permit nonnumerical indices to specify, for example, data items corresponding to the 12 months of the year by the month names. </a:t>
            </a:r>
          </a:p>
          <a:p>
            <a:r>
              <a:rPr lang="en-US" dirty="0"/>
              <a:t>Each and every element of an array can be accessed in the same constant amount of time regardless of where in the array the element in question is located. This feature positively distinguishes arrays from linked lists. </a:t>
            </a:r>
          </a:p>
          <a:p>
            <a:pPr marL="0" indent="0">
              <a:buNone/>
            </a:pPr>
            <a:endParaRPr lang="en-US" dirty="0"/>
          </a:p>
          <a:p>
            <a:endParaRPr lang="en-US" dirty="0"/>
          </a:p>
        </p:txBody>
      </p:sp>
      <p:sp>
        <p:nvSpPr>
          <p:cNvPr id="11" name="Title 1">
            <a:extLst>
              <a:ext uri="{FF2B5EF4-FFF2-40B4-BE49-F238E27FC236}">
                <a16:creationId xmlns:a16="http://schemas.microsoft.com/office/drawing/2014/main" id="{F5E46861-42BC-A3BD-AB50-36A484E19A9E}"/>
              </a:ext>
            </a:extLst>
          </p:cNvPr>
          <p:cNvSpPr>
            <a:spLocks noGrp="1"/>
          </p:cNvSpPr>
          <p:nvPr>
            <p:ph type="title"/>
          </p:nvPr>
        </p:nvSpPr>
        <p:spPr/>
        <p:txBody>
          <a:bodyPr/>
          <a:lstStyle/>
          <a:p>
            <a:r>
              <a:rPr lang="en-US" dirty="0"/>
              <a:t>Arrays (cont.)</a:t>
            </a:r>
          </a:p>
        </p:txBody>
      </p:sp>
    </p:spTree>
    <p:extLst>
      <p:ext uri="{BB962C8B-B14F-4D97-AF65-F5344CB8AC3E}">
        <p14:creationId xmlns:p14="http://schemas.microsoft.com/office/powerpoint/2010/main" val="4052841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4F024-8018-5BEE-7005-901FB86A64D6}"/>
              </a:ext>
            </a:extLst>
          </p:cNvPr>
          <p:cNvSpPr>
            <a:spLocks noGrp="1"/>
          </p:cNvSpPr>
          <p:nvPr>
            <p:ph idx="1"/>
          </p:nvPr>
        </p:nvSpPr>
        <p:spPr/>
        <p:txBody>
          <a:bodyPr>
            <a:normAutofit/>
          </a:bodyPr>
          <a:lstStyle/>
          <a:p>
            <a:r>
              <a:rPr lang="en-US" dirty="0"/>
              <a:t>Arrays are used for implementing a variety of other data structures. </a:t>
            </a:r>
          </a:p>
          <a:p>
            <a:r>
              <a:rPr lang="en-US" dirty="0"/>
              <a:t>Prominent among them is the </a:t>
            </a:r>
            <a:r>
              <a:rPr lang="en-US" b="1" dirty="0"/>
              <a:t>string</a:t>
            </a:r>
            <a:r>
              <a:rPr lang="en-US" dirty="0"/>
              <a:t>, a sequence of characters from an alphabet terminated by a special character indicating the string’s end. </a:t>
            </a:r>
          </a:p>
          <a:p>
            <a:r>
              <a:rPr lang="en-US" dirty="0"/>
              <a:t>Strings composed of zeros and ones are called binary strings or bit strings. </a:t>
            </a:r>
          </a:p>
          <a:p>
            <a:r>
              <a:rPr lang="en-US" dirty="0"/>
              <a:t>Strings are indispensable for processing textual data, defining computer languages and compiling programs written in them, and studying abstract computational models. </a:t>
            </a:r>
          </a:p>
          <a:p>
            <a:endParaRPr lang="en-US" dirty="0"/>
          </a:p>
        </p:txBody>
      </p:sp>
      <p:sp>
        <p:nvSpPr>
          <p:cNvPr id="10" name="Title 1">
            <a:extLst>
              <a:ext uri="{FF2B5EF4-FFF2-40B4-BE49-F238E27FC236}">
                <a16:creationId xmlns:a16="http://schemas.microsoft.com/office/drawing/2014/main" id="{2C23A014-8BFF-2932-3ABD-ABB8AD9FE985}"/>
              </a:ext>
            </a:extLst>
          </p:cNvPr>
          <p:cNvSpPr>
            <a:spLocks noGrp="1"/>
          </p:cNvSpPr>
          <p:nvPr>
            <p:ph type="title"/>
          </p:nvPr>
        </p:nvSpPr>
        <p:spPr>
          <a:xfrm>
            <a:off x="838200" y="18255"/>
            <a:ext cx="10515600" cy="1325563"/>
          </a:xfrm>
        </p:spPr>
        <p:txBody>
          <a:bodyPr/>
          <a:lstStyle/>
          <a:p>
            <a:r>
              <a:rPr lang="en-US" dirty="0"/>
              <a:t>Arrays (cont.)</a:t>
            </a:r>
          </a:p>
        </p:txBody>
      </p:sp>
    </p:spTree>
    <p:extLst>
      <p:ext uri="{BB962C8B-B14F-4D97-AF65-F5344CB8AC3E}">
        <p14:creationId xmlns:p14="http://schemas.microsoft.com/office/powerpoint/2010/main" val="30793731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6A8FA8-6B29-8FEB-9948-4DD62AB59D9C}"/>
              </a:ext>
            </a:extLst>
          </p:cNvPr>
          <p:cNvSpPr>
            <a:spLocks noGrp="1"/>
          </p:cNvSpPr>
          <p:nvPr>
            <p:ph idx="1"/>
          </p:nvPr>
        </p:nvSpPr>
        <p:spPr/>
        <p:txBody>
          <a:bodyPr/>
          <a:lstStyle/>
          <a:p>
            <a:r>
              <a:rPr lang="en-US" dirty="0"/>
              <a:t>Operations we usually perform on strings differ from those we typically perform on other arrays (say, arrays of numbers). They include:</a:t>
            </a:r>
          </a:p>
          <a:p>
            <a:pPr lvl="1"/>
            <a:r>
              <a:rPr lang="en-US" dirty="0"/>
              <a:t>Computing the string length, </a:t>
            </a:r>
          </a:p>
          <a:p>
            <a:pPr lvl="1"/>
            <a:r>
              <a:rPr lang="en-US" dirty="0"/>
              <a:t>Comparing two strings to determine which one precedes the other in lexicographic (i.e., alphabetical) order, </a:t>
            </a:r>
          </a:p>
          <a:p>
            <a:pPr lvl="1"/>
            <a:r>
              <a:rPr lang="en-US" dirty="0"/>
              <a:t>Concatenating two strings (forming one string from two given strings by appending the second to the end of the first). </a:t>
            </a:r>
          </a:p>
          <a:p>
            <a:endParaRPr lang="en-US" dirty="0"/>
          </a:p>
        </p:txBody>
      </p:sp>
      <p:sp>
        <p:nvSpPr>
          <p:cNvPr id="7" name="Title 1">
            <a:extLst>
              <a:ext uri="{FF2B5EF4-FFF2-40B4-BE49-F238E27FC236}">
                <a16:creationId xmlns:a16="http://schemas.microsoft.com/office/drawing/2014/main" id="{07104C87-5A97-E94B-1CDC-E61995F244CD}"/>
              </a:ext>
            </a:extLst>
          </p:cNvPr>
          <p:cNvSpPr>
            <a:spLocks noGrp="1"/>
          </p:cNvSpPr>
          <p:nvPr>
            <p:ph type="title"/>
          </p:nvPr>
        </p:nvSpPr>
        <p:spPr>
          <a:xfrm>
            <a:off x="838200" y="18255"/>
            <a:ext cx="10515600" cy="1325563"/>
          </a:xfrm>
        </p:spPr>
        <p:txBody>
          <a:bodyPr/>
          <a:lstStyle/>
          <a:p>
            <a:r>
              <a:rPr lang="en-US" dirty="0"/>
              <a:t>Arrays (cont.)</a:t>
            </a:r>
          </a:p>
        </p:txBody>
      </p:sp>
    </p:spTree>
    <p:extLst>
      <p:ext uri="{BB962C8B-B14F-4D97-AF65-F5344CB8AC3E}">
        <p14:creationId xmlns:p14="http://schemas.microsoft.com/office/powerpoint/2010/main" val="5323098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868A6C-0331-4176-1925-20BF6D8676CF}"/>
              </a:ext>
            </a:extLst>
          </p:cNvPr>
          <p:cNvSpPr>
            <a:spLocks noGrp="1"/>
          </p:cNvSpPr>
          <p:nvPr>
            <p:ph idx="1"/>
          </p:nvPr>
        </p:nvSpPr>
        <p:spPr/>
        <p:txBody>
          <a:bodyPr/>
          <a:lstStyle/>
          <a:p>
            <a:r>
              <a:rPr lang="en-US" dirty="0"/>
              <a:t>A linked list is a sequence of zero or more elements called nodes, each containing two kinds of information: some data and one or more links called pointers to other nodes of the linked list. </a:t>
            </a:r>
          </a:p>
          <a:p>
            <a:r>
              <a:rPr lang="en-US" dirty="0"/>
              <a:t>(A special pointer called “null” is used to indicate the absence of a node’s successor.)</a:t>
            </a:r>
          </a:p>
          <a:p>
            <a:r>
              <a:rPr lang="en-US" dirty="0"/>
              <a:t> In a singly linked list, each node except the last one contains a single pointer to the next element.</a:t>
            </a:r>
          </a:p>
          <a:p>
            <a:endParaRPr lang="en-US" dirty="0"/>
          </a:p>
        </p:txBody>
      </p:sp>
      <p:pic>
        <p:nvPicPr>
          <p:cNvPr id="5" name="Picture 4">
            <a:extLst>
              <a:ext uri="{FF2B5EF4-FFF2-40B4-BE49-F238E27FC236}">
                <a16:creationId xmlns:a16="http://schemas.microsoft.com/office/drawing/2014/main" id="{C108A016-59D4-81A8-3496-6C69C4929586}"/>
              </a:ext>
            </a:extLst>
          </p:cNvPr>
          <p:cNvPicPr>
            <a:picLocks noChangeAspect="1"/>
          </p:cNvPicPr>
          <p:nvPr/>
        </p:nvPicPr>
        <p:blipFill>
          <a:blip r:embed="rId2"/>
          <a:stretch>
            <a:fillRect/>
          </a:stretch>
        </p:blipFill>
        <p:spPr>
          <a:xfrm>
            <a:off x="2670687" y="4307963"/>
            <a:ext cx="6172200" cy="749300"/>
          </a:xfrm>
          <a:prstGeom prst="rect">
            <a:avLst/>
          </a:prstGeom>
        </p:spPr>
      </p:pic>
      <p:sp>
        <p:nvSpPr>
          <p:cNvPr id="7" name="TextBox 6">
            <a:extLst>
              <a:ext uri="{FF2B5EF4-FFF2-40B4-BE49-F238E27FC236}">
                <a16:creationId xmlns:a16="http://schemas.microsoft.com/office/drawing/2014/main" id="{5D5C4B60-A9D1-B379-95FA-45E0E1F6E692}"/>
              </a:ext>
            </a:extLst>
          </p:cNvPr>
          <p:cNvSpPr txBox="1"/>
          <p:nvPr/>
        </p:nvSpPr>
        <p:spPr>
          <a:xfrm>
            <a:off x="3181964" y="5589328"/>
            <a:ext cx="4855907" cy="369332"/>
          </a:xfrm>
          <a:prstGeom prst="rect">
            <a:avLst/>
          </a:prstGeom>
          <a:noFill/>
        </p:spPr>
        <p:txBody>
          <a:bodyPr wrap="square">
            <a:spAutoFit/>
          </a:bodyPr>
          <a:lstStyle/>
          <a:p>
            <a:r>
              <a:rPr lang="en-US" dirty="0"/>
              <a:t>FIGURE 1.4 Singly linked list of n elements. </a:t>
            </a:r>
          </a:p>
        </p:txBody>
      </p:sp>
      <p:sp>
        <p:nvSpPr>
          <p:cNvPr id="8" name="Title 1">
            <a:extLst>
              <a:ext uri="{FF2B5EF4-FFF2-40B4-BE49-F238E27FC236}">
                <a16:creationId xmlns:a16="http://schemas.microsoft.com/office/drawing/2014/main" id="{84F587F4-2FE2-C35E-D7E5-1671081B877C}"/>
              </a:ext>
            </a:extLst>
          </p:cNvPr>
          <p:cNvSpPr>
            <a:spLocks noGrp="1"/>
          </p:cNvSpPr>
          <p:nvPr>
            <p:ph type="title"/>
          </p:nvPr>
        </p:nvSpPr>
        <p:spPr>
          <a:xfrm>
            <a:off x="838200" y="0"/>
            <a:ext cx="10515600" cy="1325563"/>
          </a:xfrm>
        </p:spPr>
        <p:txBody>
          <a:bodyPr/>
          <a:lstStyle/>
          <a:p>
            <a:r>
              <a:rPr lang="en-US" dirty="0"/>
              <a:t>Linked List</a:t>
            </a:r>
          </a:p>
        </p:txBody>
      </p:sp>
    </p:spTree>
    <p:extLst>
      <p:ext uri="{BB962C8B-B14F-4D97-AF65-F5344CB8AC3E}">
        <p14:creationId xmlns:p14="http://schemas.microsoft.com/office/powerpoint/2010/main" val="6990155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A8D33F-E5A9-70AA-3B9D-8BBD69FE0A99}"/>
              </a:ext>
            </a:extLst>
          </p:cNvPr>
          <p:cNvSpPr>
            <a:spLocks noGrp="1"/>
          </p:cNvSpPr>
          <p:nvPr>
            <p:ph idx="1"/>
          </p:nvPr>
        </p:nvSpPr>
        <p:spPr/>
        <p:txBody>
          <a:bodyPr/>
          <a:lstStyle/>
          <a:p>
            <a:r>
              <a:rPr lang="en-US" dirty="0"/>
              <a:t>To access a particular node of a linked list, one starts with the list’s first node and traverses the pointer chain until the particular node is reached. </a:t>
            </a:r>
          </a:p>
          <a:p>
            <a:r>
              <a:rPr lang="en-US" dirty="0"/>
              <a:t>Thus, the time needed to access an element of a singly linked list, unlike that of an array, depends on where in the list the element is located. </a:t>
            </a:r>
          </a:p>
          <a:p>
            <a:r>
              <a:rPr lang="en-US" dirty="0"/>
              <a:t>On the positive side, linked lists do not require any preliminary reservation of the computer memory, and insertions and deletions can be made quite efficiently in a linked list by reconnecting a few appropriate pointers. </a:t>
            </a:r>
          </a:p>
          <a:p>
            <a:endParaRPr lang="en-US" dirty="0"/>
          </a:p>
          <a:p>
            <a:endParaRPr lang="en-US" dirty="0"/>
          </a:p>
        </p:txBody>
      </p:sp>
      <p:sp>
        <p:nvSpPr>
          <p:cNvPr id="4" name="Title 1">
            <a:extLst>
              <a:ext uri="{FF2B5EF4-FFF2-40B4-BE49-F238E27FC236}">
                <a16:creationId xmlns:a16="http://schemas.microsoft.com/office/drawing/2014/main" id="{2E9747C3-F0B1-57A1-2678-2A9D3250DF7A}"/>
              </a:ext>
            </a:extLst>
          </p:cNvPr>
          <p:cNvSpPr>
            <a:spLocks noGrp="1"/>
          </p:cNvSpPr>
          <p:nvPr>
            <p:ph type="title"/>
          </p:nvPr>
        </p:nvSpPr>
        <p:spPr>
          <a:xfrm>
            <a:off x="838200" y="18255"/>
            <a:ext cx="10515600" cy="1325563"/>
          </a:xfrm>
        </p:spPr>
        <p:txBody>
          <a:bodyPr/>
          <a:lstStyle/>
          <a:p>
            <a:r>
              <a:rPr lang="en-US" dirty="0"/>
              <a:t>Linked List (cont.) </a:t>
            </a:r>
          </a:p>
        </p:txBody>
      </p:sp>
    </p:spTree>
    <p:extLst>
      <p:ext uri="{BB962C8B-B14F-4D97-AF65-F5344CB8AC3E}">
        <p14:creationId xmlns:p14="http://schemas.microsoft.com/office/powerpoint/2010/main" val="36309715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EAE50E-03C4-43F6-C5A0-51B674B39448}"/>
              </a:ext>
            </a:extLst>
          </p:cNvPr>
          <p:cNvSpPr>
            <a:spLocks noGrp="1"/>
          </p:cNvSpPr>
          <p:nvPr>
            <p:ph idx="1"/>
          </p:nvPr>
        </p:nvSpPr>
        <p:spPr/>
        <p:txBody>
          <a:bodyPr/>
          <a:lstStyle/>
          <a:p>
            <a:r>
              <a:rPr lang="en-US" dirty="0"/>
              <a:t>We can exploit flexibility of the linked list structure in a variety of ways. </a:t>
            </a:r>
          </a:p>
          <a:p>
            <a:pPr lvl="1"/>
            <a:r>
              <a:rPr lang="en-US" dirty="0"/>
              <a:t>For example, it is often convenient to start a linked list with a special node called the header. </a:t>
            </a:r>
          </a:p>
          <a:p>
            <a:pPr lvl="2"/>
            <a:r>
              <a:rPr lang="en-US" dirty="0"/>
              <a:t>This node may contain information about the linked list itself, such as its current length; it may also contain, in addition to a pointer to the first element, a pointer to the linked list’s last element. </a:t>
            </a:r>
          </a:p>
          <a:p>
            <a:endParaRPr lang="en-US" dirty="0"/>
          </a:p>
        </p:txBody>
      </p:sp>
      <p:sp>
        <p:nvSpPr>
          <p:cNvPr id="4" name="Title 1">
            <a:extLst>
              <a:ext uri="{FF2B5EF4-FFF2-40B4-BE49-F238E27FC236}">
                <a16:creationId xmlns:a16="http://schemas.microsoft.com/office/drawing/2014/main" id="{A5FEEF32-F967-7B02-8D2D-9255E73862D9}"/>
              </a:ext>
            </a:extLst>
          </p:cNvPr>
          <p:cNvSpPr>
            <a:spLocks noGrp="1"/>
          </p:cNvSpPr>
          <p:nvPr>
            <p:ph type="title"/>
          </p:nvPr>
        </p:nvSpPr>
        <p:spPr>
          <a:xfrm>
            <a:off x="838200" y="18255"/>
            <a:ext cx="10515600" cy="1325563"/>
          </a:xfrm>
        </p:spPr>
        <p:txBody>
          <a:bodyPr/>
          <a:lstStyle/>
          <a:p>
            <a:r>
              <a:rPr lang="en-US" dirty="0"/>
              <a:t>Linked List (cont.) </a:t>
            </a:r>
          </a:p>
        </p:txBody>
      </p:sp>
    </p:spTree>
    <p:extLst>
      <p:ext uri="{BB962C8B-B14F-4D97-AF65-F5344CB8AC3E}">
        <p14:creationId xmlns:p14="http://schemas.microsoft.com/office/powerpoint/2010/main" val="4346570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9BDE03-33B6-0464-22AB-B789F741807E}"/>
              </a:ext>
            </a:extLst>
          </p:cNvPr>
          <p:cNvSpPr>
            <a:spLocks noGrp="1"/>
          </p:cNvSpPr>
          <p:nvPr>
            <p:ph idx="1"/>
          </p:nvPr>
        </p:nvSpPr>
        <p:spPr/>
        <p:txBody>
          <a:bodyPr/>
          <a:lstStyle/>
          <a:p>
            <a:r>
              <a:rPr lang="en-US" dirty="0"/>
              <a:t>Another extension is the structure called the doubly linked list , in which every node, except the first and the last, contains pointers to both its successor and its predecessor </a:t>
            </a:r>
          </a:p>
          <a:p>
            <a:endParaRPr lang="en-US" dirty="0"/>
          </a:p>
        </p:txBody>
      </p:sp>
      <p:sp>
        <p:nvSpPr>
          <p:cNvPr id="4" name="Title 1">
            <a:extLst>
              <a:ext uri="{FF2B5EF4-FFF2-40B4-BE49-F238E27FC236}">
                <a16:creationId xmlns:a16="http://schemas.microsoft.com/office/drawing/2014/main" id="{AC327ECA-533B-5E16-A195-DFE341898CA0}"/>
              </a:ext>
            </a:extLst>
          </p:cNvPr>
          <p:cNvSpPr>
            <a:spLocks noGrp="1"/>
          </p:cNvSpPr>
          <p:nvPr>
            <p:ph type="title"/>
          </p:nvPr>
        </p:nvSpPr>
        <p:spPr>
          <a:xfrm>
            <a:off x="838200" y="18255"/>
            <a:ext cx="10515600" cy="1325563"/>
          </a:xfrm>
        </p:spPr>
        <p:txBody>
          <a:bodyPr/>
          <a:lstStyle/>
          <a:p>
            <a:r>
              <a:rPr lang="en-US" dirty="0"/>
              <a:t>Linked List (cont.) </a:t>
            </a:r>
          </a:p>
        </p:txBody>
      </p:sp>
    </p:spTree>
    <p:extLst>
      <p:ext uri="{BB962C8B-B14F-4D97-AF65-F5344CB8AC3E}">
        <p14:creationId xmlns:p14="http://schemas.microsoft.com/office/powerpoint/2010/main" val="26876912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2B1B0F-77DE-A21B-DBD4-F52A69E73182}"/>
              </a:ext>
            </a:extLst>
          </p:cNvPr>
          <p:cNvSpPr>
            <a:spLocks noGrp="1"/>
          </p:cNvSpPr>
          <p:nvPr>
            <p:ph idx="1"/>
          </p:nvPr>
        </p:nvSpPr>
        <p:spPr/>
        <p:txBody>
          <a:bodyPr/>
          <a:lstStyle/>
          <a:p>
            <a:r>
              <a:rPr lang="en-US" dirty="0"/>
              <a:t>The array and linked list are two principal choices in representing a more abstract data structure called a </a:t>
            </a:r>
            <a:r>
              <a:rPr lang="en-US" b="1" dirty="0"/>
              <a:t>linear list</a:t>
            </a:r>
            <a:r>
              <a:rPr lang="en-US" dirty="0"/>
              <a:t> or simply a </a:t>
            </a:r>
            <a:r>
              <a:rPr lang="en-US" b="1" dirty="0"/>
              <a:t>list</a:t>
            </a:r>
            <a:r>
              <a:rPr lang="en-US" dirty="0"/>
              <a:t>. </a:t>
            </a:r>
          </a:p>
          <a:p>
            <a:r>
              <a:rPr lang="en-US" dirty="0"/>
              <a:t>A </a:t>
            </a:r>
            <a:r>
              <a:rPr lang="en-US" b="1" dirty="0"/>
              <a:t>list</a:t>
            </a:r>
            <a:r>
              <a:rPr lang="en-US" dirty="0"/>
              <a:t> is a </a:t>
            </a:r>
            <a:r>
              <a:rPr lang="en-US" b="1" dirty="0"/>
              <a:t>finite sequence of data items</a:t>
            </a:r>
            <a:r>
              <a:rPr lang="en-US" dirty="0"/>
              <a:t>, i.e., a </a:t>
            </a:r>
            <a:r>
              <a:rPr lang="en-US" b="1" dirty="0"/>
              <a:t>collection of data items arranged in a certain linear order. </a:t>
            </a:r>
          </a:p>
          <a:p>
            <a:r>
              <a:rPr lang="en-US" dirty="0"/>
              <a:t>The basic operations performed on this data structure are searching for, inserting, and deleting an element. </a:t>
            </a:r>
          </a:p>
          <a:p>
            <a:r>
              <a:rPr lang="en-US" dirty="0"/>
              <a:t>Two special types of lists, stacks and queues, are particularly important. </a:t>
            </a:r>
          </a:p>
          <a:p>
            <a:endParaRPr lang="en-US" dirty="0"/>
          </a:p>
          <a:p>
            <a:endParaRPr lang="en-US" dirty="0"/>
          </a:p>
        </p:txBody>
      </p:sp>
      <p:sp>
        <p:nvSpPr>
          <p:cNvPr id="7" name="Title 1">
            <a:extLst>
              <a:ext uri="{FF2B5EF4-FFF2-40B4-BE49-F238E27FC236}">
                <a16:creationId xmlns:a16="http://schemas.microsoft.com/office/drawing/2014/main" id="{71D80E40-616B-EF4D-F379-3920641599CB}"/>
              </a:ext>
            </a:extLst>
          </p:cNvPr>
          <p:cNvSpPr>
            <a:spLocks noGrp="1"/>
          </p:cNvSpPr>
          <p:nvPr>
            <p:ph type="title"/>
          </p:nvPr>
        </p:nvSpPr>
        <p:spPr>
          <a:xfrm>
            <a:off x="838200" y="18255"/>
            <a:ext cx="10515600" cy="1325563"/>
          </a:xfrm>
        </p:spPr>
        <p:txBody>
          <a:bodyPr/>
          <a:lstStyle/>
          <a:p>
            <a:r>
              <a:rPr lang="en-US" dirty="0"/>
              <a:t>Linked List (cont.) </a:t>
            </a:r>
          </a:p>
        </p:txBody>
      </p:sp>
    </p:spTree>
    <p:extLst>
      <p:ext uri="{BB962C8B-B14F-4D97-AF65-F5344CB8AC3E}">
        <p14:creationId xmlns:p14="http://schemas.microsoft.com/office/powerpoint/2010/main" val="2650441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276FF-1080-2AC9-BDE7-C684CB7260B5}"/>
              </a:ext>
            </a:extLst>
          </p:cNvPr>
          <p:cNvSpPr>
            <a:spLocks noGrp="1"/>
          </p:cNvSpPr>
          <p:nvPr>
            <p:ph type="title"/>
          </p:nvPr>
        </p:nvSpPr>
        <p:spPr/>
        <p:txBody>
          <a:bodyPr/>
          <a:lstStyle/>
          <a:p>
            <a:r>
              <a:rPr lang="en-US" dirty="0"/>
              <a:t>Stack</a:t>
            </a:r>
          </a:p>
        </p:txBody>
      </p:sp>
      <p:sp>
        <p:nvSpPr>
          <p:cNvPr id="3" name="Content Placeholder 2">
            <a:extLst>
              <a:ext uri="{FF2B5EF4-FFF2-40B4-BE49-F238E27FC236}">
                <a16:creationId xmlns:a16="http://schemas.microsoft.com/office/drawing/2014/main" id="{2D7D1481-8DDA-2970-2795-835B5C9316C5}"/>
              </a:ext>
            </a:extLst>
          </p:cNvPr>
          <p:cNvSpPr>
            <a:spLocks noGrp="1"/>
          </p:cNvSpPr>
          <p:nvPr>
            <p:ph idx="1"/>
          </p:nvPr>
        </p:nvSpPr>
        <p:spPr/>
        <p:txBody>
          <a:bodyPr/>
          <a:lstStyle/>
          <a:p>
            <a:r>
              <a:rPr lang="en-US" dirty="0"/>
              <a:t>A stack is a list in which insertions and deletions can be done only at the end. </a:t>
            </a:r>
          </a:p>
          <a:p>
            <a:r>
              <a:rPr lang="en-US" dirty="0"/>
              <a:t>This end is called the </a:t>
            </a:r>
            <a:r>
              <a:rPr lang="en-US" b="1" dirty="0"/>
              <a:t>top</a:t>
            </a:r>
            <a:r>
              <a:rPr lang="en-US" dirty="0"/>
              <a:t> because a stack is usually visualized not horizontally but vertically—akin to a stack of plates whose “operations” it mimics very closely. </a:t>
            </a:r>
          </a:p>
          <a:p>
            <a:r>
              <a:rPr lang="en-US" dirty="0"/>
              <a:t>As a result, when elements are added to (pushed onto) a stack and deleted from (popped off) it, </a:t>
            </a:r>
          </a:p>
          <a:p>
            <a:r>
              <a:rPr lang="en-US" dirty="0"/>
              <a:t>The structure operates in a “last-in–first-out” (LIFO) fashion— exactly like a stack of plates if we can add or remove a plate only from the top. </a:t>
            </a:r>
          </a:p>
          <a:p>
            <a:r>
              <a:rPr lang="en-US" dirty="0"/>
              <a:t>Stacks have a multitude of applications; in particular, they are indispensable for implementing recursive algorithms. </a:t>
            </a:r>
          </a:p>
          <a:p>
            <a:endParaRPr lang="en-US" dirty="0"/>
          </a:p>
        </p:txBody>
      </p:sp>
    </p:spTree>
    <p:extLst>
      <p:ext uri="{BB962C8B-B14F-4D97-AF65-F5344CB8AC3E}">
        <p14:creationId xmlns:p14="http://schemas.microsoft.com/office/powerpoint/2010/main" val="29227422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E7143-4B7D-B571-0E08-9F15FF411A08}"/>
              </a:ext>
            </a:extLst>
          </p:cNvPr>
          <p:cNvSpPr>
            <a:spLocks noGrp="1"/>
          </p:cNvSpPr>
          <p:nvPr>
            <p:ph type="title"/>
          </p:nvPr>
        </p:nvSpPr>
        <p:spPr/>
        <p:txBody>
          <a:bodyPr/>
          <a:lstStyle/>
          <a:p>
            <a:r>
              <a:rPr lang="en-US" dirty="0"/>
              <a:t>Queue</a:t>
            </a:r>
          </a:p>
        </p:txBody>
      </p:sp>
      <p:sp>
        <p:nvSpPr>
          <p:cNvPr id="3" name="Content Placeholder 2">
            <a:extLst>
              <a:ext uri="{FF2B5EF4-FFF2-40B4-BE49-F238E27FC236}">
                <a16:creationId xmlns:a16="http://schemas.microsoft.com/office/drawing/2014/main" id="{1BAD7729-7420-C95B-D4E1-8E7F7669886A}"/>
              </a:ext>
            </a:extLst>
          </p:cNvPr>
          <p:cNvSpPr>
            <a:spLocks noGrp="1"/>
          </p:cNvSpPr>
          <p:nvPr>
            <p:ph idx="1"/>
          </p:nvPr>
        </p:nvSpPr>
        <p:spPr/>
        <p:txBody>
          <a:bodyPr/>
          <a:lstStyle/>
          <a:p>
            <a:r>
              <a:rPr lang="en-US" dirty="0"/>
              <a:t>A queue, on the other hand, is a list from which elements are deleted from one end of the structure, called the front (this operation is called dequeue), and new elements are added to the other end, called the rear (this operation is called enqueue). </a:t>
            </a:r>
          </a:p>
          <a:p>
            <a:r>
              <a:rPr lang="en-US" dirty="0"/>
              <a:t>Consequently, a queue operates in a “first-in–first-out” (FIFO) fashion—akin to a queue of customers served by a single teller in a bank. </a:t>
            </a:r>
          </a:p>
          <a:p>
            <a:r>
              <a:rPr lang="en-US" dirty="0"/>
              <a:t>Queues also have many important applications, including several algorithms for graph problems. </a:t>
            </a:r>
          </a:p>
          <a:p>
            <a:endParaRPr lang="en-US" dirty="0"/>
          </a:p>
        </p:txBody>
      </p:sp>
    </p:spTree>
    <p:extLst>
      <p:ext uri="{BB962C8B-B14F-4D97-AF65-F5344CB8AC3E}">
        <p14:creationId xmlns:p14="http://schemas.microsoft.com/office/powerpoint/2010/main" val="9759614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0517D1-32E0-4BB4-37B6-C943B29ACC73}"/>
              </a:ext>
            </a:extLst>
          </p:cNvPr>
          <p:cNvSpPr>
            <a:spLocks noGrp="1"/>
          </p:cNvSpPr>
          <p:nvPr>
            <p:ph idx="1"/>
          </p:nvPr>
        </p:nvSpPr>
        <p:spPr/>
        <p:txBody>
          <a:bodyPr/>
          <a:lstStyle/>
          <a:p>
            <a:r>
              <a:rPr lang="en-US" dirty="0"/>
              <a:t>Many important applications require selection of an item of the highest priority among a dynamically changing set of candidates. </a:t>
            </a:r>
          </a:p>
          <a:p>
            <a:pPr lvl="1"/>
            <a:r>
              <a:rPr lang="en-US" dirty="0"/>
              <a:t>A data structure that seeks to satisfy the needs of such applications is called a </a:t>
            </a:r>
            <a:r>
              <a:rPr lang="en-US" b="1" dirty="0"/>
              <a:t>priority queue</a:t>
            </a:r>
            <a:r>
              <a:rPr lang="en-US" dirty="0"/>
              <a:t>. </a:t>
            </a:r>
          </a:p>
          <a:p>
            <a:r>
              <a:rPr lang="en-US" dirty="0"/>
              <a:t>A </a:t>
            </a:r>
            <a:r>
              <a:rPr lang="en-US" b="1" dirty="0"/>
              <a:t>priority queue </a:t>
            </a:r>
            <a:r>
              <a:rPr lang="en-US" dirty="0"/>
              <a:t>is a collection of data items from a totally ordered universe (most often, integer or real numbers).</a:t>
            </a:r>
          </a:p>
          <a:p>
            <a:r>
              <a:rPr lang="en-US" dirty="0"/>
              <a:t>The principal operations on a priority queue are finding its largest element, deleting its largest element, and adding a new element. </a:t>
            </a:r>
          </a:p>
          <a:p>
            <a:r>
              <a:rPr lang="en-US" dirty="0"/>
              <a:t>Straightforward implementations of this data structure can be based on either an array or a sorted array, but neither of these options yields the most efficient solution possible. </a:t>
            </a:r>
          </a:p>
          <a:p>
            <a:r>
              <a:rPr lang="en-US" dirty="0"/>
              <a:t>A better implementation of a priority queue is based on an ingenious data structure called the heap. </a:t>
            </a:r>
          </a:p>
          <a:p>
            <a:endParaRPr lang="en-US" dirty="0"/>
          </a:p>
        </p:txBody>
      </p:sp>
      <p:sp>
        <p:nvSpPr>
          <p:cNvPr id="4" name="Title 1">
            <a:extLst>
              <a:ext uri="{FF2B5EF4-FFF2-40B4-BE49-F238E27FC236}">
                <a16:creationId xmlns:a16="http://schemas.microsoft.com/office/drawing/2014/main" id="{0285F6DA-854C-CC48-9C64-19F8E1FB6A27}"/>
              </a:ext>
            </a:extLst>
          </p:cNvPr>
          <p:cNvSpPr>
            <a:spLocks noGrp="1"/>
          </p:cNvSpPr>
          <p:nvPr>
            <p:ph type="title"/>
          </p:nvPr>
        </p:nvSpPr>
        <p:spPr>
          <a:xfrm>
            <a:off x="838200" y="18255"/>
            <a:ext cx="10515600" cy="1325563"/>
          </a:xfrm>
        </p:spPr>
        <p:txBody>
          <a:bodyPr/>
          <a:lstStyle/>
          <a:p>
            <a:r>
              <a:rPr lang="en-US" dirty="0"/>
              <a:t>Queue (cont.)</a:t>
            </a:r>
          </a:p>
        </p:txBody>
      </p:sp>
    </p:spTree>
    <p:extLst>
      <p:ext uri="{BB962C8B-B14F-4D97-AF65-F5344CB8AC3E}">
        <p14:creationId xmlns:p14="http://schemas.microsoft.com/office/powerpoint/2010/main" val="4441198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79AA8-C917-7908-B0A6-FB1443466270}"/>
              </a:ext>
            </a:extLst>
          </p:cNvPr>
          <p:cNvSpPr>
            <a:spLocks noGrp="1"/>
          </p:cNvSpPr>
          <p:nvPr>
            <p:ph type="title"/>
          </p:nvPr>
        </p:nvSpPr>
        <p:spPr/>
        <p:txBody>
          <a:bodyPr/>
          <a:lstStyle/>
          <a:p>
            <a:r>
              <a:rPr lang="en-US" dirty="0"/>
              <a:t>Graphs </a:t>
            </a:r>
          </a:p>
        </p:txBody>
      </p:sp>
      <p:sp>
        <p:nvSpPr>
          <p:cNvPr id="3" name="Content Placeholder 2">
            <a:extLst>
              <a:ext uri="{FF2B5EF4-FFF2-40B4-BE49-F238E27FC236}">
                <a16:creationId xmlns:a16="http://schemas.microsoft.com/office/drawing/2014/main" id="{B600D5AA-FD81-69EA-C7AF-27DA687CA4F9}"/>
              </a:ext>
            </a:extLst>
          </p:cNvPr>
          <p:cNvSpPr>
            <a:spLocks noGrp="1"/>
          </p:cNvSpPr>
          <p:nvPr>
            <p:ph idx="1"/>
          </p:nvPr>
        </p:nvSpPr>
        <p:spPr/>
        <p:txBody>
          <a:bodyPr/>
          <a:lstStyle/>
          <a:p>
            <a:r>
              <a:rPr lang="en-US" dirty="0"/>
              <a:t>Graph is informally thought of as a collection of points in the plane called “vertices” or “nodes,” some of them connected by line segments called “edges” or “arcs.” </a:t>
            </a:r>
          </a:p>
          <a:p>
            <a:r>
              <a:rPr lang="en-US" dirty="0"/>
              <a:t>Formally, a graph G = ⟨V , E⟩ is defined by a pair of two sets: a finite nonempty set V of items called vertices and a set E of pairs of these items called edges. </a:t>
            </a:r>
          </a:p>
          <a:p>
            <a:r>
              <a:rPr lang="en-US" dirty="0"/>
              <a:t>If these pairs of vertices are unordered, i.e., a pair of vertices (u, v) is the same as the pair (v, u), we say that the vertices u and v are adjacent to each other and that they are connected by the undirected edge (u, v). </a:t>
            </a:r>
          </a:p>
          <a:p>
            <a:r>
              <a:rPr lang="en-US" dirty="0"/>
              <a:t>We call the vertices u and v endpoints of the edge (u, v) and say that u and v are incident to this edge; </a:t>
            </a:r>
          </a:p>
          <a:p>
            <a:r>
              <a:rPr lang="en-US" dirty="0"/>
              <a:t>Ww also say that the edge (u, v) is incident to its endpoints u and v. </a:t>
            </a:r>
          </a:p>
          <a:p>
            <a:r>
              <a:rPr lang="en-US" dirty="0"/>
              <a:t>A graph G is called undirected if every edge in it is undirected. </a:t>
            </a:r>
          </a:p>
          <a:p>
            <a:endParaRPr lang="en-US" dirty="0"/>
          </a:p>
        </p:txBody>
      </p:sp>
    </p:spTree>
    <p:extLst>
      <p:ext uri="{BB962C8B-B14F-4D97-AF65-F5344CB8AC3E}">
        <p14:creationId xmlns:p14="http://schemas.microsoft.com/office/powerpoint/2010/main" val="16686677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01C289-AEBE-EFC6-847D-B83143469437}"/>
              </a:ext>
            </a:extLst>
          </p:cNvPr>
          <p:cNvSpPr>
            <a:spLocks noGrp="1"/>
          </p:cNvSpPr>
          <p:nvPr>
            <p:ph idx="1"/>
          </p:nvPr>
        </p:nvSpPr>
        <p:spPr/>
        <p:txBody>
          <a:bodyPr/>
          <a:lstStyle/>
          <a:p>
            <a:r>
              <a:rPr lang="en-US" dirty="0"/>
              <a:t>If a pair of vertices (u, v) is not the same as the pair (v, u), we say that the edge (u, v) is directed from the vertex u, called the edge’s tail, to the vertex v, called the edge’s head. </a:t>
            </a:r>
          </a:p>
          <a:p>
            <a:r>
              <a:rPr lang="en-US" dirty="0"/>
              <a:t>We also say that the edge (u, v) leaves u and enters v. </a:t>
            </a:r>
          </a:p>
          <a:p>
            <a:r>
              <a:rPr lang="en-US" dirty="0"/>
              <a:t>A graph whose every edge is directed is called directed. </a:t>
            </a:r>
          </a:p>
          <a:p>
            <a:r>
              <a:rPr lang="en-US" dirty="0"/>
              <a:t>Directed graphs are also called digraphs. </a:t>
            </a:r>
          </a:p>
          <a:p>
            <a:endParaRPr lang="en-US" dirty="0"/>
          </a:p>
        </p:txBody>
      </p:sp>
      <p:sp>
        <p:nvSpPr>
          <p:cNvPr id="4" name="Title 1">
            <a:extLst>
              <a:ext uri="{FF2B5EF4-FFF2-40B4-BE49-F238E27FC236}">
                <a16:creationId xmlns:a16="http://schemas.microsoft.com/office/drawing/2014/main" id="{789CDAFE-2484-1C77-F727-908EAB1F91F9}"/>
              </a:ext>
            </a:extLst>
          </p:cNvPr>
          <p:cNvSpPr>
            <a:spLocks noGrp="1"/>
          </p:cNvSpPr>
          <p:nvPr>
            <p:ph type="title"/>
          </p:nvPr>
        </p:nvSpPr>
        <p:spPr>
          <a:xfrm>
            <a:off x="838200" y="18255"/>
            <a:ext cx="10515600" cy="1325563"/>
          </a:xfrm>
        </p:spPr>
        <p:txBody>
          <a:bodyPr/>
          <a:lstStyle/>
          <a:p>
            <a:r>
              <a:rPr lang="en-US" dirty="0"/>
              <a:t>Graphs (cont.) </a:t>
            </a:r>
          </a:p>
        </p:txBody>
      </p:sp>
    </p:spTree>
    <p:extLst>
      <p:ext uri="{BB962C8B-B14F-4D97-AF65-F5344CB8AC3E}">
        <p14:creationId xmlns:p14="http://schemas.microsoft.com/office/powerpoint/2010/main" val="17057268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AEBD81-6584-FF06-4907-CE26B8290D01}"/>
              </a:ext>
            </a:extLst>
          </p:cNvPr>
          <p:cNvSpPr>
            <a:spLocks noGrp="1"/>
          </p:cNvSpPr>
          <p:nvPr>
            <p:ph idx="1"/>
          </p:nvPr>
        </p:nvSpPr>
        <p:spPr/>
        <p:txBody>
          <a:bodyPr/>
          <a:lstStyle/>
          <a:p>
            <a:r>
              <a:rPr lang="en-US" dirty="0"/>
              <a:t>It is normally convenient to label vertices of a graph or a digraph with letters, integer numbers, or, if an application calls for it, character strings (Figure 1.6). </a:t>
            </a:r>
          </a:p>
          <a:p>
            <a:r>
              <a:rPr lang="en-US" dirty="0"/>
              <a:t>The graph depicted in Figure 1.6a has six vertices and seven undirected edges: </a:t>
            </a:r>
          </a:p>
          <a:p>
            <a:pPr marL="0" indent="0">
              <a:buNone/>
            </a:pPr>
            <a:endParaRPr lang="en-US" dirty="0"/>
          </a:p>
          <a:p>
            <a:r>
              <a:rPr lang="en-US" dirty="0"/>
              <a:t>The digraph depicted in Figure 1.6b has six vertices and eight directed edges:</a:t>
            </a:r>
          </a:p>
          <a:p>
            <a:pPr marL="0" indent="0">
              <a:buNone/>
            </a:pPr>
            <a:br>
              <a:rPr lang="en-US" dirty="0"/>
            </a:br>
            <a:r>
              <a:rPr lang="en-US" dirty="0"/>
              <a:t>	</a:t>
            </a:r>
          </a:p>
        </p:txBody>
      </p:sp>
      <p:pic>
        <p:nvPicPr>
          <p:cNvPr id="5" name="Picture 4">
            <a:extLst>
              <a:ext uri="{FF2B5EF4-FFF2-40B4-BE49-F238E27FC236}">
                <a16:creationId xmlns:a16="http://schemas.microsoft.com/office/drawing/2014/main" id="{90DCBAA9-B140-556E-89ED-7479D6FCA8BA}"/>
              </a:ext>
            </a:extLst>
          </p:cNvPr>
          <p:cNvPicPr>
            <a:picLocks noChangeAspect="1"/>
          </p:cNvPicPr>
          <p:nvPr/>
        </p:nvPicPr>
        <p:blipFill>
          <a:blip r:embed="rId2"/>
          <a:stretch>
            <a:fillRect/>
          </a:stretch>
        </p:blipFill>
        <p:spPr>
          <a:xfrm>
            <a:off x="1552063" y="2881467"/>
            <a:ext cx="6962468" cy="419100"/>
          </a:xfrm>
          <a:prstGeom prst="rect">
            <a:avLst/>
          </a:prstGeom>
        </p:spPr>
      </p:pic>
      <p:pic>
        <p:nvPicPr>
          <p:cNvPr id="7" name="Picture 6">
            <a:extLst>
              <a:ext uri="{FF2B5EF4-FFF2-40B4-BE49-F238E27FC236}">
                <a16:creationId xmlns:a16="http://schemas.microsoft.com/office/drawing/2014/main" id="{CE98BB0D-B2D8-CC8A-63CA-8265A842D574}"/>
              </a:ext>
            </a:extLst>
          </p:cNvPr>
          <p:cNvPicPr>
            <a:picLocks noChangeAspect="1"/>
          </p:cNvPicPr>
          <p:nvPr/>
        </p:nvPicPr>
        <p:blipFill>
          <a:blip r:embed="rId3"/>
          <a:stretch>
            <a:fillRect/>
          </a:stretch>
        </p:blipFill>
        <p:spPr>
          <a:xfrm>
            <a:off x="1552063" y="3791744"/>
            <a:ext cx="6985000" cy="419100"/>
          </a:xfrm>
          <a:prstGeom prst="rect">
            <a:avLst/>
          </a:prstGeom>
        </p:spPr>
      </p:pic>
      <p:sp>
        <p:nvSpPr>
          <p:cNvPr id="8" name="Title 1">
            <a:extLst>
              <a:ext uri="{FF2B5EF4-FFF2-40B4-BE49-F238E27FC236}">
                <a16:creationId xmlns:a16="http://schemas.microsoft.com/office/drawing/2014/main" id="{2662E22C-1348-FFDB-8201-1FDE27BE024A}"/>
              </a:ext>
            </a:extLst>
          </p:cNvPr>
          <p:cNvSpPr>
            <a:spLocks noGrp="1"/>
          </p:cNvSpPr>
          <p:nvPr>
            <p:ph type="title"/>
          </p:nvPr>
        </p:nvSpPr>
        <p:spPr>
          <a:xfrm>
            <a:off x="838200" y="19949"/>
            <a:ext cx="10515600" cy="1325563"/>
          </a:xfrm>
        </p:spPr>
        <p:txBody>
          <a:bodyPr/>
          <a:lstStyle/>
          <a:p>
            <a:r>
              <a:rPr lang="en-US" dirty="0"/>
              <a:t>Graphs (cont.) </a:t>
            </a:r>
          </a:p>
        </p:txBody>
      </p:sp>
      <p:pic>
        <p:nvPicPr>
          <p:cNvPr id="10" name="Picture 9" descr="A diagram of a connection&#10;&#10;Description automatically generated with medium confidence">
            <a:extLst>
              <a:ext uri="{FF2B5EF4-FFF2-40B4-BE49-F238E27FC236}">
                <a16:creationId xmlns:a16="http://schemas.microsoft.com/office/drawing/2014/main" id="{CF318C11-74EF-29DE-0E64-5F58E2D88D5D}"/>
              </a:ext>
            </a:extLst>
          </p:cNvPr>
          <p:cNvPicPr>
            <a:picLocks noChangeAspect="1"/>
          </p:cNvPicPr>
          <p:nvPr/>
        </p:nvPicPr>
        <p:blipFill>
          <a:blip r:embed="rId4"/>
          <a:stretch>
            <a:fillRect/>
          </a:stretch>
        </p:blipFill>
        <p:spPr>
          <a:xfrm>
            <a:off x="2756718" y="4411663"/>
            <a:ext cx="5410200" cy="1765300"/>
          </a:xfrm>
          <a:prstGeom prst="rect">
            <a:avLst/>
          </a:prstGeom>
        </p:spPr>
      </p:pic>
      <p:sp>
        <p:nvSpPr>
          <p:cNvPr id="12" name="TextBox 11">
            <a:extLst>
              <a:ext uri="{FF2B5EF4-FFF2-40B4-BE49-F238E27FC236}">
                <a16:creationId xmlns:a16="http://schemas.microsoft.com/office/drawing/2014/main" id="{EAC91343-F39F-CEBB-9B38-57FBB518B5FE}"/>
              </a:ext>
            </a:extLst>
          </p:cNvPr>
          <p:cNvSpPr txBox="1"/>
          <p:nvPr/>
        </p:nvSpPr>
        <p:spPr>
          <a:xfrm>
            <a:off x="2438605" y="6158011"/>
            <a:ext cx="6098458" cy="307777"/>
          </a:xfrm>
          <a:prstGeom prst="rect">
            <a:avLst/>
          </a:prstGeom>
          <a:noFill/>
        </p:spPr>
        <p:txBody>
          <a:bodyPr wrap="square">
            <a:spAutoFit/>
          </a:bodyPr>
          <a:lstStyle/>
          <a:p>
            <a:pPr algn="ctr"/>
            <a:r>
              <a:rPr lang="en-US" sz="1400" dirty="0"/>
              <a:t>FIGURE 1.6 (a) Undirected graph. (b) Digraph. </a:t>
            </a:r>
          </a:p>
        </p:txBody>
      </p:sp>
    </p:spTree>
    <p:extLst>
      <p:ext uri="{BB962C8B-B14F-4D97-AF65-F5344CB8AC3E}">
        <p14:creationId xmlns:p14="http://schemas.microsoft.com/office/powerpoint/2010/main" val="13731928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6366A3-4FEB-997C-B82E-3A92D663D619}"/>
              </a:ext>
            </a:extLst>
          </p:cNvPr>
          <p:cNvSpPr>
            <a:spLocks noGrp="1"/>
          </p:cNvSpPr>
          <p:nvPr>
            <p:ph idx="1"/>
          </p:nvPr>
        </p:nvSpPr>
        <p:spPr/>
        <p:txBody>
          <a:bodyPr/>
          <a:lstStyle/>
          <a:p>
            <a:r>
              <a:rPr lang="en-US" dirty="0"/>
              <a:t>Our definition of a graph does not forbid loops, or edges connecting vertices to themselves. Unless explicitly stated otherwise, </a:t>
            </a:r>
          </a:p>
          <a:p>
            <a:r>
              <a:rPr lang="en-US" dirty="0"/>
              <a:t>We will consider graphs without loops. Since our definition disallows multiple edges between the same vertices of an undirected graph, </a:t>
            </a:r>
          </a:p>
          <a:p>
            <a:r>
              <a:rPr lang="en-US" dirty="0"/>
              <a:t>We have the following inequality for the number of edges |E| possible in an undirected graph with |V | vertices and no loops: </a:t>
            </a:r>
          </a:p>
          <a:p>
            <a:endParaRPr lang="en-US" dirty="0"/>
          </a:p>
          <a:p>
            <a:endParaRPr lang="en-US" dirty="0"/>
          </a:p>
          <a:p>
            <a:r>
              <a:rPr lang="en-US" dirty="0"/>
              <a:t>(We get the largest number of edges in a graph if there is an edge connecting each of its |V | vertices with all |V | − 1 other vertices. </a:t>
            </a:r>
          </a:p>
          <a:p>
            <a:r>
              <a:rPr lang="en-US" dirty="0"/>
              <a:t>We have to divide product |V |(|V | − 1) by 2, however, because it includes every edge twice.) </a:t>
            </a:r>
          </a:p>
          <a:p>
            <a:endParaRPr lang="en-US" dirty="0"/>
          </a:p>
          <a:p>
            <a:endParaRPr lang="en-US" dirty="0"/>
          </a:p>
        </p:txBody>
      </p:sp>
      <p:pic>
        <p:nvPicPr>
          <p:cNvPr id="5" name="Picture 4" descr="A black text on a white background&#10;&#10;Description automatically generated">
            <a:extLst>
              <a:ext uri="{FF2B5EF4-FFF2-40B4-BE49-F238E27FC236}">
                <a16:creationId xmlns:a16="http://schemas.microsoft.com/office/drawing/2014/main" id="{47DDB5E3-5661-D4E3-B244-D06203D1E912}"/>
              </a:ext>
            </a:extLst>
          </p:cNvPr>
          <p:cNvPicPr>
            <a:picLocks noChangeAspect="1"/>
          </p:cNvPicPr>
          <p:nvPr/>
        </p:nvPicPr>
        <p:blipFill>
          <a:blip r:embed="rId2"/>
          <a:stretch>
            <a:fillRect/>
          </a:stretch>
        </p:blipFill>
        <p:spPr>
          <a:xfrm>
            <a:off x="3785419" y="4133850"/>
            <a:ext cx="2438400" cy="419100"/>
          </a:xfrm>
          <a:prstGeom prst="rect">
            <a:avLst/>
          </a:prstGeom>
        </p:spPr>
      </p:pic>
      <p:sp>
        <p:nvSpPr>
          <p:cNvPr id="6" name="Title 1">
            <a:extLst>
              <a:ext uri="{FF2B5EF4-FFF2-40B4-BE49-F238E27FC236}">
                <a16:creationId xmlns:a16="http://schemas.microsoft.com/office/drawing/2014/main" id="{94B459C0-AA1D-97C7-A6BF-7295773D4A27}"/>
              </a:ext>
            </a:extLst>
          </p:cNvPr>
          <p:cNvSpPr>
            <a:spLocks noGrp="1"/>
          </p:cNvSpPr>
          <p:nvPr>
            <p:ph type="title"/>
          </p:nvPr>
        </p:nvSpPr>
        <p:spPr>
          <a:xfrm>
            <a:off x="838200" y="18255"/>
            <a:ext cx="10515600" cy="1325563"/>
          </a:xfrm>
        </p:spPr>
        <p:txBody>
          <a:bodyPr/>
          <a:lstStyle/>
          <a:p>
            <a:r>
              <a:rPr lang="en-US" dirty="0"/>
              <a:t>Graphs (cont.) </a:t>
            </a:r>
          </a:p>
        </p:txBody>
      </p:sp>
    </p:spTree>
    <p:extLst>
      <p:ext uri="{BB962C8B-B14F-4D97-AF65-F5344CB8AC3E}">
        <p14:creationId xmlns:p14="http://schemas.microsoft.com/office/powerpoint/2010/main" val="28846417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2CA142-9540-CAFF-56FE-9A8A6BE73278}"/>
              </a:ext>
            </a:extLst>
          </p:cNvPr>
          <p:cNvSpPr>
            <a:spLocks noGrp="1"/>
          </p:cNvSpPr>
          <p:nvPr>
            <p:ph idx="1"/>
          </p:nvPr>
        </p:nvSpPr>
        <p:spPr/>
        <p:txBody>
          <a:bodyPr/>
          <a:lstStyle/>
          <a:p>
            <a:r>
              <a:rPr lang="en-US" dirty="0"/>
              <a:t>A graph with every pair of its vertices connected by an edge is called </a:t>
            </a:r>
            <a:r>
              <a:rPr lang="en-US" b="1" dirty="0"/>
              <a:t>complete</a:t>
            </a:r>
            <a:r>
              <a:rPr lang="en-US" dirty="0"/>
              <a:t>. </a:t>
            </a:r>
          </a:p>
          <a:p>
            <a:r>
              <a:rPr lang="en-US" dirty="0"/>
              <a:t>A graph with relatively few possible edges missing is called </a:t>
            </a:r>
            <a:r>
              <a:rPr lang="en-US" b="1" dirty="0"/>
              <a:t>dense</a:t>
            </a:r>
            <a:r>
              <a:rPr lang="en-US" dirty="0"/>
              <a:t>; </a:t>
            </a:r>
          </a:p>
          <a:p>
            <a:r>
              <a:rPr lang="en-US" dirty="0"/>
              <a:t>a graph with few edges relative to the number of its vertices is called </a:t>
            </a:r>
            <a:r>
              <a:rPr lang="en-US" b="1" dirty="0"/>
              <a:t>sparse</a:t>
            </a:r>
            <a:r>
              <a:rPr lang="en-US" dirty="0"/>
              <a:t>. </a:t>
            </a:r>
          </a:p>
          <a:p>
            <a:r>
              <a:rPr lang="en-US" dirty="0"/>
              <a:t>Whether we are dealing with a dense or sparse graph may influence how we choose to represent the graph and, consequently, the running time of an algorithm being designed or used. </a:t>
            </a:r>
          </a:p>
          <a:p>
            <a:endParaRPr lang="en-US" dirty="0"/>
          </a:p>
        </p:txBody>
      </p:sp>
      <p:sp>
        <p:nvSpPr>
          <p:cNvPr id="4" name="Title 1">
            <a:extLst>
              <a:ext uri="{FF2B5EF4-FFF2-40B4-BE49-F238E27FC236}">
                <a16:creationId xmlns:a16="http://schemas.microsoft.com/office/drawing/2014/main" id="{64EE2D92-DB82-72FE-C1F6-4486E9C878D0}"/>
              </a:ext>
            </a:extLst>
          </p:cNvPr>
          <p:cNvSpPr>
            <a:spLocks noGrp="1"/>
          </p:cNvSpPr>
          <p:nvPr>
            <p:ph type="title"/>
          </p:nvPr>
        </p:nvSpPr>
        <p:spPr>
          <a:xfrm>
            <a:off x="838200" y="18255"/>
            <a:ext cx="10515600" cy="1325563"/>
          </a:xfrm>
        </p:spPr>
        <p:txBody>
          <a:bodyPr/>
          <a:lstStyle/>
          <a:p>
            <a:r>
              <a:rPr lang="en-US" dirty="0"/>
              <a:t>Graphs (cont.) </a:t>
            </a:r>
          </a:p>
        </p:txBody>
      </p:sp>
    </p:spTree>
    <p:extLst>
      <p:ext uri="{BB962C8B-B14F-4D97-AF65-F5344CB8AC3E}">
        <p14:creationId xmlns:p14="http://schemas.microsoft.com/office/powerpoint/2010/main" val="4129796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04C85-C2A0-D2C2-04A4-1F670423B127}"/>
              </a:ext>
            </a:extLst>
          </p:cNvPr>
          <p:cNvSpPr>
            <a:spLocks noGrp="1"/>
          </p:cNvSpPr>
          <p:nvPr>
            <p:ph type="title"/>
          </p:nvPr>
        </p:nvSpPr>
        <p:spPr/>
        <p:txBody>
          <a:bodyPr/>
          <a:lstStyle/>
          <a:p>
            <a:r>
              <a:rPr lang="en-US" dirty="0"/>
              <a:t>Graph Representations</a:t>
            </a:r>
          </a:p>
        </p:txBody>
      </p:sp>
      <p:sp>
        <p:nvSpPr>
          <p:cNvPr id="3" name="Content Placeholder 2">
            <a:extLst>
              <a:ext uri="{FF2B5EF4-FFF2-40B4-BE49-F238E27FC236}">
                <a16:creationId xmlns:a16="http://schemas.microsoft.com/office/drawing/2014/main" id="{B1F3465A-FB37-A387-838C-714A23200F68}"/>
              </a:ext>
            </a:extLst>
          </p:cNvPr>
          <p:cNvSpPr>
            <a:spLocks noGrp="1"/>
          </p:cNvSpPr>
          <p:nvPr>
            <p:ph idx="1"/>
          </p:nvPr>
        </p:nvSpPr>
        <p:spPr/>
        <p:txBody>
          <a:bodyPr/>
          <a:lstStyle/>
          <a:p>
            <a:r>
              <a:rPr lang="en-US" dirty="0"/>
              <a:t>Graphs for computer algorithms are usually represented in one of two ways: </a:t>
            </a:r>
          </a:p>
          <a:p>
            <a:pPr lvl="1"/>
            <a:r>
              <a:rPr lang="en-US" dirty="0"/>
              <a:t>Adjacency matrix</a:t>
            </a:r>
          </a:p>
          <a:p>
            <a:pPr lvl="1"/>
            <a:r>
              <a:rPr lang="en-US" dirty="0"/>
              <a:t>Adjacency lists. </a:t>
            </a:r>
          </a:p>
          <a:p>
            <a:endParaRPr lang="en-US" dirty="0"/>
          </a:p>
        </p:txBody>
      </p:sp>
    </p:spTree>
    <p:extLst>
      <p:ext uri="{BB962C8B-B14F-4D97-AF65-F5344CB8AC3E}">
        <p14:creationId xmlns:p14="http://schemas.microsoft.com/office/powerpoint/2010/main" val="3608017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3FEF3A-F33D-BFA5-F866-4DAEC51ED694}"/>
              </a:ext>
            </a:extLst>
          </p:cNvPr>
          <p:cNvSpPr>
            <a:spLocks noGrp="1"/>
          </p:cNvSpPr>
          <p:nvPr>
            <p:ph idx="1"/>
          </p:nvPr>
        </p:nvSpPr>
        <p:spPr/>
        <p:txBody>
          <a:bodyPr/>
          <a:lstStyle/>
          <a:p>
            <a:r>
              <a:rPr lang="en-US" dirty="0"/>
              <a:t>The adjacency matrix of a graph with n vertices is an n × n Boolean matrix with one row and one column for each of the graph’s vertices, in which the element in the </a:t>
            </a:r>
            <a:r>
              <a:rPr lang="en-US" dirty="0" err="1"/>
              <a:t>i</a:t>
            </a:r>
            <a:r>
              <a:rPr lang="en-US" baseline="-25000" dirty="0" err="1"/>
              <a:t>th</a:t>
            </a:r>
            <a:r>
              <a:rPr lang="en-US" dirty="0"/>
              <a:t> row and the j </a:t>
            </a:r>
            <a:r>
              <a:rPr lang="en-US" baseline="-25000" dirty="0" err="1"/>
              <a:t>th</a:t>
            </a:r>
            <a:r>
              <a:rPr lang="en-US" baseline="-25000" dirty="0"/>
              <a:t> </a:t>
            </a:r>
            <a:r>
              <a:rPr lang="en-US" dirty="0"/>
              <a:t>column is equal to 1 if there is an edge from the </a:t>
            </a:r>
            <a:r>
              <a:rPr lang="en-US" dirty="0" err="1"/>
              <a:t>i</a:t>
            </a:r>
            <a:r>
              <a:rPr lang="en-US" baseline="-25000" dirty="0" err="1"/>
              <a:t>th</a:t>
            </a:r>
            <a:r>
              <a:rPr lang="en-US" dirty="0"/>
              <a:t> vertex to the j </a:t>
            </a:r>
            <a:r>
              <a:rPr lang="en-US" baseline="-25000" dirty="0" err="1"/>
              <a:t>th</a:t>
            </a:r>
            <a:r>
              <a:rPr lang="en-US" dirty="0"/>
              <a:t> vertex, and equal to 0 if there is no such edge. </a:t>
            </a:r>
          </a:p>
          <a:p>
            <a:r>
              <a:rPr lang="en-US" dirty="0"/>
              <a:t>Note that the adjacency matrix of an undirected graph is always symmetric, i.e., A[</a:t>
            </a:r>
            <a:r>
              <a:rPr lang="en-US" dirty="0" err="1"/>
              <a:t>i</a:t>
            </a:r>
            <a:r>
              <a:rPr lang="en-US" dirty="0"/>
              <a:t>, j] = A[j, </a:t>
            </a:r>
            <a:r>
              <a:rPr lang="en-US" dirty="0" err="1"/>
              <a:t>i</a:t>
            </a:r>
            <a:r>
              <a:rPr lang="en-US" dirty="0"/>
              <a:t>] for every 0 ≤ </a:t>
            </a:r>
            <a:r>
              <a:rPr lang="en-US" dirty="0" err="1"/>
              <a:t>i</a:t>
            </a:r>
            <a:r>
              <a:rPr lang="en-US" dirty="0"/>
              <a:t>, j ≤ n − 1 </a:t>
            </a:r>
          </a:p>
          <a:p>
            <a:endParaRPr lang="en-US" dirty="0"/>
          </a:p>
          <a:p>
            <a:endParaRPr lang="en-US" dirty="0"/>
          </a:p>
        </p:txBody>
      </p:sp>
      <p:pic>
        <p:nvPicPr>
          <p:cNvPr id="4" name="Picture 3" descr="A diagram of a connection&#10;&#10;Description automatically generated with medium confidence">
            <a:extLst>
              <a:ext uri="{FF2B5EF4-FFF2-40B4-BE49-F238E27FC236}">
                <a16:creationId xmlns:a16="http://schemas.microsoft.com/office/drawing/2014/main" id="{B3BC026C-CF48-AC9A-A35A-0A48F93F1C2D}"/>
              </a:ext>
            </a:extLst>
          </p:cNvPr>
          <p:cNvPicPr>
            <a:picLocks noChangeAspect="1"/>
          </p:cNvPicPr>
          <p:nvPr/>
        </p:nvPicPr>
        <p:blipFill>
          <a:blip r:embed="rId2"/>
          <a:srcRect r="56633" b="19903"/>
          <a:stretch/>
        </p:blipFill>
        <p:spPr>
          <a:xfrm>
            <a:off x="2461137" y="4199104"/>
            <a:ext cx="2346224" cy="1413950"/>
          </a:xfrm>
          <a:prstGeom prst="rect">
            <a:avLst/>
          </a:prstGeom>
        </p:spPr>
      </p:pic>
      <p:pic>
        <p:nvPicPr>
          <p:cNvPr id="6" name="Picture 5" descr="A number and numbers in a row&#10;&#10;Description automatically generated with medium confidence">
            <a:extLst>
              <a:ext uri="{FF2B5EF4-FFF2-40B4-BE49-F238E27FC236}">
                <a16:creationId xmlns:a16="http://schemas.microsoft.com/office/drawing/2014/main" id="{672B3876-D69E-7ED2-484E-D6B5425A3FC5}"/>
              </a:ext>
            </a:extLst>
          </p:cNvPr>
          <p:cNvPicPr>
            <a:picLocks noChangeAspect="1"/>
          </p:cNvPicPr>
          <p:nvPr/>
        </p:nvPicPr>
        <p:blipFill>
          <a:blip r:embed="rId3"/>
          <a:srcRect l="24787" b="14679"/>
          <a:stretch/>
        </p:blipFill>
        <p:spPr>
          <a:xfrm>
            <a:off x="6430297" y="4001294"/>
            <a:ext cx="2856066" cy="1809571"/>
          </a:xfrm>
          <a:prstGeom prst="rect">
            <a:avLst/>
          </a:prstGeom>
        </p:spPr>
      </p:pic>
      <p:sp>
        <p:nvSpPr>
          <p:cNvPr id="8" name="TextBox 7">
            <a:extLst>
              <a:ext uri="{FF2B5EF4-FFF2-40B4-BE49-F238E27FC236}">
                <a16:creationId xmlns:a16="http://schemas.microsoft.com/office/drawing/2014/main" id="{2AA199A4-9799-7F83-E942-55EFCEFCAC09}"/>
              </a:ext>
            </a:extLst>
          </p:cNvPr>
          <p:cNvSpPr txBox="1"/>
          <p:nvPr/>
        </p:nvSpPr>
        <p:spPr>
          <a:xfrm>
            <a:off x="6831473" y="5990680"/>
            <a:ext cx="2053713" cy="369332"/>
          </a:xfrm>
          <a:prstGeom prst="rect">
            <a:avLst/>
          </a:prstGeom>
          <a:noFill/>
        </p:spPr>
        <p:txBody>
          <a:bodyPr wrap="square">
            <a:spAutoFit/>
          </a:bodyPr>
          <a:lstStyle/>
          <a:p>
            <a:r>
              <a:rPr lang="en-US" dirty="0"/>
              <a:t>Adjacency matrix </a:t>
            </a:r>
          </a:p>
        </p:txBody>
      </p:sp>
      <p:sp>
        <p:nvSpPr>
          <p:cNvPr id="9" name="Title 1">
            <a:extLst>
              <a:ext uri="{FF2B5EF4-FFF2-40B4-BE49-F238E27FC236}">
                <a16:creationId xmlns:a16="http://schemas.microsoft.com/office/drawing/2014/main" id="{DA846200-4B9A-4870-252D-3A2BE79451DF}"/>
              </a:ext>
            </a:extLst>
          </p:cNvPr>
          <p:cNvSpPr>
            <a:spLocks noGrp="1"/>
          </p:cNvSpPr>
          <p:nvPr>
            <p:ph type="title"/>
          </p:nvPr>
        </p:nvSpPr>
        <p:spPr>
          <a:xfrm>
            <a:off x="838200" y="18255"/>
            <a:ext cx="10515600" cy="1325563"/>
          </a:xfrm>
        </p:spPr>
        <p:txBody>
          <a:bodyPr/>
          <a:lstStyle/>
          <a:p>
            <a:r>
              <a:rPr lang="en-US" dirty="0"/>
              <a:t>Graph Representations (cont.)</a:t>
            </a:r>
          </a:p>
        </p:txBody>
      </p:sp>
    </p:spTree>
    <p:extLst>
      <p:ext uri="{BB962C8B-B14F-4D97-AF65-F5344CB8AC3E}">
        <p14:creationId xmlns:p14="http://schemas.microsoft.com/office/powerpoint/2010/main" val="658317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43145C-43AB-51FB-9A11-56BC670D8498}"/>
              </a:ext>
            </a:extLst>
          </p:cNvPr>
          <p:cNvSpPr>
            <a:spLocks noGrp="1"/>
          </p:cNvSpPr>
          <p:nvPr>
            <p:ph idx="1"/>
          </p:nvPr>
        </p:nvSpPr>
        <p:spPr/>
        <p:txBody>
          <a:bodyPr/>
          <a:lstStyle/>
          <a:p>
            <a:r>
              <a:rPr lang="en-US" dirty="0"/>
              <a:t>The adjacency lists of a graph or a digraph is a collection of linked lists, one for each vertex, that contain all the vertices adjacent to the list’s vertex (i.e., all the vertices connected to it by an edge). </a:t>
            </a:r>
          </a:p>
          <a:p>
            <a:r>
              <a:rPr lang="en-US" dirty="0"/>
              <a:t>Usually, such lists start with a header identifying a vertex for which the list is compiled. For example, </a:t>
            </a:r>
          </a:p>
          <a:p>
            <a:r>
              <a:rPr lang="en-US" dirty="0"/>
              <a:t>To put it another way, adjacency lists indicate columns of the adjacency matrix that, for a given vertex, contain 1’s. </a:t>
            </a:r>
          </a:p>
          <a:p>
            <a:endParaRPr lang="en-US" dirty="0"/>
          </a:p>
          <a:p>
            <a:endParaRPr lang="en-US" dirty="0"/>
          </a:p>
        </p:txBody>
      </p:sp>
      <p:pic>
        <p:nvPicPr>
          <p:cNvPr id="4" name="Picture 3" descr="A diagram of a connection&#10;&#10;Description automatically generated with medium confidence">
            <a:extLst>
              <a:ext uri="{FF2B5EF4-FFF2-40B4-BE49-F238E27FC236}">
                <a16:creationId xmlns:a16="http://schemas.microsoft.com/office/drawing/2014/main" id="{5BC97D06-C008-6337-4CBC-024B55774C8A}"/>
              </a:ext>
            </a:extLst>
          </p:cNvPr>
          <p:cNvPicPr>
            <a:picLocks noChangeAspect="1"/>
          </p:cNvPicPr>
          <p:nvPr/>
        </p:nvPicPr>
        <p:blipFill>
          <a:blip r:embed="rId2"/>
          <a:srcRect r="56633" b="19903"/>
          <a:stretch/>
        </p:blipFill>
        <p:spPr>
          <a:xfrm>
            <a:off x="2461137" y="4199104"/>
            <a:ext cx="2346224" cy="1413950"/>
          </a:xfrm>
          <a:prstGeom prst="rect">
            <a:avLst/>
          </a:prstGeom>
        </p:spPr>
      </p:pic>
      <p:pic>
        <p:nvPicPr>
          <p:cNvPr id="6" name="Picture 5" descr="A diagram of a number of letters&#10;&#10;Description automatically generated with medium confidence">
            <a:extLst>
              <a:ext uri="{FF2B5EF4-FFF2-40B4-BE49-F238E27FC236}">
                <a16:creationId xmlns:a16="http://schemas.microsoft.com/office/drawing/2014/main" id="{3A7A4DC6-6FC4-A81B-CB0B-61B71A6AE0DA}"/>
              </a:ext>
            </a:extLst>
          </p:cNvPr>
          <p:cNvPicPr>
            <a:picLocks noChangeAspect="1"/>
          </p:cNvPicPr>
          <p:nvPr/>
        </p:nvPicPr>
        <p:blipFill>
          <a:blip r:embed="rId3"/>
          <a:stretch>
            <a:fillRect/>
          </a:stretch>
        </p:blipFill>
        <p:spPr>
          <a:xfrm>
            <a:off x="5917791" y="4001294"/>
            <a:ext cx="2933700" cy="1612900"/>
          </a:xfrm>
          <a:prstGeom prst="rect">
            <a:avLst/>
          </a:prstGeom>
        </p:spPr>
      </p:pic>
      <p:sp>
        <p:nvSpPr>
          <p:cNvPr id="8" name="TextBox 7">
            <a:extLst>
              <a:ext uri="{FF2B5EF4-FFF2-40B4-BE49-F238E27FC236}">
                <a16:creationId xmlns:a16="http://schemas.microsoft.com/office/drawing/2014/main" id="{CC3D7912-2EFC-941D-8C6D-8A952453BC85}"/>
              </a:ext>
            </a:extLst>
          </p:cNvPr>
          <p:cNvSpPr txBox="1"/>
          <p:nvPr/>
        </p:nvSpPr>
        <p:spPr>
          <a:xfrm>
            <a:off x="4335412" y="5992297"/>
            <a:ext cx="6098458" cy="369332"/>
          </a:xfrm>
          <a:prstGeom prst="rect">
            <a:avLst/>
          </a:prstGeom>
          <a:noFill/>
        </p:spPr>
        <p:txBody>
          <a:bodyPr wrap="square">
            <a:spAutoFit/>
          </a:bodyPr>
          <a:lstStyle/>
          <a:p>
            <a:pPr algn="ctr"/>
            <a:r>
              <a:rPr lang="en-US" dirty="0"/>
              <a:t>adjacency lists </a:t>
            </a:r>
          </a:p>
        </p:txBody>
      </p:sp>
      <p:sp>
        <p:nvSpPr>
          <p:cNvPr id="9" name="Title 1">
            <a:extLst>
              <a:ext uri="{FF2B5EF4-FFF2-40B4-BE49-F238E27FC236}">
                <a16:creationId xmlns:a16="http://schemas.microsoft.com/office/drawing/2014/main" id="{19CE4255-B04B-1672-0F64-0B4ABDF2BA7D}"/>
              </a:ext>
            </a:extLst>
          </p:cNvPr>
          <p:cNvSpPr>
            <a:spLocks noGrp="1"/>
          </p:cNvSpPr>
          <p:nvPr>
            <p:ph type="title"/>
          </p:nvPr>
        </p:nvSpPr>
        <p:spPr>
          <a:xfrm>
            <a:off x="838200" y="18255"/>
            <a:ext cx="10515600" cy="1325563"/>
          </a:xfrm>
        </p:spPr>
        <p:txBody>
          <a:bodyPr/>
          <a:lstStyle/>
          <a:p>
            <a:r>
              <a:rPr lang="en-US" dirty="0"/>
              <a:t>Graph Representations (cont.)</a:t>
            </a:r>
          </a:p>
        </p:txBody>
      </p:sp>
    </p:spTree>
    <p:extLst>
      <p:ext uri="{BB962C8B-B14F-4D97-AF65-F5344CB8AC3E}">
        <p14:creationId xmlns:p14="http://schemas.microsoft.com/office/powerpoint/2010/main" val="42729512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21D6B0-BE9E-479E-3D26-15A1688602DF}"/>
              </a:ext>
            </a:extLst>
          </p:cNvPr>
          <p:cNvSpPr>
            <a:spLocks noGrp="1"/>
          </p:cNvSpPr>
          <p:nvPr>
            <p:ph idx="1"/>
          </p:nvPr>
        </p:nvSpPr>
        <p:spPr/>
        <p:txBody>
          <a:bodyPr/>
          <a:lstStyle/>
          <a:p>
            <a:r>
              <a:rPr lang="en-US" dirty="0"/>
              <a:t>If a graph is sparse, the adjacency list representation may use less space than the corresponding adjacency matrix despite the extra storage consumed by pointers of the linked lists; the situation is exactly opposite for dense graphs. </a:t>
            </a:r>
          </a:p>
          <a:p>
            <a:r>
              <a:rPr lang="en-US" dirty="0"/>
              <a:t>In general, which of the two representations is more convenient depends on the nature of the problem, on the algorithm used for solving it, and, possibly, on the type of input graph (sparse or dense). </a:t>
            </a:r>
          </a:p>
          <a:p>
            <a:endParaRPr lang="en-US" dirty="0"/>
          </a:p>
        </p:txBody>
      </p:sp>
      <p:sp>
        <p:nvSpPr>
          <p:cNvPr id="4" name="Title 1">
            <a:extLst>
              <a:ext uri="{FF2B5EF4-FFF2-40B4-BE49-F238E27FC236}">
                <a16:creationId xmlns:a16="http://schemas.microsoft.com/office/drawing/2014/main" id="{3D47E1F3-D4ED-889C-7FF2-1DEA07EC1613}"/>
              </a:ext>
            </a:extLst>
          </p:cNvPr>
          <p:cNvSpPr>
            <a:spLocks noGrp="1"/>
          </p:cNvSpPr>
          <p:nvPr>
            <p:ph type="title"/>
          </p:nvPr>
        </p:nvSpPr>
        <p:spPr>
          <a:xfrm>
            <a:off x="838200" y="18255"/>
            <a:ext cx="10515600" cy="1325563"/>
          </a:xfrm>
        </p:spPr>
        <p:txBody>
          <a:bodyPr/>
          <a:lstStyle/>
          <a:p>
            <a:r>
              <a:rPr lang="en-US" dirty="0"/>
              <a:t>Graph Representations (cont.)</a:t>
            </a:r>
          </a:p>
        </p:txBody>
      </p:sp>
    </p:spTree>
    <p:extLst>
      <p:ext uri="{BB962C8B-B14F-4D97-AF65-F5344CB8AC3E}">
        <p14:creationId xmlns:p14="http://schemas.microsoft.com/office/powerpoint/2010/main" val="4111866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33A35-E5AE-71B1-23DA-A3AF8DA48A22}"/>
              </a:ext>
            </a:extLst>
          </p:cNvPr>
          <p:cNvSpPr>
            <a:spLocks noGrp="1"/>
          </p:cNvSpPr>
          <p:nvPr>
            <p:ph type="title"/>
          </p:nvPr>
        </p:nvSpPr>
        <p:spPr/>
        <p:txBody>
          <a:bodyPr/>
          <a:lstStyle/>
          <a:p>
            <a:r>
              <a:rPr lang="en-US" dirty="0"/>
              <a:t>Weighted Graphs</a:t>
            </a:r>
          </a:p>
        </p:txBody>
      </p:sp>
      <p:sp>
        <p:nvSpPr>
          <p:cNvPr id="3" name="Content Placeholder 2">
            <a:extLst>
              <a:ext uri="{FF2B5EF4-FFF2-40B4-BE49-F238E27FC236}">
                <a16:creationId xmlns:a16="http://schemas.microsoft.com/office/drawing/2014/main" id="{C4CB701B-15BC-26D0-2585-25BC170422E2}"/>
              </a:ext>
            </a:extLst>
          </p:cNvPr>
          <p:cNvSpPr>
            <a:spLocks noGrp="1"/>
          </p:cNvSpPr>
          <p:nvPr>
            <p:ph idx="1"/>
          </p:nvPr>
        </p:nvSpPr>
        <p:spPr/>
        <p:txBody>
          <a:bodyPr>
            <a:normAutofit/>
          </a:bodyPr>
          <a:lstStyle/>
          <a:p>
            <a:r>
              <a:rPr lang="en-US" dirty="0"/>
              <a:t>A weighted graph (or weighted digraph) is a graph (or digraph) with numbers assigned to its edges.</a:t>
            </a:r>
          </a:p>
          <a:p>
            <a:r>
              <a:rPr lang="en-US" dirty="0"/>
              <a:t> These numbers are called weights or costs. </a:t>
            </a:r>
          </a:p>
          <a:p>
            <a:r>
              <a:rPr lang="en-US" dirty="0"/>
              <a:t>An interest in such graphs is motivated by numerous real-world applications, such as finding the shortest path between two points in a transportation or communication network or the traveling salesman problem mentioned earlier. </a:t>
            </a:r>
          </a:p>
          <a:p>
            <a:endParaRPr lang="en-US" dirty="0"/>
          </a:p>
        </p:txBody>
      </p:sp>
    </p:spTree>
    <p:extLst>
      <p:ext uri="{BB962C8B-B14F-4D97-AF65-F5344CB8AC3E}">
        <p14:creationId xmlns:p14="http://schemas.microsoft.com/office/powerpoint/2010/main" val="22282127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5F4E1F-44C6-6F0C-CD5E-68C12EEF178E}"/>
              </a:ext>
            </a:extLst>
          </p:cNvPr>
          <p:cNvSpPr>
            <a:spLocks noGrp="1"/>
          </p:cNvSpPr>
          <p:nvPr>
            <p:ph idx="1"/>
          </p:nvPr>
        </p:nvSpPr>
        <p:spPr/>
        <p:txBody>
          <a:bodyPr/>
          <a:lstStyle/>
          <a:p>
            <a:r>
              <a:rPr lang="en-US" dirty="0"/>
              <a:t>Both principal representations of a graph can be easily adopted to accommodate weighted graphs. </a:t>
            </a:r>
          </a:p>
          <a:p>
            <a:r>
              <a:rPr lang="en-US" dirty="0"/>
              <a:t>If a weighted graph is represented by its adjacency matrix, then its element A[</a:t>
            </a:r>
            <a:r>
              <a:rPr lang="en-US" dirty="0" err="1"/>
              <a:t>i</a:t>
            </a:r>
            <a:r>
              <a:rPr lang="en-US" dirty="0"/>
              <a:t>, j] will simply contain the weight of the edge from the </a:t>
            </a:r>
            <a:r>
              <a:rPr lang="en-US" dirty="0" err="1"/>
              <a:t>i</a:t>
            </a:r>
            <a:r>
              <a:rPr lang="en-US" baseline="-25000" dirty="0" err="1"/>
              <a:t>th</a:t>
            </a:r>
            <a:r>
              <a:rPr lang="en-US" dirty="0"/>
              <a:t> to the </a:t>
            </a:r>
            <a:r>
              <a:rPr lang="en-US" dirty="0" err="1"/>
              <a:t>j</a:t>
            </a:r>
            <a:r>
              <a:rPr lang="en-US" baseline="-25000" dirty="0" err="1"/>
              <a:t>th</a:t>
            </a:r>
            <a:r>
              <a:rPr lang="en-US" dirty="0"/>
              <a:t> vertex if there is such an edge and a special symbol, e.g., ∞, if there is no such edge. </a:t>
            </a:r>
          </a:p>
          <a:p>
            <a:pPr lvl="1"/>
            <a:r>
              <a:rPr lang="en-US" dirty="0"/>
              <a:t>Such a matrix is called the weight matrix or cost matrix. </a:t>
            </a:r>
          </a:p>
          <a:p>
            <a:r>
              <a:rPr lang="en-US" dirty="0"/>
              <a:t>For some applications, it is more convenient to put 0’s on the main diagonal of the adjacency matrix.) Adjacency lists for a weighted graph have to include in their nodes not only the name of an adjacent vertex but also the weight of the corresponding edge</a:t>
            </a:r>
          </a:p>
          <a:p>
            <a:endParaRPr lang="en-US" dirty="0"/>
          </a:p>
        </p:txBody>
      </p:sp>
      <p:sp>
        <p:nvSpPr>
          <p:cNvPr id="5" name="TextBox 4">
            <a:extLst>
              <a:ext uri="{FF2B5EF4-FFF2-40B4-BE49-F238E27FC236}">
                <a16:creationId xmlns:a16="http://schemas.microsoft.com/office/drawing/2014/main" id="{B91AEB24-0589-A2BE-AD30-58E086B9D44C}"/>
              </a:ext>
            </a:extLst>
          </p:cNvPr>
          <p:cNvSpPr txBox="1"/>
          <p:nvPr/>
        </p:nvSpPr>
        <p:spPr>
          <a:xfrm>
            <a:off x="1426905" y="6492993"/>
            <a:ext cx="8675739" cy="307777"/>
          </a:xfrm>
          <a:prstGeom prst="rect">
            <a:avLst/>
          </a:prstGeom>
          <a:noFill/>
        </p:spPr>
        <p:txBody>
          <a:bodyPr wrap="square">
            <a:spAutoFit/>
          </a:bodyPr>
          <a:lstStyle/>
          <a:p>
            <a:pPr algn="ctr"/>
            <a:r>
              <a:rPr lang="en-US" sz="1400" dirty="0"/>
              <a:t>FIGURE 1.8 (a) Weighted graph. (b) Its weight matrix. (c) Its adjacency lists. </a:t>
            </a:r>
          </a:p>
        </p:txBody>
      </p:sp>
      <p:pic>
        <p:nvPicPr>
          <p:cNvPr id="7" name="Picture 6" descr="A number and number symbols&#10;&#10;Description automatically generated with medium confidence">
            <a:extLst>
              <a:ext uri="{FF2B5EF4-FFF2-40B4-BE49-F238E27FC236}">
                <a16:creationId xmlns:a16="http://schemas.microsoft.com/office/drawing/2014/main" id="{C1B16E97-EBD2-DB53-0694-02E7C9DAB332}"/>
              </a:ext>
            </a:extLst>
          </p:cNvPr>
          <p:cNvPicPr>
            <a:picLocks noChangeAspect="1"/>
          </p:cNvPicPr>
          <p:nvPr/>
        </p:nvPicPr>
        <p:blipFill>
          <a:blip r:embed="rId2"/>
          <a:stretch>
            <a:fillRect/>
          </a:stretch>
        </p:blipFill>
        <p:spPr>
          <a:xfrm>
            <a:off x="2176207" y="4651375"/>
            <a:ext cx="6807200" cy="1841500"/>
          </a:xfrm>
          <a:prstGeom prst="rect">
            <a:avLst/>
          </a:prstGeom>
        </p:spPr>
      </p:pic>
      <p:sp>
        <p:nvSpPr>
          <p:cNvPr id="8" name="Title 1">
            <a:extLst>
              <a:ext uri="{FF2B5EF4-FFF2-40B4-BE49-F238E27FC236}">
                <a16:creationId xmlns:a16="http://schemas.microsoft.com/office/drawing/2014/main" id="{0E1FAD35-9F25-754E-6C05-87390012800A}"/>
              </a:ext>
            </a:extLst>
          </p:cNvPr>
          <p:cNvSpPr>
            <a:spLocks noGrp="1"/>
          </p:cNvSpPr>
          <p:nvPr>
            <p:ph type="title"/>
          </p:nvPr>
        </p:nvSpPr>
        <p:spPr>
          <a:xfrm>
            <a:off x="838200" y="31472"/>
            <a:ext cx="10515600" cy="1325563"/>
          </a:xfrm>
        </p:spPr>
        <p:txBody>
          <a:bodyPr/>
          <a:lstStyle/>
          <a:p>
            <a:r>
              <a:rPr lang="en-US" dirty="0"/>
              <a:t>Weighted Graphs (cont.)</a:t>
            </a:r>
          </a:p>
        </p:txBody>
      </p:sp>
    </p:spTree>
    <p:extLst>
      <p:ext uri="{BB962C8B-B14F-4D97-AF65-F5344CB8AC3E}">
        <p14:creationId xmlns:p14="http://schemas.microsoft.com/office/powerpoint/2010/main" val="20396947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8643C-83B1-9D65-B13D-C8B8AF12D020}"/>
              </a:ext>
            </a:extLst>
          </p:cNvPr>
          <p:cNvSpPr>
            <a:spLocks noGrp="1"/>
          </p:cNvSpPr>
          <p:nvPr>
            <p:ph type="title"/>
          </p:nvPr>
        </p:nvSpPr>
        <p:spPr/>
        <p:txBody>
          <a:bodyPr/>
          <a:lstStyle/>
          <a:p>
            <a:r>
              <a:rPr lang="en-US" dirty="0"/>
              <a:t>Paths</a:t>
            </a:r>
          </a:p>
        </p:txBody>
      </p:sp>
      <p:sp>
        <p:nvSpPr>
          <p:cNvPr id="3" name="Content Placeholder 2">
            <a:extLst>
              <a:ext uri="{FF2B5EF4-FFF2-40B4-BE49-F238E27FC236}">
                <a16:creationId xmlns:a16="http://schemas.microsoft.com/office/drawing/2014/main" id="{043FEE1B-820F-5C8B-5C9B-7A75C5EAFB8C}"/>
              </a:ext>
            </a:extLst>
          </p:cNvPr>
          <p:cNvSpPr>
            <a:spLocks noGrp="1"/>
          </p:cNvSpPr>
          <p:nvPr>
            <p:ph idx="1"/>
          </p:nvPr>
        </p:nvSpPr>
        <p:spPr/>
        <p:txBody>
          <a:bodyPr/>
          <a:lstStyle/>
          <a:p>
            <a:r>
              <a:rPr lang="en-US" dirty="0"/>
              <a:t>Among the many properties of graphs, two are important for a great number of applications: </a:t>
            </a:r>
            <a:r>
              <a:rPr lang="en-US" b="1" dirty="0"/>
              <a:t>connectivity</a:t>
            </a:r>
            <a:r>
              <a:rPr lang="en-US" dirty="0"/>
              <a:t> and </a:t>
            </a:r>
            <a:r>
              <a:rPr lang="en-US" b="1" dirty="0"/>
              <a:t>acyclicity</a:t>
            </a:r>
            <a:r>
              <a:rPr lang="en-US" dirty="0"/>
              <a:t>. Both are based on the notion of a path. </a:t>
            </a:r>
          </a:p>
          <a:p>
            <a:r>
              <a:rPr lang="en-US" dirty="0"/>
              <a:t>A path from vertex u to vertex v of a graph G can be defined as a sequence of adjacent (connected by an edge) vertices that starts with u and ends with v. </a:t>
            </a:r>
          </a:p>
          <a:p>
            <a:r>
              <a:rPr lang="en-US" dirty="0"/>
              <a:t>If all vertices of a path are distinct, the path is said to be simple. </a:t>
            </a:r>
          </a:p>
          <a:p>
            <a:r>
              <a:rPr lang="en-US" dirty="0"/>
              <a:t>The length of a path is the total number of vertices in the vertex sequence defining the path minus 1, which is the same as the number of edges in the path. </a:t>
            </a:r>
          </a:p>
          <a:p>
            <a:r>
              <a:rPr lang="en-US" dirty="0"/>
              <a:t>For example, a, c, b, f is a simple path of length 3 from a to f in the graph in Figure 1.6a, whereas a, c, e, c, b, f is a path(not simple)of length 5 from a to f. </a:t>
            </a:r>
          </a:p>
          <a:p>
            <a:endParaRPr lang="en-US" dirty="0"/>
          </a:p>
        </p:txBody>
      </p:sp>
      <p:pic>
        <p:nvPicPr>
          <p:cNvPr id="4" name="Picture 3" descr="A diagram of a connection&#10;&#10;Description automatically generated with medium confidence">
            <a:extLst>
              <a:ext uri="{FF2B5EF4-FFF2-40B4-BE49-F238E27FC236}">
                <a16:creationId xmlns:a16="http://schemas.microsoft.com/office/drawing/2014/main" id="{0AB055BC-BB2E-3C62-A8BE-9DBD45E14CA0}"/>
              </a:ext>
            </a:extLst>
          </p:cNvPr>
          <p:cNvPicPr>
            <a:picLocks noChangeAspect="1"/>
          </p:cNvPicPr>
          <p:nvPr/>
        </p:nvPicPr>
        <p:blipFill>
          <a:blip r:embed="rId2"/>
          <a:srcRect r="56633" b="19903"/>
          <a:stretch/>
        </p:blipFill>
        <p:spPr>
          <a:xfrm>
            <a:off x="2475886" y="5078925"/>
            <a:ext cx="2346224" cy="1413950"/>
          </a:xfrm>
          <a:prstGeom prst="rect">
            <a:avLst/>
          </a:prstGeom>
        </p:spPr>
      </p:pic>
    </p:spTree>
    <p:extLst>
      <p:ext uri="{BB962C8B-B14F-4D97-AF65-F5344CB8AC3E}">
        <p14:creationId xmlns:p14="http://schemas.microsoft.com/office/powerpoint/2010/main" val="279977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B213E8-C8E7-5797-738E-124A6274E5EF}"/>
              </a:ext>
            </a:extLst>
          </p:cNvPr>
          <p:cNvSpPr>
            <a:spLocks noGrp="1"/>
          </p:cNvSpPr>
          <p:nvPr>
            <p:ph idx="1"/>
          </p:nvPr>
        </p:nvSpPr>
        <p:spPr/>
        <p:txBody>
          <a:bodyPr/>
          <a:lstStyle/>
          <a:p>
            <a:r>
              <a:rPr lang="en-US" dirty="0"/>
              <a:t>In the case of a </a:t>
            </a:r>
            <a:r>
              <a:rPr lang="en-US" b="1" dirty="0"/>
              <a:t>directed graph</a:t>
            </a:r>
            <a:r>
              <a:rPr lang="en-US" dirty="0"/>
              <a:t>, we are usually interested in </a:t>
            </a:r>
            <a:r>
              <a:rPr lang="en-US" b="1" dirty="0"/>
              <a:t>directed paths</a:t>
            </a:r>
            <a:r>
              <a:rPr lang="en-US" dirty="0"/>
              <a:t>. </a:t>
            </a:r>
          </a:p>
          <a:p>
            <a:r>
              <a:rPr lang="en-US" dirty="0"/>
              <a:t>A directed path is a sequence of vertices in which every consecutive pair of the vertices is connected by an edge directed from the vertex listed first to the vertex listed next. </a:t>
            </a:r>
          </a:p>
          <a:p>
            <a:r>
              <a:rPr lang="en-US" dirty="0"/>
              <a:t>For example, a, c, e, f is a directed path from a to f in the graph in Figure 1.6b. </a:t>
            </a:r>
          </a:p>
          <a:p>
            <a:endParaRPr lang="en-US" dirty="0"/>
          </a:p>
        </p:txBody>
      </p:sp>
      <p:pic>
        <p:nvPicPr>
          <p:cNvPr id="4" name="Picture 3" descr="A diagram of a connection&#10;&#10;Description automatically generated with medium confidence">
            <a:extLst>
              <a:ext uri="{FF2B5EF4-FFF2-40B4-BE49-F238E27FC236}">
                <a16:creationId xmlns:a16="http://schemas.microsoft.com/office/drawing/2014/main" id="{1415CED8-686C-B337-6690-4E2F6F93F2FF}"/>
              </a:ext>
            </a:extLst>
          </p:cNvPr>
          <p:cNvPicPr>
            <a:picLocks noChangeAspect="1"/>
          </p:cNvPicPr>
          <p:nvPr/>
        </p:nvPicPr>
        <p:blipFill>
          <a:blip r:embed="rId2"/>
          <a:srcRect l="51000"/>
          <a:stretch/>
        </p:blipFill>
        <p:spPr>
          <a:xfrm>
            <a:off x="3908322" y="4001294"/>
            <a:ext cx="2651021" cy="1765300"/>
          </a:xfrm>
          <a:prstGeom prst="rect">
            <a:avLst/>
          </a:prstGeom>
        </p:spPr>
      </p:pic>
      <p:sp>
        <p:nvSpPr>
          <p:cNvPr id="5" name="Title 1">
            <a:extLst>
              <a:ext uri="{FF2B5EF4-FFF2-40B4-BE49-F238E27FC236}">
                <a16:creationId xmlns:a16="http://schemas.microsoft.com/office/drawing/2014/main" id="{F5EB03D2-B672-0B2C-F46A-E507D2C78025}"/>
              </a:ext>
            </a:extLst>
          </p:cNvPr>
          <p:cNvSpPr>
            <a:spLocks noGrp="1"/>
          </p:cNvSpPr>
          <p:nvPr>
            <p:ph type="title"/>
          </p:nvPr>
        </p:nvSpPr>
        <p:spPr>
          <a:xfrm>
            <a:off x="838200" y="18255"/>
            <a:ext cx="10515600" cy="1325563"/>
          </a:xfrm>
        </p:spPr>
        <p:txBody>
          <a:bodyPr/>
          <a:lstStyle/>
          <a:p>
            <a:r>
              <a:rPr lang="en-US" dirty="0"/>
              <a:t>Paths</a:t>
            </a:r>
          </a:p>
        </p:txBody>
      </p:sp>
    </p:spTree>
    <p:extLst>
      <p:ext uri="{BB962C8B-B14F-4D97-AF65-F5344CB8AC3E}">
        <p14:creationId xmlns:p14="http://schemas.microsoft.com/office/powerpoint/2010/main" val="5020335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8F51A-185E-26D7-246D-0DBD942DEFFA}"/>
              </a:ext>
            </a:extLst>
          </p:cNvPr>
          <p:cNvSpPr>
            <a:spLocks noGrp="1"/>
          </p:cNvSpPr>
          <p:nvPr>
            <p:ph type="title"/>
          </p:nvPr>
        </p:nvSpPr>
        <p:spPr/>
        <p:txBody>
          <a:bodyPr/>
          <a:lstStyle/>
          <a:p>
            <a:r>
              <a:rPr lang="en-US" dirty="0"/>
              <a:t>Connected Graph</a:t>
            </a:r>
          </a:p>
        </p:txBody>
      </p:sp>
      <p:sp>
        <p:nvSpPr>
          <p:cNvPr id="3" name="Content Placeholder 2">
            <a:extLst>
              <a:ext uri="{FF2B5EF4-FFF2-40B4-BE49-F238E27FC236}">
                <a16:creationId xmlns:a16="http://schemas.microsoft.com/office/drawing/2014/main" id="{60DD437A-A80A-B9C0-FD08-F46CBE48F484}"/>
              </a:ext>
            </a:extLst>
          </p:cNvPr>
          <p:cNvSpPr>
            <a:spLocks noGrp="1"/>
          </p:cNvSpPr>
          <p:nvPr>
            <p:ph idx="1"/>
          </p:nvPr>
        </p:nvSpPr>
        <p:spPr/>
        <p:txBody>
          <a:bodyPr/>
          <a:lstStyle/>
          <a:p>
            <a:r>
              <a:rPr lang="en-US" b="1" dirty="0"/>
              <a:t>A graph is said to be connected if for every pair of its vertices u and v there is a path from u to v. </a:t>
            </a:r>
          </a:p>
          <a:p>
            <a:r>
              <a:rPr lang="en-US" dirty="0"/>
              <a:t>If a graph is not connected, such a model will consist of several connected pieces that are called connected components of the graph. </a:t>
            </a:r>
          </a:p>
          <a:p>
            <a:r>
              <a:rPr lang="en-US" dirty="0"/>
              <a:t>Formally, a connected component is a maximal (not expandable by including another vertex and an edge) connected subgraph of a given graph. </a:t>
            </a:r>
          </a:p>
        </p:txBody>
      </p:sp>
      <p:pic>
        <p:nvPicPr>
          <p:cNvPr id="4" name="Picture 3" descr="A diagram of a connection&#10;&#10;Description automatically generated with medium confidence">
            <a:extLst>
              <a:ext uri="{FF2B5EF4-FFF2-40B4-BE49-F238E27FC236}">
                <a16:creationId xmlns:a16="http://schemas.microsoft.com/office/drawing/2014/main" id="{34E1BB83-E8A7-6252-A016-438EC06BE985}"/>
              </a:ext>
            </a:extLst>
          </p:cNvPr>
          <p:cNvPicPr>
            <a:picLocks noChangeAspect="1"/>
          </p:cNvPicPr>
          <p:nvPr/>
        </p:nvPicPr>
        <p:blipFill>
          <a:blip r:embed="rId2"/>
          <a:srcRect r="56633" b="19903"/>
          <a:stretch/>
        </p:blipFill>
        <p:spPr>
          <a:xfrm>
            <a:off x="1826957" y="4297798"/>
            <a:ext cx="2346224" cy="1413950"/>
          </a:xfrm>
          <a:prstGeom prst="rect">
            <a:avLst/>
          </a:prstGeom>
        </p:spPr>
      </p:pic>
      <p:pic>
        <p:nvPicPr>
          <p:cNvPr id="5" name="Picture 4" descr="A number and number symbols&#10;&#10;Description automatically generated with medium confidence">
            <a:extLst>
              <a:ext uri="{FF2B5EF4-FFF2-40B4-BE49-F238E27FC236}">
                <a16:creationId xmlns:a16="http://schemas.microsoft.com/office/drawing/2014/main" id="{B0E07ED2-2FF3-B6BA-9B10-F24E6DE9CE46}"/>
              </a:ext>
            </a:extLst>
          </p:cNvPr>
          <p:cNvPicPr>
            <a:picLocks noChangeAspect="1"/>
          </p:cNvPicPr>
          <p:nvPr/>
        </p:nvPicPr>
        <p:blipFill>
          <a:blip r:embed="rId3"/>
          <a:srcRect r="72605" b="17155"/>
          <a:stretch/>
        </p:blipFill>
        <p:spPr>
          <a:xfrm>
            <a:off x="6344880" y="4186160"/>
            <a:ext cx="1864851" cy="1525588"/>
          </a:xfrm>
          <a:prstGeom prst="rect">
            <a:avLst/>
          </a:prstGeom>
        </p:spPr>
      </p:pic>
      <p:sp>
        <p:nvSpPr>
          <p:cNvPr id="7" name="TextBox 6">
            <a:extLst>
              <a:ext uri="{FF2B5EF4-FFF2-40B4-BE49-F238E27FC236}">
                <a16:creationId xmlns:a16="http://schemas.microsoft.com/office/drawing/2014/main" id="{AF77562B-DED1-D60B-A094-A046C0755A94}"/>
              </a:ext>
            </a:extLst>
          </p:cNvPr>
          <p:cNvSpPr txBox="1"/>
          <p:nvPr/>
        </p:nvSpPr>
        <p:spPr>
          <a:xfrm>
            <a:off x="1722490" y="6180548"/>
            <a:ext cx="2555158" cy="369332"/>
          </a:xfrm>
          <a:prstGeom prst="rect">
            <a:avLst/>
          </a:prstGeom>
          <a:noFill/>
        </p:spPr>
        <p:txBody>
          <a:bodyPr wrap="square">
            <a:spAutoFit/>
          </a:bodyPr>
          <a:lstStyle/>
          <a:p>
            <a:pPr algn="ctr"/>
            <a:r>
              <a:rPr lang="en-US" dirty="0"/>
              <a:t>Connected Graph</a:t>
            </a:r>
          </a:p>
        </p:txBody>
      </p:sp>
      <p:sp>
        <p:nvSpPr>
          <p:cNvPr id="8" name="TextBox 7">
            <a:extLst>
              <a:ext uri="{FF2B5EF4-FFF2-40B4-BE49-F238E27FC236}">
                <a16:creationId xmlns:a16="http://schemas.microsoft.com/office/drawing/2014/main" id="{A105397A-0517-D3A0-14CA-965C80F35524}"/>
              </a:ext>
            </a:extLst>
          </p:cNvPr>
          <p:cNvSpPr txBox="1"/>
          <p:nvPr/>
        </p:nvSpPr>
        <p:spPr>
          <a:xfrm>
            <a:off x="6096000" y="6224904"/>
            <a:ext cx="2555158" cy="369332"/>
          </a:xfrm>
          <a:prstGeom prst="rect">
            <a:avLst/>
          </a:prstGeom>
          <a:noFill/>
        </p:spPr>
        <p:txBody>
          <a:bodyPr wrap="square">
            <a:spAutoFit/>
          </a:bodyPr>
          <a:lstStyle/>
          <a:p>
            <a:pPr algn="ctr"/>
            <a:r>
              <a:rPr lang="en-US" dirty="0"/>
              <a:t>Connected Graph</a:t>
            </a:r>
          </a:p>
        </p:txBody>
      </p:sp>
    </p:spTree>
    <p:extLst>
      <p:ext uri="{BB962C8B-B14F-4D97-AF65-F5344CB8AC3E}">
        <p14:creationId xmlns:p14="http://schemas.microsoft.com/office/powerpoint/2010/main" val="42607026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03C803-6074-3CC8-AE44-483C6ECE5A50}"/>
              </a:ext>
            </a:extLst>
          </p:cNvPr>
          <p:cNvSpPr>
            <a:spLocks noGrp="1"/>
          </p:cNvSpPr>
          <p:nvPr>
            <p:ph idx="1"/>
          </p:nvPr>
        </p:nvSpPr>
        <p:spPr/>
        <p:txBody>
          <a:bodyPr/>
          <a:lstStyle/>
          <a:p>
            <a:r>
              <a:rPr lang="en-US" dirty="0"/>
              <a:t>Whereas the graph in Figure 1.9 is not, because there is no path, for example, from a to f. The graph in Figure 1.9 has two connected components with vertices {a, b, c, d, e} and {f, g, h, </a:t>
            </a:r>
            <a:r>
              <a:rPr lang="en-US" dirty="0" err="1"/>
              <a:t>i</a:t>
            </a:r>
            <a:r>
              <a:rPr lang="en-US" dirty="0"/>
              <a:t>}, respectively. </a:t>
            </a:r>
          </a:p>
          <a:p>
            <a:endParaRPr lang="en-US" dirty="0"/>
          </a:p>
          <a:p>
            <a:endParaRPr lang="en-US" dirty="0"/>
          </a:p>
        </p:txBody>
      </p:sp>
      <p:sp>
        <p:nvSpPr>
          <p:cNvPr id="5" name="TextBox 4">
            <a:extLst>
              <a:ext uri="{FF2B5EF4-FFF2-40B4-BE49-F238E27FC236}">
                <a16:creationId xmlns:a16="http://schemas.microsoft.com/office/drawing/2014/main" id="{65BFA370-0A6C-A86E-9B05-1F038EBCCCD8}"/>
              </a:ext>
            </a:extLst>
          </p:cNvPr>
          <p:cNvSpPr txBox="1"/>
          <p:nvPr/>
        </p:nvSpPr>
        <p:spPr>
          <a:xfrm>
            <a:off x="3329448" y="6311900"/>
            <a:ext cx="6098458" cy="369332"/>
          </a:xfrm>
          <a:prstGeom prst="rect">
            <a:avLst/>
          </a:prstGeom>
          <a:noFill/>
        </p:spPr>
        <p:txBody>
          <a:bodyPr wrap="square">
            <a:spAutoFit/>
          </a:bodyPr>
          <a:lstStyle/>
          <a:p>
            <a:r>
              <a:rPr lang="en-US" dirty="0"/>
              <a:t>FIGURE 1.9 Graph that is not connected. </a:t>
            </a:r>
          </a:p>
        </p:txBody>
      </p:sp>
      <p:pic>
        <p:nvPicPr>
          <p:cNvPr id="7" name="Picture 6" descr="A diagram of a network&#10;&#10;Description automatically generated with medium confidence">
            <a:extLst>
              <a:ext uri="{FF2B5EF4-FFF2-40B4-BE49-F238E27FC236}">
                <a16:creationId xmlns:a16="http://schemas.microsoft.com/office/drawing/2014/main" id="{99BD1DAA-915D-B62F-22CB-AC580F9ADF80}"/>
              </a:ext>
            </a:extLst>
          </p:cNvPr>
          <p:cNvPicPr>
            <a:picLocks noChangeAspect="1"/>
          </p:cNvPicPr>
          <p:nvPr/>
        </p:nvPicPr>
        <p:blipFill>
          <a:blip r:embed="rId2"/>
          <a:stretch>
            <a:fillRect/>
          </a:stretch>
        </p:blipFill>
        <p:spPr>
          <a:xfrm>
            <a:off x="3201629" y="3429000"/>
            <a:ext cx="4343400" cy="2044700"/>
          </a:xfrm>
          <a:prstGeom prst="rect">
            <a:avLst/>
          </a:prstGeom>
        </p:spPr>
      </p:pic>
      <p:sp>
        <p:nvSpPr>
          <p:cNvPr id="8" name="Title 1">
            <a:extLst>
              <a:ext uri="{FF2B5EF4-FFF2-40B4-BE49-F238E27FC236}">
                <a16:creationId xmlns:a16="http://schemas.microsoft.com/office/drawing/2014/main" id="{AF4CE0C7-2747-1362-A32F-97CBD147EB22}"/>
              </a:ext>
            </a:extLst>
          </p:cNvPr>
          <p:cNvSpPr>
            <a:spLocks noGrp="1"/>
          </p:cNvSpPr>
          <p:nvPr>
            <p:ph type="title"/>
          </p:nvPr>
        </p:nvSpPr>
        <p:spPr>
          <a:xfrm>
            <a:off x="838200" y="0"/>
            <a:ext cx="10515600" cy="1325563"/>
          </a:xfrm>
        </p:spPr>
        <p:txBody>
          <a:bodyPr/>
          <a:lstStyle/>
          <a:p>
            <a:r>
              <a:rPr lang="en-US" dirty="0"/>
              <a:t>Connected Graph (Cont.)</a:t>
            </a:r>
          </a:p>
        </p:txBody>
      </p:sp>
    </p:spTree>
    <p:extLst>
      <p:ext uri="{BB962C8B-B14F-4D97-AF65-F5344CB8AC3E}">
        <p14:creationId xmlns:p14="http://schemas.microsoft.com/office/powerpoint/2010/main" val="14123549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60BB3D-9C31-B358-BD0E-B88D0902774A}"/>
              </a:ext>
            </a:extLst>
          </p:cNvPr>
          <p:cNvSpPr>
            <a:spLocks noGrp="1"/>
          </p:cNvSpPr>
          <p:nvPr>
            <p:ph idx="1"/>
          </p:nvPr>
        </p:nvSpPr>
        <p:spPr/>
        <p:txBody>
          <a:bodyPr/>
          <a:lstStyle/>
          <a:p>
            <a:r>
              <a:rPr lang="en-US" dirty="0"/>
              <a:t>Graphs with several connected components do happen in real-world applications. </a:t>
            </a:r>
          </a:p>
          <a:p>
            <a:pPr lvl="1"/>
            <a:r>
              <a:rPr lang="en-US" dirty="0"/>
              <a:t>A graph representing the Interstate highway system of the United States would be an example </a:t>
            </a:r>
          </a:p>
          <a:p>
            <a:endParaRPr lang="en-US" dirty="0"/>
          </a:p>
        </p:txBody>
      </p:sp>
      <p:sp>
        <p:nvSpPr>
          <p:cNvPr id="4" name="Title 1">
            <a:extLst>
              <a:ext uri="{FF2B5EF4-FFF2-40B4-BE49-F238E27FC236}">
                <a16:creationId xmlns:a16="http://schemas.microsoft.com/office/drawing/2014/main" id="{10A72F12-B1C3-3CC1-BD6D-CD9458448678}"/>
              </a:ext>
            </a:extLst>
          </p:cNvPr>
          <p:cNvSpPr>
            <a:spLocks noGrp="1"/>
          </p:cNvSpPr>
          <p:nvPr>
            <p:ph type="title"/>
          </p:nvPr>
        </p:nvSpPr>
        <p:spPr>
          <a:xfrm>
            <a:off x="838200" y="18255"/>
            <a:ext cx="10515600" cy="1325563"/>
          </a:xfrm>
        </p:spPr>
        <p:txBody>
          <a:bodyPr/>
          <a:lstStyle/>
          <a:p>
            <a:r>
              <a:rPr lang="en-US" dirty="0"/>
              <a:t>Connected Graph (Cont.)</a:t>
            </a:r>
          </a:p>
        </p:txBody>
      </p:sp>
    </p:spTree>
    <p:extLst>
      <p:ext uri="{BB962C8B-B14F-4D97-AF65-F5344CB8AC3E}">
        <p14:creationId xmlns:p14="http://schemas.microsoft.com/office/powerpoint/2010/main" val="24795597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8F28C8-4B7D-6BB7-7BE6-DC41328FD30C}"/>
              </a:ext>
            </a:extLst>
          </p:cNvPr>
          <p:cNvSpPr>
            <a:spLocks noGrp="1"/>
          </p:cNvSpPr>
          <p:nvPr>
            <p:ph idx="1"/>
          </p:nvPr>
        </p:nvSpPr>
        <p:spPr/>
        <p:txBody>
          <a:bodyPr/>
          <a:lstStyle/>
          <a:p>
            <a:r>
              <a:rPr lang="en-US" dirty="0"/>
              <a:t>It is important to know for many applications whether or not a graph under consideration has cycles. </a:t>
            </a:r>
          </a:p>
          <a:p>
            <a:r>
              <a:rPr lang="en-US" dirty="0"/>
              <a:t>A cycle is a path of a positive length that starts and ends at the same vertex and does not traverse the same edge more than once. </a:t>
            </a:r>
          </a:p>
          <a:p>
            <a:r>
              <a:rPr lang="en-US" dirty="0"/>
              <a:t>For example, f, h, </a:t>
            </a:r>
            <a:r>
              <a:rPr lang="en-US" dirty="0" err="1"/>
              <a:t>i</a:t>
            </a:r>
            <a:r>
              <a:rPr lang="en-US" dirty="0"/>
              <a:t>, g, f is a cycle in the graph in Figure 1.9. </a:t>
            </a:r>
          </a:p>
          <a:p>
            <a:r>
              <a:rPr lang="en-US" dirty="0"/>
              <a:t>A graph with no cycles is said to be acyclic. </a:t>
            </a:r>
          </a:p>
          <a:p>
            <a:endParaRPr lang="en-US" dirty="0"/>
          </a:p>
        </p:txBody>
      </p:sp>
      <p:sp>
        <p:nvSpPr>
          <p:cNvPr id="4" name="Title 1">
            <a:extLst>
              <a:ext uri="{FF2B5EF4-FFF2-40B4-BE49-F238E27FC236}">
                <a16:creationId xmlns:a16="http://schemas.microsoft.com/office/drawing/2014/main" id="{DCD0D546-B782-8B84-E6FF-A88F8FDDA7D1}"/>
              </a:ext>
            </a:extLst>
          </p:cNvPr>
          <p:cNvSpPr>
            <a:spLocks noGrp="1"/>
          </p:cNvSpPr>
          <p:nvPr>
            <p:ph type="title"/>
          </p:nvPr>
        </p:nvSpPr>
        <p:spPr>
          <a:xfrm>
            <a:off x="838200" y="18255"/>
            <a:ext cx="10515600" cy="1325563"/>
          </a:xfrm>
        </p:spPr>
        <p:txBody>
          <a:bodyPr/>
          <a:lstStyle/>
          <a:p>
            <a:r>
              <a:rPr lang="en-US" dirty="0"/>
              <a:t>Cycles</a:t>
            </a:r>
          </a:p>
        </p:txBody>
      </p:sp>
      <p:pic>
        <p:nvPicPr>
          <p:cNvPr id="5" name="Picture 4" descr="A diagram of a network&#10;&#10;Description automatically generated with medium confidence">
            <a:extLst>
              <a:ext uri="{FF2B5EF4-FFF2-40B4-BE49-F238E27FC236}">
                <a16:creationId xmlns:a16="http://schemas.microsoft.com/office/drawing/2014/main" id="{4792B5B1-7220-51E0-3AEC-852A8B46F4B4}"/>
              </a:ext>
            </a:extLst>
          </p:cNvPr>
          <p:cNvPicPr>
            <a:picLocks noChangeAspect="1"/>
          </p:cNvPicPr>
          <p:nvPr/>
        </p:nvPicPr>
        <p:blipFill>
          <a:blip r:embed="rId2"/>
          <a:stretch>
            <a:fillRect/>
          </a:stretch>
        </p:blipFill>
        <p:spPr>
          <a:xfrm>
            <a:off x="3334364" y="4564626"/>
            <a:ext cx="4343400" cy="2044700"/>
          </a:xfrm>
          <a:prstGeom prst="rect">
            <a:avLst/>
          </a:prstGeom>
        </p:spPr>
      </p:pic>
    </p:spTree>
    <p:extLst>
      <p:ext uri="{BB962C8B-B14F-4D97-AF65-F5344CB8AC3E}">
        <p14:creationId xmlns:p14="http://schemas.microsoft.com/office/powerpoint/2010/main" val="24532226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25A81-1327-F03D-6FFA-24C112115F1C}"/>
              </a:ext>
            </a:extLst>
          </p:cNvPr>
          <p:cNvSpPr>
            <a:spLocks noGrp="1"/>
          </p:cNvSpPr>
          <p:nvPr>
            <p:ph type="title"/>
          </p:nvPr>
        </p:nvSpPr>
        <p:spPr/>
        <p:txBody>
          <a:bodyPr/>
          <a:lstStyle/>
          <a:p>
            <a:r>
              <a:rPr lang="en-US" dirty="0"/>
              <a:t>Trees </a:t>
            </a:r>
          </a:p>
        </p:txBody>
      </p:sp>
      <p:sp>
        <p:nvSpPr>
          <p:cNvPr id="3" name="Content Placeholder 2">
            <a:extLst>
              <a:ext uri="{FF2B5EF4-FFF2-40B4-BE49-F238E27FC236}">
                <a16:creationId xmlns:a16="http://schemas.microsoft.com/office/drawing/2014/main" id="{4855B868-8AA7-5C3C-20B5-5C7881CF4AEF}"/>
              </a:ext>
            </a:extLst>
          </p:cNvPr>
          <p:cNvSpPr>
            <a:spLocks noGrp="1"/>
          </p:cNvSpPr>
          <p:nvPr>
            <p:ph idx="1"/>
          </p:nvPr>
        </p:nvSpPr>
        <p:spPr/>
        <p:txBody>
          <a:bodyPr/>
          <a:lstStyle/>
          <a:p>
            <a:r>
              <a:rPr lang="en-US" dirty="0"/>
              <a:t>A tree (more accurately, a free tree) is a connected acyclic graph (Figure 1.10a). </a:t>
            </a:r>
          </a:p>
          <a:p>
            <a:r>
              <a:rPr lang="en-US" dirty="0"/>
              <a:t>A graph that has no cycles but is not necessarily connected is called a forest: each of its connected components is a tree (Figure 1.10b). </a:t>
            </a:r>
          </a:p>
          <a:p>
            <a:endParaRPr lang="en-US" dirty="0"/>
          </a:p>
        </p:txBody>
      </p:sp>
      <p:sp>
        <p:nvSpPr>
          <p:cNvPr id="5" name="TextBox 4">
            <a:extLst>
              <a:ext uri="{FF2B5EF4-FFF2-40B4-BE49-F238E27FC236}">
                <a16:creationId xmlns:a16="http://schemas.microsoft.com/office/drawing/2014/main" id="{5AF59BD5-87D0-2DDA-E368-4DF5BDD02A95}"/>
              </a:ext>
            </a:extLst>
          </p:cNvPr>
          <p:cNvSpPr txBox="1"/>
          <p:nvPr/>
        </p:nvSpPr>
        <p:spPr>
          <a:xfrm>
            <a:off x="3403190" y="6338986"/>
            <a:ext cx="6098458" cy="307777"/>
          </a:xfrm>
          <a:prstGeom prst="rect">
            <a:avLst/>
          </a:prstGeom>
          <a:noFill/>
        </p:spPr>
        <p:txBody>
          <a:bodyPr wrap="square">
            <a:spAutoFit/>
          </a:bodyPr>
          <a:lstStyle/>
          <a:p>
            <a:pPr algn="ctr"/>
            <a:r>
              <a:rPr lang="en-US" sz="1400" dirty="0"/>
              <a:t>FIGURE 1.10 (a) Tree. (b) Forest. </a:t>
            </a:r>
          </a:p>
        </p:txBody>
      </p:sp>
      <p:pic>
        <p:nvPicPr>
          <p:cNvPr id="7" name="Picture 6" descr="A diagram of a network&#10;&#10;Description automatically generated with medium confidence">
            <a:extLst>
              <a:ext uri="{FF2B5EF4-FFF2-40B4-BE49-F238E27FC236}">
                <a16:creationId xmlns:a16="http://schemas.microsoft.com/office/drawing/2014/main" id="{510516A1-F6B7-7B7F-F504-2CB295DFB28F}"/>
              </a:ext>
            </a:extLst>
          </p:cNvPr>
          <p:cNvPicPr>
            <a:picLocks noChangeAspect="1"/>
          </p:cNvPicPr>
          <p:nvPr/>
        </p:nvPicPr>
        <p:blipFill>
          <a:blip r:embed="rId2"/>
          <a:stretch>
            <a:fillRect/>
          </a:stretch>
        </p:blipFill>
        <p:spPr>
          <a:xfrm>
            <a:off x="3180325" y="3429000"/>
            <a:ext cx="5359400" cy="2324100"/>
          </a:xfrm>
          <a:prstGeom prst="rect">
            <a:avLst/>
          </a:prstGeom>
        </p:spPr>
      </p:pic>
    </p:spTree>
    <p:extLst>
      <p:ext uri="{BB962C8B-B14F-4D97-AF65-F5344CB8AC3E}">
        <p14:creationId xmlns:p14="http://schemas.microsoft.com/office/powerpoint/2010/main" val="268420080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8CF231-CBE2-514F-3990-C6C70DF3873C}"/>
              </a:ext>
            </a:extLst>
          </p:cNvPr>
          <p:cNvSpPr>
            <a:spLocks noGrp="1"/>
          </p:cNvSpPr>
          <p:nvPr>
            <p:ph idx="1"/>
          </p:nvPr>
        </p:nvSpPr>
        <p:spPr/>
        <p:txBody>
          <a:bodyPr/>
          <a:lstStyle/>
          <a:p>
            <a:r>
              <a:rPr lang="en-US" dirty="0"/>
              <a:t>Trees have several important properties other graphs do not have. </a:t>
            </a:r>
          </a:p>
          <a:p>
            <a:r>
              <a:rPr lang="en-US" dirty="0"/>
              <a:t>Number of edges in a tree is always one less than the number of its vertices: </a:t>
            </a:r>
          </a:p>
          <a:p>
            <a:endParaRPr lang="en-US" dirty="0"/>
          </a:p>
        </p:txBody>
      </p:sp>
      <p:pic>
        <p:nvPicPr>
          <p:cNvPr id="5" name="Picture 4" descr="A black and white math symbol&#10;&#10;Description automatically generated">
            <a:extLst>
              <a:ext uri="{FF2B5EF4-FFF2-40B4-BE49-F238E27FC236}">
                <a16:creationId xmlns:a16="http://schemas.microsoft.com/office/drawing/2014/main" id="{4090C015-87C5-D95A-090E-7669260034B8}"/>
              </a:ext>
            </a:extLst>
          </p:cNvPr>
          <p:cNvPicPr>
            <a:picLocks noChangeAspect="1"/>
          </p:cNvPicPr>
          <p:nvPr/>
        </p:nvPicPr>
        <p:blipFill>
          <a:blip r:embed="rId2"/>
          <a:stretch>
            <a:fillRect/>
          </a:stretch>
        </p:blipFill>
        <p:spPr>
          <a:xfrm>
            <a:off x="4495799" y="2713702"/>
            <a:ext cx="1934497" cy="552713"/>
          </a:xfrm>
          <a:prstGeom prst="rect">
            <a:avLst/>
          </a:prstGeom>
        </p:spPr>
      </p:pic>
      <p:sp>
        <p:nvSpPr>
          <p:cNvPr id="6" name="Title 1">
            <a:extLst>
              <a:ext uri="{FF2B5EF4-FFF2-40B4-BE49-F238E27FC236}">
                <a16:creationId xmlns:a16="http://schemas.microsoft.com/office/drawing/2014/main" id="{3FB18038-2B46-8175-22DE-975C394698A6}"/>
              </a:ext>
            </a:extLst>
          </p:cNvPr>
          <p:cNvSpPr>
            <a:spLocks noGrp="1"/>
          </p:cNvSpPr>
          <p:nvPr>
            <p:ph type="title"/>
          </p:nvPr>
        </p:nvSpPr>
        <p:spPr>
          <a:xfrm>
            <a:off x="838200" y="17386"/>
            <a:ext cx="10515600" cy="1325563"/>
          </a:xfrm>
        </p:spPr>
        <p:txBody>
          <a:bodyPr/>
          <a:lstStyle/>
          <a:p>
            <a:r>
              <a:rPr lang="en-US" dirty="0"/>
              <a:t>Trees (cont.) </a:t>
            </a:r>
          </a:p>
        </p:txBody>
      </p:sp>
    </p:spTree>
    <p:extLst>
      <p:ext uri="{BB962C8B-B14F-4D97-AF65-F5344CB8AC3E}">
        <p14:creationId xmlns:p14="http://schemas.microsoft.com/office/powerpoint/2010/main" val="21045283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432378-5718-DDEE-2A2A-D68516AA2B25}"/>
              </a:ext>
            </a:extLst>
          </p:cNvPr>
          <p:cNvSpPr>
            <a:spLocks noGrp="1"/>
          </p:cNvSpPr>
          <p:nvPr>
            <p:ph idx="1"/>
          </p:nvPr>
        </p:nvSpPr>
        <p:spPr/>
        <p:txBody>
          <a:bodyPr/>
          <a:lstStyle/>
          <a:p>
            <a:r>
              <a:rPr lang="en-US" b="1" dirty="0"/>
              <a:t>Rooted Trees is another very important property of trees is the fact that for every two vertices in a tree, there always exists exactly one simple path from one of these vertices to the other. </a:t>
            </a:r>
          </a:p>
          <a:p>
            <a:r>
              <a:rPr lang="en-US" b="1" dirty="0"/>
              <a:t>This property makes it possible to select an arbitrary vertex in a free tree and consider it as the root of the so-called rooted tree. </a:t>
            </a:r>
          </a:p>
          <a:p>
            <a:r>
              <a:rPr lang="en-US" dirty="0"/>
              <a:t>A </a:t>
            </a:r>
            <a:r>
              <a:rPr lang="en-US" b="1" dirty="0"/>
              <a:t>rooted tree </a:t>
            </a:r>
            <a:r>
              <a:rPr lang="en-US" dirty="0"/>
              <a:t>is usually depicted by placing its root on the top (level 0 of the tree), the vertices adjacent to the root below it (level 1), the vertices two edges apart from the root still below (level 2), and so on. </a:t>
            </a:r>
          </a:p>
          <a:p>
            <a:r>
              <a:rPr lang="en-US" dirty="0"/>
              <a:t>Figure 1.11 presents such a transformation from a free tree to a rooted tree. </a:t>
            </a:r>
          </a:p>
          <a:p>
            <a:endParaRPr lang="en-US" dirty="0"/>
          </a:p>
        </p:txBody>
      </p:sp>
      <p:sp>
        <p:nvSpPr>
          <p:cNvPr id="5" name="TextBox 4">
            <a:extLst>
              <a:ext uri="{FF2B5EF4-FFF2-40B4-BE49-F238E27FC236}">
                <a16:creationId xmlns:a16="http://schemas.microsoft.com/office/drawing/2014/main" id="{5C623AD4-5D5A-12AF-B80B-139543779CAB}"/>
              </a:ext>
            </a:extLst>
          </p:cNvPr>
          <p:cNvSpPr txBox="1"/>
          <p:nvPr/>
        </p:nvSpPr>
        <p:spPr>
          <a:xfrm>
            <a:off x="3167216" y="6492875"/>
            <a:ext cx="5460590" cy="307777"/>
          </a:xfrm>
          <a:prstGeom prst="rect">
            <a:avLst/>
          </a:prstGeom>
          <a:noFill/>
        </p:spPr>
        <p:txBody>
          <a:bodyPr wrap="square">
            <a:spAutoFit/>
          </a:bodyPr>
          <a:lstStyle/>
          <a:p>
            <a:r>
              <a:rPr lang="en-US" sz="1400" dirty="0"/>
              <a:t>FIGURE 1.11 (a) Free tree. (b) Its transformation into a rooted tree. </a:t>
            </a:r>
          </a:p>
        </p:txBody>
      </p:sp>
      <p:pic>
        <p:nvPicPr>
          <p:cNvPr id="7" name="Picture 6" descr="A diagram of a network&#10;&#10;Description automatically generated with medium confidence">
            <a:extLst>
              <a:ext uri="{FF2B5EF4-FFF2-40B4-BE49-F238E27FC236}">
                <a16:creationId xmlns:a16="http://schemas.microsoft.com/office/drawing/2014/main" id="{AC834255-DD0F-857B-1F69-F15D788E7FAD}"/>
              </a:ext>
            </a:extLst>
          </p:cNvPr>
          <p:cNvPicPr>
            <a:picLocks noChangeAspect="1"/>
          </p:cNvPicPr>
          <p:nvPr/>
        </p:nvPicPr>
        <p:blipFill>
          <a:blip r:embed="rId2"/>
          <a:stretch>
            <a:fillRect/>
          </a:stretch>
        </p:blipFill>
        <p:spPr>
          <a:xfrm>
            <a:off x="3167216" y="4740508"/>
            <a:ext cx="5006668" cy="1904927"/>
          </a:xfrm>
          <a:prstGeom prst="rect">
            <a:avLst/>
          </a:prstGeom>
        </p:spPr>
      </p:pic>
      <p:sp>
        <p:nvSpPr>
          <p:cNvPr id="8" name="Title 1">
            <a:extLst>
              <a:ext uri="{FF2B5EF4-FFF2-40B4-BE49-F238E27FC236}">
                <a16:creationId xmlns:a16="http://schemas.microsoft.com/office/drawing/2014/main" id="{05555C45-DD7A-544F-8CC9-2F160E8E96C6}"/>
              </a:ext>
            </a:extLst>
          </p:cNvPr>
          <p:cNvSpPr>
            <a:spLocks noGrp="1"/>
          </p:cNvSpPr>
          <p:nvPr>
            <p:ph type="title"/>
          </p:nvPr>
        </p:nvSpPr>
        <p:spPr>
          <a:xfrm>
            <a:off x="838200" y="31590"/>
            <a:ext cx="10515600" cy="1325563"/>
          </a:xfrm>
        </p:spPr>
        <p:txBody>
          <a:bodyPr/>
          <a:lstStyle/>
          <a:p>
            <a:r>
              <a:rPr lang="en-US" dirty="0"/>
              <a:t>Trees (cont.) </a:t>
            </a:r>
          </a:p>
        </p:txBody>
      </p:sp>
    </p:spTree>
    <p:extLst>
      <p:ext uri="{BB962C8B-B14F-4D97-AF65-F5344CB8AC3E}">
        <p14:creationId xmlns:p14="http://schemas.microsoft.com/office/powerpoint/2010/main" val="40083465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AFD834-55B8-2AAB-6C1A-CC92050ACBB3}"/>
              </a:ext>
            </a:extLst>
          </p:cNvPr>
          <p:cNvSpPr>
            <a:spLocks noGrp="1"/>
          </p:cNvSpPr>
          <p:nvPr>
            <p:ph idx="1"/>
          </p:nvPr>
        </p:nvSpPr>
        <p:spPr/>
        <p:txBody>
          <a:bodyPr/>
          <a:lstStyle/>
          <a:p>
            <a:r>
              <a:rPr lang="en-US" b="1" dirty="0"/>
              <a:t>Rooted trees </a:t>
            </a:r>
            <a:r>
              <a:rPr lang="en-US" dirty="0"/>
              <a:t>play a very important role in computer science, a much more important one than free trees do; in fact, for the sake of brevity, they are often referred to as simply “trees.” </a:t>
            </a:r>
          </a:p>
          <a:p>
            <a:r>
              <a:rPr lang="en-US" dirty="0"/>
              <a:t>An obvious application of trees is for describing hierarchies, from file directories to organizational charts of enterprises. </a:t>
            </a:r>
          </a:p>
        </p:txBody>
      </p:sp>
      <p:sp>
        <p:nvSpPr>
          <p:cNvPr id="4" name="Title 1">
            <a:extLst>
              <a:ext uri="{FF2B5EF4-FFF2-40B4-BE49-F238E27FC236}">
                <a16:creationId xmlns:a16="http://schemas.microsoft.com/office/drawing/2014/main" id="{1BD17164-C5AE-5374-A817-B0340D253226}"/>
              </a:ext>
            </a:extLst>
          </p:cNvPr>
          <p:cNvSpPr>
            <a:spLocks noGrp="1"/>
          </p:cNvSpPr>
          <p:nvPr>
            <p:ph type="title"/>
          </p:nvPr>
        </p:nvSpPr>
        <p:spPr>
          <a:xfrm>
            <a:off x="838200" y="0"/>
            <a:ext cx="10515600" cy="1325563"/>
          </a:xfrm>
        </p:spPr>
        <p:txBody>
          <a:bodyPr/>
          <a:lstStyle/>
          <a:p>
            <a:r>
              <a:rPr lang="en-US" dirty="0"/>
              <a:t>Trees (cont.) </a:t>
            </a:r>
          </a:p>
        </p:txBody>
      </p:sp>
    </p:spTree>
    <p:extLst>
      <p:ext uri="{BB962C8B-B14F-4D97-AF65-F5344CB8AC3E}">
        <p14:creationId xmlns:p14="http://schemas.microsoft.com/office/powerpoint/2010/main" val="48612331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F2A74A-2B48-3653-F2E9-3084441E3C73}"/>
              </a:ext>
            </a:extLst>
          </p:cNvPr>
          <p:cNvSpPr>
            <a:spLocks noGrp="1"/>
          </p:cNvSpPr>
          <p:nvPr>
            <p:ph idx="1"/>
          </p:nvPr>
        </p:nvSpPr>
        <p:spPr/>
        <p:txBody>
          <a:bodyPr>
            <a:normAutofit/>
          </a:bodyPr>
          <a:lstStyle/>
          <a:p>
            <a:r>
              <a:rPr lang="en-US" dirty="0"/>
              <a:t>For any vertex v in a tree T , all the vertices on the simple path from the root to that vertex are called ancestors of v. </a:t>
            </a:r>
          </a:p>
          <a:p>
            <a:r>
              <a:rPr lang="en-US" dirty="0"/>
              <a:t>The vertex itself is usually considered its own ancestor; </a:t>
            </a:r>
          </a:p>
          <a:p>
            <a:r>
              <a:rPr lang="en-US" dirty="0"/>
              <a:t>The set of ancestors that excludes the vertex itself is referred to as the set of proper ancestors. </a:t>
            </a:r>
          </a:p>
          <a:p>
            <a:r>
              <a:rPr lang="en-US" dirty="0"/>
              <a:t>If (u, v) is the last edge of the simple path from the root to vertex v (and u ≠ v), u is said to be the parent of v and v is called a child of u; </a:t>
            </a:r>
          </a:p>
          <a:p>
            <a:r>
              <a:rPr lang="en-US" b="1" dirty="0"/>
              <a:t>vertices</a:t>
            </a:r>
            <a:r>
              <a:rPr lang="en-US" dirty="0"/>
              <a:t> that have the </a:t>
            </a:r>
            <a:r>
              <a:rPr lang="en-US" b="1" dirty="0"/>
              <a:t>same parent </a:t>
            </a:r>
            <a:r>
              <a:rPr lang="en-US" dirty="0"/>
              <a:t>are said to be </a:t>
            </a:r>
            <a:r>
              <a:rPr lang="en-US" b="1" dirty="0"/>
              <a:t>siblings</a:t>
            </a:r>
            <a:r>
              <a:rPr lang="en-US" dirty="0"/>
              <a:t>. </a:t>
            </a:r>
          </a:p>
        </p:txBody>
      </p:sp>
      <p:sp>
        <p:nvSpPr>
          <p:cNvPr id="4" name="Title 1">
            <a:extLst>
              <a:ext uri="{FF2B5EF4-FFF2-40B4-BE49-F238E27FC236}">
                <a16:creationId xmlns:a16="http://schemas.microsoft.com/office/drawing/2014/main" id="{46953558-B087-F350-1096-563693320295}"/>
              </a:ext>
            </a:extLst>
          </p:cNvPr>
          <p:cNvSpPr>
            <a:spLocks noGrp="1"/>
          </p:cNvSpPr>
          <p:nvPr>
            <p:ph type="title"/>
          </p:nvPr>
        </p:nvSpPr>
        <p:spPr>
          <a:xfrm>
            <a:off x="838200" y="18255"/>
            <a:ext cx="10515600" cy="1325563"/>
          </a:xfrm>
        </p:spPr>
        <p:txBody>
          <a:bodyPr/>
          <a:lstStyle/>
          <a:p>
            <a:r>
              <a:rPr lang="en-US" dirty="0"/>
              <a:t>Trees (cont.) </a:t>
            </a:r>
          </a:p>
        </p:txBody>
      </p:sp>
    </p:spTree>
    <p:extLst>
      <p:ext uri="{BB962C8B-B14F-4D97-AF65-F5344CB8AC3E}">
        <p14:creationId xmlns:p14="http://schemas.microsoft.com/office/powerpoint/2010/main" val="95000686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06A63F-0834-AB90-2632-C4B67072C190}"/>
              </a:ext>
            </a:extLst>
          </p:cNvPr>
          <p:cNvSpPr>
            <a:spLocks noGrp="1"/>
          </p:cNvSpPr>
          <p:nvPr>
            <p:ph idx="1"/>
          </p:nvPr>
        </p:nvSpPr>
        <p:spPr/>
        <p:txBody>
          <a:bodyPr/>
          <a:lstStyle/>
          <a:p>
            <a:r>
              <a:rPr lang="en-US" dirty="0"/>
              <a:t>A vertex with no children is called a </a:t>
            </a:r>
            <a:r>
              <a:rPr lang="en-US" b="1" dirty="0"/>
              <a:t>leaf </a:t>
            </a:r>
          </a:p>
          <a:p>
            <a:r>
              <a:rPr lang="en-US" dirty="0"/>
              <a:t>a </a:t>
            </a:r>
            <a:r>
              <a:rPr lang="en-US" b="1" dirty="0"/>
              <a:t>vertex with at least one child</a:t>
            </a:r>
            <a:r>
              <a:rPr lang="en-US" dirty="0"/>
              <a:t> is called </a:t>
            </a:r>
            <a:r>
              <a:rPr lang="en-US" b="1" dirty="0"/>
              <a:t>parental</a:t>
            </a:r>
            <a:r>
              <a:rPr lang="en-US" dirty="0"/>
              <a:t>. </a:t>
            </a:r>
          </a:p>
          <a:p>
            <a:r>
              <a:rPr lang="en-US" b="1" dirty="0"/>
              <a:t>All the vertices for which a vertex v is an ancestor are said to be descendants of v; the proper descendants exclude the vertex v itself. </a:t>
            </a:r>
          </a:p>
          <a:p>
            <a:r>
              <a:rPr lang="en-US" dirty="0"/>
              <a:t>All the descendants of a vertex v with all the edges connecting them form the subtree of T rooted at that vertex. </a:t>
            </a:r>
          </a:p>
          <a:p>
            <a:endParaRPr lang="en-US" dirty="0"/>
          </a:p>
        </p:txBody>
      </p:sp>
      <p:sp>
        <p:nvSpPr>
          <p:cNvPr id="4" name="Title 1">
            <a:extLst>
              <a:ext uri="{FF2B5EF4-FFF2-40B4-BE49-F238E27FC236}">
                <a16:creationId xmlns:a16="http://schemas.microsoft.com/office/drawing/2014/main" id="{EED3A301-6CA0-F2BA-5EA8-2DD280B98388}"/>
              </a:ext>
            </a:extLst>
          </p:cNvPr>
          <p:cNvSpPr>
            <a:spLocks noGrp="1"/>
          </p:cNvSpPr>
          <p:nvPr>
            <p:ph type="title"/>
          </p:nvPr>
        </p:nvSpPr>
        <p:spPr>
          <a:xfrm>
            <a:off x="838200" y="18255"/>
            <a:ext cx="10515600" cy="1325563"/>
          </a:xfrm>
        </p:spPr>
        <p:txBody>
          <a:bodyPr/>
          <a:lstStyle/>
          <a:p>
            <a:r>
              <a:rPr lang="en-US" dirty="0"/>
              <a:t>Trees (cont.) </a:t>
            </a:r>
          </a:p>
        </p:txBody>
      </p:sp>
    </p:spTree>
    <p:extLst>
      <p:ext uri="{BB962C8B-B14F-4D97-AF65-F5344CB8AC3E}">
        <p14:creationId xmlns:p14="http://schemas.microsoft.com/office/powerpoint/2010/main" val="7566081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5D3F02-9C69-E899-3256-15A3FADFC95E}"/>
              </a:ext>
            </a:extLst>
          </p:cNvPr>
          <p:cNvSpPr>
            <a:spLocks noGrp="1"/>
          </p:cNvSpPr>
          <p:nvPr>
            <p:ph idx="1"/>
          </p:nvPr>
        </p:nvSpPr>
        <p:spPr/>
        <p:txBody>
          <a:bodyPr/>
          <a:lstStyle/>
          <a:p>
            <a:r>
              <a:rPr lang="en-US" dirty="0"/>
              <a:t>The root of the tree is a; </a:t>
            </a:r>
          </a:p>
          <a:p>
            <a:r>
              <a:rPr lang="en-US" dirty="0"/>
              <a:t>Vertices d, g, f, h, and </a:t>
            </a:r>
            <a:r>
              <a:rPr lang="en-US" dirty="0" err="1"/>
              <a:t>i</a:t>
            </a:r>
            <a:r>
              <a:rPr lang="en-US" dirty="0"/>
              <a:t> are leaves, vertices a, b, e, and c are parental; </a:t>
            </a:r>
          </a:p>
          <a:p>
            <a:r>
              <a:rPr lang="en-US" dirty="0"/>
              <a:t>The parent of b is a; </a:t>
            </a:r>
          </a:p>
          <a:p>
            <a:r>
              <a:rPr lang="en-US" dirty="0"/>
              <a:t>The children of b are c and g; </a:t>
            </a:r>
          </a:p>
          <a:p>
            <a:r>
              <a:rPr lang="en-US" dirty="0"/>
              <a:t>The siblings of b are d and e; </a:t>
            </a:r>
          </a:p>
          <a:p>
            <a:r>
              <a:rPr lang="en-US" dirty="0"/>
              <a:t>the vertices of the subtree rooted at b are {b, c, g, h, </a:t>
            </a:r>
            <a:r>
              <a:rPr lang="en-US" dirty="0" err="1"/>
              <a:t>i</a:t>
            </a:r>
            <a:r>
              <a:rPr lang="en-US" dirty="0"/>
              <a:t>}. </a:t>
            </a:r>
          </a:p>
          <a:p>
            <a:endParaRPr lang="en-US" dirty="0"/>
          </a:p>
        </p:txBody>
      </p:sp>
      <p:sp>
        <p:nvSpPr>
          <p:cNvPr id="4" name="Title 1">
            <a:extLst>
              <a:ext uri="{FF2B5EF4-FFF2-40B4-BE49-F238E27FC236}">
                <a16:creationId xmlns:a16="http://schemas.microsoft.com/office/drawing/2014/main" id="{4A066E95-2A77-D227-1D22-6B7BDA59BDED}"/>
              </a:ext>
            </a:extLst>
          </p:cNvPr>
          <p:cNvSpPr>
            <a:spLocks noGrp="1"/>
          </p:cNvSpPr>
          <p:nvPr>
            <p:ph type="title"/>
          </p:nvPr>
        </p:nvSpPr>
        <p:spPr>
          <a:xfrm>
            <a:off x="838200" y="18255"/>
            <a:ext cx="10515600" cy="1325563"/>
          </a:xfrm>
        </p:spPr>
        <p:txBody>
          <a:bodyPr/>
          <a:lstStyle/>
          <a:p>
            <a:r>
              <a:rPr lang="en-US" dirty="0"/>
              <a:t>Trees (cont.) </a:t>
            </a:r>
          </a:p>
        </p:txBody>
      </p:sp>
      <p:pic>
        <p:nvPicPr>
          <p:cNvPr id="9" name="Picture 8" descr="A diagram of a tree&#10;&#10;Description automatically generated">
            <a:extLst>
              <a:ext uri="{FF2B5EF4-FFF2-40B4-BE49-F238E27FC236}">
                <a16:creationId xmlns:a16="http://schemas.microsoft.com/office/drawing/2014/main" id="{2A4348FB-B4CC-8369-EE11-5FA50645F665}"/>
              </a:ext>
            </a:extLst>
          </p:cNvPr>
          <p:cNvPicPr>
            <a:picLocks noChangeAspect="1"/>
          </p:cNvPicPr>
          <p:nvPr/>
        </p:nvPicPr>
        <p:blipFill>
          <a:blip r:embed="rId2"/>
          <a:stretch>
            <a:fillRect/>
          </a:stretch>
        </p:blipFill>
        <p:spPr>
          <a:xfrm>
            <a:off x="3821880" y="4228588"/>
            <a:ext cx="3468085" cy="2264287"/>
          </a:xfrm>
          <a:prstGeom prst="rect">
            <a:avLst/>
          </a:prstGeom>
        </p:spPr>
      </p:pic>
    </p:spTree>
    <p:extLst>
      <p:ext uri="{BB962C8B-B14F-4D97-AF65-F5344CB8AC3E}">
        <p14:creationId xmlns:p14="http://schemas.microsoft.com/office/powerpoint/2010/main" val="298749063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D1075C-9222-276C-B242-8C351030283A}"/>
              </a:ext>
            </a:extLst>
          </p:cNvPr>
          <p:cNvSpPr>
            <a:spLocks noGrp="1"/>
          </p:cNvSpPr>
          <p:nvPr>
            <p:ph idx="1"/>
          </p:nvPr>
        </p:nvSpPr>
        <p:spPr/>
        <p:txBody>
          <a:bodyPr/>
          <a:lstStyle/>
          <a:p>
            <a:r>
              <a:rPr lang="en-US" dirty="0"/>
              <a:t>The depth of a vertex v is the length of the simple path from the root to v. </a:t>
            </a:r>
          </a:p>
          <a:p>
            <a:r>
              <a:rPr lang="en-US" dirty="0"/>
              <a:t>The height of a tree is the length of the longest simple path from the root to a leaf. </a:t>
            </a:r>
          </a:p>
          <a:p>
            <a:r>
              <a:rPr lang="en-US" dirty="0"/>
              <a:t>For example, the depth of vertex c of the tree in Figure 1.11b is 2, </a:t>
            </a:r>
          </a:p>
          <a:p>
            <a:r>
              <a:rPr lang="en-US" dirty="0"/>
              <a:t>and the height of the tree is 3. </a:t>
            </a:r>
          </a:p>
          <a:p>
            <a:r>
              <a:rPr lang="en-US" dirty="0"/>
              <a:t>Thus, if we count tree levels top down starting with 0 for the root’s level, the depth of a vertex is simply its level in the tree, and the tree’s height is the maximum level of its vertices.</a:t>
            </a:r>
          </a:p>
          <a:p>
            <a:endParaRPr lang="en-US" dirty="0"/>
          </a:p>
        </p:txBody>
      </p:sp>
      <p:pic>
        <p:nvPicPr>
          <p:cNvPr id="4" name="Picture 3" descr="A diagram of a tree&#10;&#10;Description automatically generated">
            <a:extLst>
              <a:ext uri="{FF2B5EF4-FFF2-40B4-BE49-F238E27FC236}">
                <a16:creationId xmlns:a16="http://schemas.microsoft.com/office/drawing/2014/main" id="{CB6F1E7F-2B4A-1AB2-867B-0E20763B0176}"/>
              </a:ext>
            </a:extLst>
          </p:cNvPr>
          <p:cNvPicPr>
            <a:picLocks noChangeAspect="1"/>
          </p:cNvPicPr>
          <p:nvPr/>
        </p:nvPicPr>
        <p:blipFill>
          <a:blip r:embed="rId2"/>
          <a:stretch>
            <a:fillRect/>
          </a:stretch>
        </p:blipFill>
        <p:spPr>
          <a:xfrm>
            <a:off x="5960396" y="4390820"/>
            <a:ext cx="3468085" cy="2264287"/>
          </a:xfrm>
          <a:prstGeom prst="rect">
            <a:avLst/>
          </a:prstGeom>
        </p:spPr>
      </p:pic>
      <p:sp>
        <p:nvSpPr>
          <p:cNvPr id="5" name="Title 1">
            <a:extLst>
              <a:ext uri="{FF2B5EF4-FFF2-40B4-BE49-F238E27FC236}">
                <a16:creationId xmlns:a16="http://schemas.microsoft.com/office/drawing/2014/main" id="{B6E2051E-7CA1-48E0-B560-9FC351F689C8}"/>
              </a:ext>
            </a:extLst>
          </p:cNvPr>
          <p:cNvSpPr>
            <a:spLocks noGrp="1"/>
          </p:cNvSpPr>
          <p:nvPr>
            <p:ph type="title"/>
          </p:nvPr>
        </p:nvSpPr>
        <p:spPr>
          <a:xfrm>
            <a:off x="838200" y="21918"/>
            <a:ext cx="10515600" cy="1325563"/>
          </a:xfrm>
        </p:spPr>
        <p:txBody>
          <a:bodyPr/>
          <a:lstStyle/>
          <a:p>
            <a:r>
              <a:rPr lang="en-US" dirty="0"/>
              <a:t>Trees (cont.) </a:t>
            </a:r>
          </a:p>
        </p:txBody>
      </p:sp>
    </p:spTree>
    <p:extLst>
      <p:ext uri="{BB962C8B-B14F-4D97-AF65-F5344CB8AC3E}">
        <p14:creationId xmlns:p14="http://schemas.microsoft.com/office/powerpoint/2010/main" val="386211962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2ADB2-BE19-2596-F5B2-B0D5D1145670}"/>
              </a:ext>
            </a:extLst>
          </p:cNvPr>
          <p:cNvSpPr>
            <a:spLocks noGrp="1"/>
          </p:cNvSpPr>
          <p:nvPr>
            <p:ph type="title"/>
          </p:nvPr>
        </p:nvSpPr>
        <p:spPr/>
        <p:txBody>
          <a:bodyPr/>
          <a:lstStyle/>
          <a:p>
            <a:r>
              <a:rPr lang="en-US" dirty="0"/>
              <a:t>Ordered Trees</a:t>
            </a:r>
          </a:p>
        </p:txBody>
      </p:sp>
      <p:sp>
        <p:nvSpPr>
          <p:cNvPr id="3" name="Content Placeholder 2">
            <a:extLst>
              <a:ext uri="{FF2B5EF4-FFF2-40B4-BE49-F238E27FC236}">
                <a16:creationId xmlns:a16="http://schemas.microsoft.com/office/drawing/2014/main" id="{06FA3F86-635A-BA11-7D3D-C935BEEB227A}"/>
              </a:ext>
            </a:extLst>
          </p:cNvPr>
          <p:cNvSpPr>
            <a:spLocks noGrp="1"/>
          </p:cNvSpPr>
          <p:nvPr>
            <p:ph idx="1"/>
          </p:nvPr>
        </p:nvSpPr>
        <p:spPr/>
        <p:txBody>
          <a:bodyPr/>
          <a:lstStyle/>
          <a:p>
            <a:r>
              <a:rPr lang="en-US" dirty="0"/>
              <a:t>An </a:t>
            </a:r>
            <a:r>
              <a:rPr lang="en-US" b="1" dirty="0"/>
              <a:t>ordered tree </a:t>
            </a:r>
            <a:r>
              <a:rPr lang="en-US" dirty="0"/>
              <a:t>is a rooted tree in which all the children of each vertex are ordered. It is convenient to assume that in a tree’s diagram, all the children are ordered left to right. </a:t>
            </a:r>
          </a:p>
        </p:txBody>
      </p:sp>
    </p:spTree>
    <p:extLst>
      <p:ext uri="{BB962C8B-B14F-4D97-AF65-F5344CB8AC3E}">
        <p14:creationId xmlns:p14="http://schemas.microsoft.com/office/powerpoint/2010/main" val="156654079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B474F-BDEB-3646-37F1-EA4FF75A9800}"/>
              </a:ext>
            </a:extLst>
          </p:cNvPr>
          <p:cNvSpPr>
            <a:spLocks noGrp="1"/>
          </p:cNvSpPr>
          <p:nvPr>
            <p:ph type="title"/>
          </p:nvPr>
        </p:nvSpPr>
        <p:spPr/>
        <p:txBody>
          <a:bodyPr/>
          <a:lstStyle/>
          <a:p>
            <a:r>
              <a:rPr lang="en-US" dirty="0"/>
              <a:t>Binary Tree</a:t>
            </a:r>
          </a:p>
        </p:txBody>
      </p:sp>
      <p:sp>
        <p:nvSpPr>
          <p:cNvPr id="3" name="Content Placeholder 2">
            <a:extLst>
              <a:ext uri="{FF2B5EF4-FFF2-40B4-BE49-F238E27FC236}">
                <a16:creationId xmlns:a16="http://schemas.microsoft.com/office/drawing/2014/main" id="{EE053088-566A-2325-3A3A-CEBD42653D06}"/>
              </a:ext>
            </a:extLst>
          </p:cNvPr>
          <p:cNvSpPr>
            <a:spLocks noGrp="1"/>
          </p:cNvSpPr>
          <p:nvPr>
            <p:ph idx="1"/>
          </p:nvPr>
        </p:nvSpPr>
        <p:spPr/>
        <p:txBody>
          <a:bodyPr/>
          <a:lstStyle/>
          <a:p>
            <a:r>
              <a:rPr lang="en-US" dirty="0"/>
              <a:t>A </a:t>
            </a:r>
            <a:r>
              <a:rPr lang="en-US" b="1" dirty="0"/>
              <a:t>binary tree </a:t>
            </a:r>
            <a:r>
              <a:rPr lang="en-US" dirty="0"/>
              <a:t>can be defined as an ordered tree in which every vertex has no more than two children and each child is designated as either a left child or a right child of its parent; a </a:t>
            </a:r>
          </a:p>
          <a:p>
            <a:r>
              <a:rPr lang="en-US" dirty="0"/>
              <a:t>binary tree may also be empty. </a:t>
            </a:r>
          </a:p>
          <a:p>
            <a:r>
              <a:rPr lang="en-US" dirty="0"/>
              <a:t>An example of a binary tree is given in Figure 1.12a. </a:t>
            </a:r>
          </a:p>
          <a:p>
            <a:endParaRPr lang="en-US" dirty="0"/>
          </a:p>
        </p:txBody>
      </p:sp>
    </p:spTree>
    <p:extLst>
      <p:ext uri="{BB962C8B-B14F-4D97-AF65-F5344CB8AC3E}">
        <p14:creationId xmlns:p14="http://schemas.microsoft.com/office/powerpoint/2010/main" val="19710725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BB59A-569C-388E-A660-C9A3F0D9F85D}"/>
              </a:ext>
            </a:extLst>
          </p:cNvPr>
          <p:cNvSpPr>
            <a:spLocks noGrp="1"/>
          </p:cNvSpPr>
          <p:nvPr>
            <p:ph type="title"/>
          </p:nvPr>
        </p:nvSpPr>
        <p:spPr/>
        <p:txBody>
          <a:bodyPr/>
          <a:lstStyle/>
          <a:p>
            <a:r>
              <a:rPr lang="en-US" dirty="0"/>
              <a:t>Binary Tree (cont.)</a:t>
            </a:r>
          </a:p>
        </p:txBody>
      </p:sp>
      <p:sp>
        <p:nvSpPr>
          <p:cNvPr id="3" name="Content Placeholder 2">
            <a:extLst>
              <a:ext uri="{FF2B5EF4-FFF2-40B4-BE49-F238E27FC236}">
                <a16:creationId xmlns:a16="http://schemas.microsoft.com/office/drawing/2014/main" id="{3F54B30A-1C20-513F-9FB2-2C35FD8519F4}"/>
              </a:ext>
            </a:extLst>
          </p:cNvPr>
          <p:cNvSpPr>
            <a:spLocks noGrp="1"/>
          </p:cNvSpPr>
          <p:nvPr>
            <p:ph idx="1"/>
          </p:nvPr>
        </p:nvSpPr>
        <p:spPr/>
        <p:txBody>
          <a:bodyPr/>
          <a:lstStyle/>
          <a:p>
            <a:r>
              <a:rPr lang="en-US" dirty="0"/>
              <a:t>The binary tree with its root at the left (right) child of a vertex in a binary tree is called the left (right) subtree of that vertex. </a:t>
            </a:r>
          </a:p>
          <a:p>
            <a:r>
              <a:rPr lang="en-US" dirty="0"/>
              <a:t>Since left and right subtrees are binary trees as well, a binary tree can also be defined recursively. </a:t>
            </a:r>
          </a:p>
          <a:p>
            <a:r>
              <a:rPr lang="en-US" dirty="0"/>
              <a:t>This makes it possible to solve many problems involving binary trees by recursive algorithms. </a:t>
            </a:r>
          </a:p>
          <a:p>
            <a:endParaRPr lang="en-US" dirty="0"/>
          </a:p>
        </p:txBody>
      </p:sp>
    </p:spTree>
    <p:extLst>
      <p:ext uri="{BB962C8B-B14F-4D97-AF65-F5344CB8AC3E}">
        <p14:creationId xmlns:p14="http://schemas.microsoft.com/office/powerpoint/2010/main" val="208147481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049897-4B92-AACD-AA9D-53F9D023C77D}"/>
              </a:ext>
            </a:extLst>
          </p:cNvPr>
          <p:cNvSpPr>
            <a:spLocks noGrp="1"/>
          </p:cNvSpPr>
          <p:nvPr>
            <p:ph idx="1"/>
          </p:nvPr>
        </p:nvSpPr>
        <p:spPr/>
        <p:txBody>
          <a:bodyPr/>
          <a:lstStyle/>
          <a:p>
            <a:r>
              <a:rPr lang="en-US" dirty="0"/>
              <a:t>In Figure 1.12b, some numbers are assigned to vertices of the binary tree in Figure 1.12a.</a:t>
            </a:r>
          </a:p>
        </p:txBody>
      </p:sp>
      <p:pic>
        <p:nvPicPr>
          <p:cNvPr id="4" name="Content Placeholder 6" descr="A group of circles with numbers&#10;&#10;Description automatically generated">
            <a:extLst>
              <a:ext uri="{FF2B5EF4-FFF2-40B4-BE49-F238E27FC236}">
                <a16:creationId xmlns:a16="http://schemas.microsoft.com/office/drawing/2014/main" id="{5D0A3F3C-EE5A-913B-82CB-51BE1883CA87}"/>
              </a:ext>
            </a:extLst>
          </p:cNvPr>
          <p:cNvPicPr>
            <a:picLocks noChangeAspect="1"/>
          </p:cNvPicPr>
          <p:nvPr/>
        </p:nvPicPr>
        <p:blipFill>
          <a:blip r:embed="rId2"/>
          <a:stretch>
            <a:fillRect/>
          </a:stretch>
        </p:blipFill>
        <p:spPr>
          <a:xfrm>
            <a:off x="3429000" y="2890044"/>
            <a:ext cx="5334000" cy="2222500"/>
          </a:xfrm>
          <a:prstGeom prst="rect">
            <a:avLst/>
          </a:prstGeom>
        </p:spPr>
      </p:pic>
      <p:sp>
        <p:nvSpPr>
          <p:cNvPr id="5" name="TextBox 4">
            <a:extLst>
              <a:ext uri="{FF2B5EF4-FFF2-40B4-BE49-F238E27FC236}">
                <a16:creationId xmlns:a16="http://schemas.microsoft.com/office/drawing/2014/main" id="{A884BBE0-4A87-24FC-4BC3-9AFD9B12AA4B}"/>
              </a:ext>
            </a:extLst>
          </p:cNvPr>
          <p:cNvSpPr txBox="1"/>
          <p:nvPr/>
        </p:nvSpPr>
        <p:spPr>
          <a:xfrm>
            <a:off x="2710016" y="6308209"/>
            <a:ext cx="6098458" cy="369332"/>
          </a:xfrm>
          <a:prstGeom prst="rect">
            <a:avLst/>
          </a:prstGeom>
          <a:noFill/>
        </p:spPr>
        <p:txBody>
          <a:bodyPr wrap="square">
            <a:spAutoFit/>
          </a:bodyPr>
          <a:lstStyle/>
          <a:p>
            <a:pPr algn="ctr"/>
            <a:r>
              <a:rPr lang="en-US" dirty="0"/>
              <a:t>FIGURE 1.12 (a) Binary tree. (b) Binary search tree. </a:t>
            </a:r>
          </a:p>
        </p:txBody>
      </p:sp>
      <p:sp>
        <p:nvSpPr>
          <p:cNvPr id="6" name="Title 1">
            <a:extLst>
              <a:ext uri="{FF2B5EF4-FFF2-40B4-BE49-F238E27FC236}">
                <a16:creationId xmlns:a16="http://schemas.microsoft.com/office/drawing/2014/main" id="{DD8A1E62-D6BF-0A32-2BBF-7811F7CB7BA6}"/>
              </a:ext>
            </a:extLst>
          </p:cNvPr>
          <p:cNvSpPr>
            <a:spLocks noGrp="1"/>
          </p:cNvSpPr>
          <p:nvPr>
            <p:ph type="title"/>
          </p:nvPr>
        </p:nvSpPr>
        <p:spPr>
          <a:xfrm>
            <a:off x="838200" y="18255"/>
            <a:ext cx="10515600" cy="1325563"/>
          </a:xfrm>
        </p:spPr>
        <p:txBody>
          <a:bodyPr/>
          <a:lstStyle/>
          <a:p>
            <a:r>
              <a:rPr lang="en-US" dirty="0"/>
              <a:t>Binary Tree (cont.)</a:t>
            </a:r>
          </a:p>
        </p:txBody>
      </p:sp>
    </p:spTree>
    <p:extLst>
      <p:ext uri="{BB962C8B-B14F-4D97-AF65-F5344CB8AC3E}">
        <p14:creationId xmlns:p14="http://schemas.microsoft.com/office/powerpoint/2010/main" val="368849677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B27B82-03BB-8CA0-E6BD-A8CA8A3B21AE}"/>
              </a:ext>
            </a:extLst>
          </p:cNvPr>
          <p:cNvSpPr>
            <a:spLocks noGrp="1"/>
          </p:cNvSpPr>
          <p:nvPr>
            <p:ph idx="1"/>
          </p:nvPr>
        </p:nvSpPr>
        <p:spPr/>
        <p:txBody>
          <a:bodyPr/>
          <a:lstStyle/>
          <a:p>
            <a:r>
              <a:rPr lang="en-US" dirty="0"/>
              <a:t>Note that a number assigned to each parental vertex is larger than all the numbers in its left subtree and smaller than all the numbers in its right subtree. Such trees are called </a:t>
            </a:r>
            <a:r>
              <a:rPr lang="en-US" b="1" dirty="0"/>
              <a:t>binary search trees. </a:t>
            </a:r>
          </a:p>
          <a:p>
            <a:r>
              <a:rPr lang="en-US" dirty="0"/>
              <a:t>Binary trees and binary search trees have a wide variety of applications in computer science</a:t>
            </a:r>
          </a:p>
          <a:p>
            <a:r>
              <a:rPr lang="en-US" dirty="0"/>
              <a:t>In particular, binary search trees can be generalized to more general types of search trees called multiway search trees, which are indispensable for efficient access to very large data sets. </a:t>
            </a:r>
          </a:p>
          <a:p>
            <a:endParaRPr lang="en-US" dirty="0"/>
          </a:p>
        </p:txBody>
      </p:sp>
      <p:sp>
        <p:nvSpPr>
          <p:cNvPr id="4" name="Title 1">
            <a:extLst>
              <a:ext uri="{FF2B5EF4-FFF2-40B4-BE49-F238E27FC236}">
                <a16:creationId xmlns:a16="http://schemas.microsoft.com/office/drawing/2014/main" id="{E42A24A9-48C9-D523-0D03-26E2E1B9EF47}"/>
              </a:ext>
            </a:extLst>
          </p:cNvPr>
          <p:cNvSpPr>
            <a:spLocks noGrp="1"/>
          </p:cNvSpPr>
          <p:nvPr>
            <p:ph type="title"/>
          </p:nvPr>
        </p:nvSpPr>
        <p:spPr>
          <a:xfrm>
            <a:off x="838200" y="0"/>
            <a:ext cx="10515600" cy="1325563"/>
          </a:xfrm>
        </p:spPr>
        <p:txBody>
          <a:bodyPr/>
          <a:lstStyle/>
          <a:p>
            <a:r>
              <a:rPr lang="en-US" dirty="0"/>
              <a:t>Binary Tree (cont.)</a:t>
            </a:r>
          </a:p>
        </p:txBody>
      </p:sp>
    </p:spTree>
    <p:extLst>
      <p:ext uri="{BB962C8B-B14F-4D97-AF65-F5344CB8AC3E}">
        <p14:creationId xmlns:p14="http://schemas.microsoft.com/office/powerpoint/2010/main" val="72139198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12FAE2-3053-E79A-5E3C-B01BDCEA23F3}"/>
              </a:ext>
            </a:extLst>
          </p:cNvPr>
          <p:cNvSpPr>
            <a:spLocks noGrp="1"/>
          </p:cNvSpPr>
          <p:nvPr>
            <p:ph idx="1"/>
          </p:nvPr>
        </p:nvSpPr>
        <p:spPr/>
        <p:txBody>
          <a:bodyPr/>
          <a:lstStyle/>
          <a:p>
            <a:r>
              <a:rPr lang="en-US" dirty="0"/>
              <a:t>The efficiency of most important algorithms for binary search trees and their extensions depends on the tree’s height. </a:t>
            </a:r>
          </a:p>
          <a:p>
            <a:r>
              <a:rPr lang="en-US" dirty="0"/>
              <a:t>Therefore, the following inequalities for the height h of a binary tree with n nodes are especially important for analysis of such algorithms: </a:t>
            </a:r>
          </a:p>
          <a:p>
            <a:endParaRPr lang="en-US" dirty="0"/>
          </a:p>
        </p:txBody>
      </p:sp>
      <p:sp>
        <p:nvSpPr>
          <p:cNvPr id="4" name="Title 1">
            <a:extLst>
              <a:ext uri="{FF2B5EF4-FFF2-40B4-BE49-F238E27FC236}">
                <a16:creationId xmlns:a16="http://schemas.microsoft.com/office/drawing/2014/main" id="{8E802DC3-B4D7-403D-7997-CE091512D58A}"/>
              </a:ext>
            </a:extLst>
          </p:cNvPr>
          <p:cNvSpPr>
            <a:spLocks noGrp="1"/>
          </p:cNvSpPr>
          <p:nvPr>
            <p:ph type="title"/>
          </p:nvPr>
        </p:nvSpPr>
        <p:spPr>
          <a:xfrm>
            <a:off x="838200" y="18255"/>
            <a:ext cx="10515600" cy="1325563"/>
          </a:xfrm>
        </p:spPr>
        <p:txBody>
          <a:bodyPr/>
          <a:lstStyle/>
          <a:p>
            <a:r>
              <a:rPr lang="en-US" dirty="0"/>
              <a:t>Binary Tree (cont.)</a:t>
            </a:r>
          </a:p>
        </p:txBody>
      </p:sp>
      <p:pic>
        <p:nvPicPr>
          <p:cNvPr id="6" name="Picture 5" descr="A black text on a white background&#10;&#10;Description automatically generated">
            <a:extLst>
              <a:ext uri="{FF2B5EF4-FFF2-40B4-BE49-F238E27FC236}">
                <a16:creationId xmlns:a16="http://schemas.microsoft.com/office/drawing/2014/main" id="{4C908478-23A3-7EF3-9D5C-8FACF36A476E}"/>
              </a:ext>
            </a:extLst>
          </p:cNvPr>
          <p:cNvPicPr>
            <a:picLocks noChangeAspect="1"/>
          </p:cNvPicPr>
          <p:nvPr/>
        </p:nvPicPr>
        <p:blipFill>
          <a:blip r:embed="rId2"/>
          <a:stretch>
            <a:fillRect/>
          </a:stretch>
        </p:blipFill>
        <p:spPr>
          <a:xfrm>
            <a:off x="4378361" y="3714313"/>
            <a:ext cx="2941123" cy="588225"/>
          </a:xfrm>
          <a:prstGeom prst="rect">
            <a:avLst/>
          </a:prstGeom>
        </p:spPr>
      </p:pic>
    </p:spTree>
    <p:extLst>
      <p:ext uri="{BB962C8B-B14F-4D97-AF65-F5344CB8AC3E}">
        <p14:creationId xmlns:p14="http://schemas.microsoft.com/office/powerpoint/2010/main" val="17618464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6587FB-3901-B996-17EA-4FA7919CA87C}"/>
              </a:ext>
            </a:extLst>
          </p:cNvPr>
          <p:cNvSpPr>
            <a:spLocks noGrp="1"/>
          </p:cNvSpPr>
          <p:nvPr>
            <p:ph idx="1"/>
          </p:nvPr>
        </p:nvSpPr>
        <p:spPr/>
        <p:txBody>
          <a:bodyPr/>
          <a:lstStyle/>
          <a:p>
            <a:r>
              <a:rPr lang="en-US" dirty="0"/>
              <a:t>A </a:t>
            </a:r>
            <a:r>
              <a:rPr lang="en-US" b="1" dirty="0"/>
              <a:t>binary tree</a:t>
            </a:r>
            <a:r>
              <a:rPr lang="en-US" dirty="0"/>
              <a:t> is usually implemented for computing purposes by a collection of nodes corresponding to vertices of the tree. </a:t>
            </a:r>
          </a:p>
          <a:p>
            <a:pPr lvl="1"/>
            <a:r>
              <a:rPr lang="en-US" dirty="0"/>
              <a:t>Each node contains some information associated with the vertex (its name or some value assigned to it) and two pointers to the nodes representing the left child and right child of the vertex, respectively. </a:t>
            </a:r>
          </a:p>
          <a:p>
            <a:pPr lvl="1"/>
            <a:r>
              <a:rPr lang="en-US" dirty="0"/>
              <a:t>Figure 1.13 illustrates such an implementation for the binary search tree in Figure 1.12b. </a:t>
            </a:r>
          </a:p>
          <a:p>
            <a:endParaRPr lang="en-US" dirty="0"/>
          </a:p>
        </p:txBody>
      </p:sp>
      <p:pic>
        <p:nvPicPr>
          <p:cNvPr id="5" name="Picture 4" descr="A diagram of a number&#10;&#10;Description automatically generated">
            <a:extLst>
              <a:ext uri="{FF2B5EF4-FFF2-40B4-BE49-F238E27FC236}">
                <a16:creationId xmlns:a16="http://schemas.microsoft.com/office/drawing/2014/main" id="{4E68B230-D062-BF49-4EF5-26F336E0BC1E}"/>
              </a:ext>
            </a:extLst>
          </p:cNvPr>
          <p:cNvPicPr>
            <a:picLocks noChangeAspect="1"/>
          </p:cNvPicPr>
          <p:nvPr/>
        </p:nvPicPr>
        <p:blipFill>
          <a:blip r:embed="rId2"/>
          <a:stretch>
            <a:fillRect/>
          </a:stretch>
        </p:blipFill>
        <p:spPr>
          <a:xfrm>
            <a:off x="3951337" y="3818187"/>
            <a:ext cx="5812093" cy="2649049"/>
          </a:xfrm>
          <a:prstGeom prst="rect">
            <a:avLst/>
          </a:prstGeom>
        </p:spPr>
      </p:pic>
      <p:sp>
        <p:nvSpPr>
          <p:cNvPr id="7" name="TextBox 6">
            <a:extLst>
              <a:ext uri="{FF2B5EF4-FFF2-40B4-BE49-F238E27FC236}">
                <a16:creationId xmlns:a16="http://schemas.microsoft.com/office/drawing/2014/main" id="{68D127B9-B5C5-5946-9E95-DD29F335912A}"/>
              </a:ext>
            </a:extLst>
          </p:cNvPr>
          <p:cNvSpPr txBox="1"/>
          <p:nvPr/>
        </p:nvSpPr>
        <p:spPr>
          <a:xfrm>
            <a:off x="3836791" y="6501399"/>
            <a:ext cx="7023919" cy="307777"/>
          </a:xfrm>
          <a:prstGeom prst="rect">
            <a:avLst/>
          </a:prstGeom>
          <a:noFill/>
        </p:spPr>
        <p:txBody>
          <a:bodyPr wrap="square">
            <a:spAutoFit/>
          </a:bodyPr>
          <a:lstStyle/>
          <a:p>
            <a:r>
              <a:rPr lang="en-US" sz="1400" dirty="0"/>
              <a:t>FIGURE 1.13 Standard implementation of the binary search tree in Figure 1.12b. </a:t>
            </a:r>
          </a:p>
        </p:txBody>
      </p:sp>
      <p:sp>
        <p:nvSpPr>
          <p:cNvPr id="8" name="Title 1">
            <a:extLst>
              <a:ext uri="{FF2B5EF4-FFF2-40B4-BE49-F238E27FC236}">
                <a16:creationId xmlns:a16="http://schemas.microsoft.com/office/drawing/2014/main" id="{2B5BA84B-BB60-7F55-ED4C-BBD63452F6C3}"/>
              </a:ext>
            </a:extLst>
          </p:cNvPr>
          <p:cNvSpPr>
            <a:spLocks noGrp="1"/>
          </p:cNvSpPr>
          <p:nvPr>
            <p:ph type="title"/>
          </p:nvPr>
        </p:nvSpPr>
        <p:spPr>
          <a:xfrm>
            <a:off x="838200" y="18255"/>
            <a:ext cx="10515600" cy="1325563"/>
          </a:xfrm>
        </p:spPr>
        <p:txBody>
          <a:bodyPr/>
          <a:lstStyle/>
          <a:p>
            <a:r>
              <a:rPr lang="en-US" dirty="0"/>
              <a:t>Binary Tree (cont.)</a:t>
            </a:r>
          </a:p>
        </p:txBody>
      </p:sp>
      <p:pic>
        <p:nvPicPr>
          <p:cNvPr id="2" name="Content Placeholder 6" descr="A group of circles with numbers&#10;&#10;Description automatically generated">
            <a:extLst>
              <a:ext uri="{FF2B5EF4-FFF2-40B4-BE49-F238E27FC236}">
                <a16:creationId xmlns:a16="http://schemas.microsoft.com/office/drawing/2014/main" id="{773B9CD8-9557-C294-AEDD-3D4907773F36}"/>
              </a:ext>
            </a:extLst>
          </p:cNvPr>
          <p:cNvPicPr>
            <a:picLocks noChangeAspect="1"/>
          </p:cNvPicPr>
          <p:nvPr/>
        </p:nvPicPr>
        <p:blipFill>
          <a:blip r:embed="rId3"/>
          <a:srcRect l="50000" b="15609"/>
          <a:stretch>
            <a:fillRect/>
          </a:stretch>
        </p:blipFill>
        <p:spPr>
          <a:xfrm>
            <a:off x="415412" y="4102693"/>
            <a:ext cx="2667000" cy="1875593"/>
          </a:xfrm>
          <a:prstGeom prst="rect">
            <a:avLst/>
          </a:prstGeom>
        </p:spPr>
      </p:pic>
      <p:sp>
        <p:nvSpPr>
          <p:cNvPr id="4" name="Right Arrow 3">
            <a:extLst>
              <a:ext uri="{FF2B5EF4-FFF2-40B4-BE49-F238E27FC236}">
                <a16:creationId xmlns:a16="http://schemas.microsoft.com/office/drawing/2014/main" id="{45CC34C9-63F5-CBB4-BBAC-7C4AC35A951E}"/>
              </a:ext>
            </a:extLst>
          </p:cNvPr>
          <p:cNvSpPr/>
          <p:nvPr/>
        </p:nvSpPr>
        <p:spPr>
          <a:xfrm>
            <a:off x="3082412" y="5228216"/>
            <a:ext cx="521400" cy="2259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14856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88B9F8-AFCC-57AC-B688-60301233A145}"/>
              </a:ext>
            </a:extLst>
          </p:cNvPr>
          <p:cNvSpPr>
            <a:spLocks noGrp="1"/>
          </p:cNvSpPr>
          <p:nvPr>
            <p:ph idx="1"/>
          </p:nvPr>
        </p:nvSpPr>
        <p:spPr/>
        <p:txBody>
          <a:bodyPr>
            <a:normAutofit/>
          </a:bodyPr>
          <a:lstStyle/>
          <a:p>
            <a:r>
              <a:rPr lang="en-US" dirty="0"/>
              <a:t>A computer representation of an </a:t>
            </a:r>
            <a:r>
              <a:rPr lang="en-US" b="1" dirty="0"/>
              <a:t>arbitrary ordered tree</a:t>
            </a:r>
            <a:r>
              <a:rPr lang="en-US" dirty="0"/>
              <a:t> can be done by simply providing a parental vertex with the number of pointers equal to the number of its children. </a:t>
            </a:r>
          </a:p>
          <a:p>
            <a:pPr lvl="1"/>
            <a:r>
              <a:rPr lang="en-US" dirty="0"/>
              <a:t>This representation may prove to be inconvenient if the number of children varies widely among the nodes. </a:t>
            </a:r>
          </a:p>
          <a:p>
            <a:r>
              <a:rPr lang="en-US" dirty="0"/>
              <a:t>We can avoid this inconvenience by using nodes with just two pointers, as we did for binary trees. Here, however, the left pointer will point to the first child of the vertex, and the right pointer will point to its next sibling. </a:t>
            </a:r>
          </a:p>
          <a:p>
            <a:pPr lvl="1"/>
            <a:r>
              <a:rPr lang="en-US" dirty="0"/>
              <a:t>Accordingly, this representation is called the </a:t>
            </a:r>
            <a:r>
              <a:rPr lang="en-US" b="1" dirty="0"/>
              <a:t>first child–next sibling representation</a:t>
            </a:r>
            <a:r>
              <a:rPr lang="en-US" dirty="0"/>
              <a:t>. Thus, all the siblings of a vertex are linked via the nodes’ right pointers in a singly linked list, with the first element of the list pointed to by the left pointer of their parent. </a:t>
            </a:r>
          </a:p>
          <a:p>
            <a:endParaRPr lang="en-US" dirty="0"/>
          </a:p>
        </p:txBody>
      </p:sp>
      <p:sp>
        <p:nvSpPr>
          <p:cNvPr id="4" name="Title 1">
            <a:extLst>
              <a:ext uri="{FF2B5EF4-FFF2-40B4-BE49-F238E27FC236}">
                <a16:creationId xmlns:a16="http://schemas.microsoft.com/office/drawing/2014/main" id="{EAF7710C-A0F3-9AA1-7C78-4006568A51AC}"/>
              </a:ext>
            </a:extLst>
          </p:cNvPr>
          <p:cNvSpPr>
            <a:spLocks noGrp="1"/>
          </p:cNvSpPr>
          <p:nvPr>
            <p:ph type="title"/>
          </p:nvPr>
        </p:nvSpPr>
        <p:spPr>
          <a:xfrm>
            <a:off x="838200" y="18255"/>
            <a:ext cx="10515600" cy="1325563"/>
          </a:xfrm>
        </p:spPr>
        <p:txBody>
          <a:bodyPr/>
          <a:lstStyle/>
          <a:p>
            <a:r>
              <a:rPr lang="en-US" dirty="0"/>
              <a:t>Binary Tree (cont.)</a:t>
            </a:r>
          </a:p>
        </p:txBody>
      </p:sp>
    </p:spTree>
    <p:extLst>
      <p:ext uri="{BB962C8B-B14F-4D97-AF65-F5344CB8AC3E}">
        <p14:creationId xmlns:p14="http://schemas.microsoft.com/office/powerpoint/2010/main" val="400791915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DF75F0-64D8-7495-E5D4-91ED3A0DFF7C}"/>
              </a:ext>
            </a:extLst>
          </p:cNvPr>
          <p:cNvSpPr>
            <a:spLocks noGrp="1"/>
          </p:cNvSpPr>
          <p:nvPr>
            <p:ph idx="1"/>
          </p:nvPr>
        </p:nvSpPr>
        <p:spPr/>
        <p:txBody>
          <a:bodyPr/>
          <a:lstStyle/>
          <a:p>
            <a:r>
              <a:rPr lang="en-US" dirty="0"/>
              <a:t>Figure 1.14a illustrates this representation for the tree in Figure 1.11b. </a:t>
            </a:r>
          </a:p>
          <a:p>
            <a:r>
              <a:rPr lang="en-US" dirty="0"/>
              <a:t>It is not difficult to see that this representation effectively transforms an ordered tree into a binary tree said to be associated with the ordered tree. We get this representation by “rotating” the pointers about 45 degrees clockwise (see Figure 1.14b). </a:t>
            </a:r>
          </a:p>
          <a:p>
            <a:endParaRPr lang="en-US" dirty="0"/>
          </a:p>
        </p:txBody>
      </p:sp>
      <p:pic>
        <p:nvPicPr>
          <p:cNvPr id="5" name="Picture 4" descr="A diagram of a diagram&#10;&#10;Description automatically generated with medium confidence">
            <a:extLst>
              <a:ext uri="{FF2B5EF4-FFF2-40B4-BE49-F238E27FC236}">
                <a16:creationId xmlns:a16="http://schemas.microsoft.com/office/drawing/2014/main" id="{353635FD-7076-9957-7C15-152B20A862C6}"/>
              </a:ext>
            </a:extLst>
          </p:cNvPr>
          <p:cNvPicPr>
            <a:picLocks noChangeAspect="1"/>
          </p:cNvPicPr>
          <p:nvPr/>
        </p:nvPicPr>
        <p:blipFill>
          <a:blip r:embed="rId2"/>
          <a:srcRect t="5707"/>
          <a:stretch/>
        </p:blipFill>
        <p:spPr>
          <a:xfrm>
            <a:off x="3175000" y="3286244"/>
            <a:ext cx="7318477" cy="3048536"/>
          </a:xfrm>
          <a:prstGeom prst="rect">
            <a:avLst/>
          </a:prstGeom>
        </p:spPr>
      </p:pic>
      <p:pic>
        <p:nvPicPr>
          <p:cNvPr id="12" name="Picture 11" descr="A diagram of a tree&#10;&#10;Description automatically generated">
            <a:extLst>
              <a:ext uri="{FF2B5EF4-FFF2-40B4-BE49-F238E27FC236}">
                <a16:creationId xmlns:a16="http://schemas.microsoft.com/office/drawing/2014/main" id="{BC187F03-52F5-AF74-F9D8-A5F8B85B3221}"/>
              </a:ext>
            </a:extLst>
          </p:cNvPr>
          <p:cNvPicPr>
            <a:picLocks noChangeAspect="1"/>
          </p:cNvPicPr>
          <p:nvPr/>
        </p:nvPicPr>
        <p:blipFill>
          <a:blip r:embed="rId3"/>
          <a:stretch>
            <a:fillRect/>
          </a:stretch>
        </p:blipFill>
        <p:spPr>
          <a:xfrm>
            <a:off x="838200" y="3706019"/>
            <a:ext cx="2336800" cy="1752600"/>
          </a:xfrm>
          <a:prstGeom prst="rect">
            <a:avLst/>
          </a:prstGeom>
        </p:spPr>
      </p:pic>
      <p:sp>
        <p:nvSpPr>
          <p:cNvPr id="14" name="TextBox 13">
            <a:extLst>
              <a:ext uri="{FF2B5EF4-FFF2-40B4-BE49-F238E27FC236}">
                <a16:creationId xmlns:a16="http://schemas.microsoft.com/office/drawing/2014/main" id="{7E301FF3-C60D-7EC9-D275-11BCEF26D27B}"/>
              </a:ext>
            </a:extLst>
          </p:cNvPr>
          <p:cNvSpPr txBox="1"/>
          <p:nvPr/>
        </p:nvSpPr>
        <p:spPr>
          <a:xfrm>
            <a:off x="3955845" y="6334780"/>
            <a:ext cx="4693674" cy="523220"/>
          </a:xfrm>
          <a:prstGeom prst="rect">
            <a:avLst/>
          </a:prstGeom>
          <a:noFill/>
        </p:spPr>
        <p:txBody>
          <a:bodyPr wrap="square">
            <a:spAutoFit/>
          </a:bodyPr>
          <a:lstStyle/>
          <a:p>
            <a:r>
              <a:rPr lang="en-US" sz="1400" dirty="0"/>
              <a:t>FIGURE 1.14 (a) First child–next sibling representation of the tree in Figure 1.11b. (b) Its binary tree representation. </a:t>
            </a:r>
          </a:p>
        </p:txBody>
      </p:sp>
      <p:sp>
        <p:nvSpPr>
          <p:cNvPr id="15" name="Title 1">
            <a:extLst>
              <a:ext uri="{FF2B5EF4-FFF2-40B4-BE49-F238E27FC236}">
                <a16:creationId xmlns:a16="http://schemas.microsoft.com/office/drawing/2014/main" id="{FA69A1B9-B43D-8569-C6A5-F940DB157DF7}"/>
              </a:ext>
            </a:extLst>
          </p:cNvPr>
          <p:cNvSpPr>
            <a:spLocks noGrp="1"/>
          </p:cNvSpPr>
          <p:nvPr>
            <p:ph type="title"/>
          </p:nvPr>
        </p:nvSpPr>
        <p:spPr>
          <a:xfrm>
            <a:off x="838200" y="18255"/>
            <a:ext cx="10515600" cy="1325563"/>
          </a:xfrm>
        </p:spPr>
        <p:txBody>
          <a:bodyPr/>
          <a:lstStyle/>
          <a:p>
            <a:r>
              <a:rPr lang="en-US" dirty="0"/>
              <a:t>Binary Tree (cont.)</a:t>
            </a:r>
          </a:p>
        </p:txBody>
      </p:sp>
    </p:spTree>
    <p:extLst>
      <p:ext uri="{BB962C8B-B14F-4D97-AF65-F5344CB8AC3E}">
        <p14:creationId xmlns:p14="http://schemas.microsoft.com/office/powerpoint/2010/main" val="111118827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D2E79-41CF-025A-5322-60347F652706}"/>
              </a:ext>
            </a:extLst>
          </p:cNvPr>
          <p:cNvSpPr>
            <a:spLocks noGrp="1"/>
          </p:cNvSpPr>
          <p:nvPr>
            <p:ph type="title"/>
          </p:nvPr>
        </p:nvSpPr>
        <p:spPr/>
        <p:txBody>
          <a:bodyPr/>
          <a:lstStyle/>
          <a:p>
            <a:r>
              <a:rPr lang="en-US" dirty="0"/>
              <a:t>Sets</a:t>
            </a:r>
          </a:p>
        </p:txBody>
      </p:sp>
      <p:sp>
        <p:nvSpPr>
          <p:cNvPr id="3" name="Content Placeholder 2">
            <a:extLst>
              <a:ext uri="{FF2B5EF4-FFF2-40B4-BE49-F238E27FC236}">
                <a16:creationId xmlns:a16="http://schemas.microsoft.com/office/drawing/2014/main" id="{38724596-BA1E-E3AD-3B17-C3B64E9091B5}"/>
              </a:ext>
            </a:extLst>
          </p:cNvPr>
          <p:cNvSpPr>
            <a:spLocks noGrp="1"/>
          </p:cNvSpPr>
          <p:nvPr>
            <p:ph idx="1"/>
          </p:nvPr>
        </p:nvSpPr>
        <p:spPr/>
        <p:txBody>
          <a:bodyPr/>
          <a:lstStyle/>
          <a:p>
            <a:r>
              <a:rPr lang="en-US" dirty="0"/>
              <a:t>The notion of a set plays a central role in mathematics. </a:t>
            </a:r>
          </a:p>
          <a:p>
            <a:r>
              <a:rPr lang="en-US" b="1" dirty="0"/>
              <a:t>A set can be described as an unordered collection (possibly empty) of distinct items called elements of the set. </a:t>
            </a:r>
          </a:p>
          <a:p>
            <a:r>
              <a:rPr lang="en-US" dirty="0"/>
              <a:t>A specific set is defined either by an explicit listing of its elements (e.g., S = {2, 3, 5, 7}) or by specifying a property that all the set’s elements and only they must satisfy (e.g., S = {n: n is a prime number smaller than 10}). </a:t>
            </a:r>
          </a:p>
          <a:p>
            <a:endParaRPr lang="en-US" dirty="0"/>
          </a:p>
        </p:txBody>
      </p:sp>
    </p:spTree>
    <p:extLst>
      <p:ext uri="{BB962C8B-B14F-4D97-AF65-F5344CB8AC3E}">
        <p14:creationId xmlns:p14="http://schemas.microsoft.com/office/powerpoint/2010/main" val="108349785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2FDAD-F772-8D66-FED0-8F0CDAB5CDA9}"/>
              </a:ext>
            </a:extLst>
          </p:cNvPr>
          <p:cNvSpPr>
            <a:spLocks noGrp="1"/>
          </p:cNvSpPr>
          <p:nvPr>
            <p:ph type="title"/>
          </p:nvPr>
        </p:nvSpPr>
        <p:spPr/>
        <p:txBody>
          <a:bodyPr/>
          <a:lstStyle/>
          <a:p>
            <a:r>
              <a:rPr lang="en-US" dirty="0"/>
              <a:t>Sets (cont.)</a:t>
            </a:r>
          </a:p>
        </p:txBody>
      </p:sp>
      <p:sp>
        <p:nvSpPr>
          <p:cNvPr id="3" name="Content Placeholder 2">
            <a:extLst>
              <a:ext uri="{FF2B5EF4-FFF2-40B4-BE49-F238E27FC236}">
                <a16:creationId xmlns:a16="http://schemas.microsoft.com/office/drawing/2014/main" id="{D038BCD1-C7F2-E80B-4FC8-9068D338EB54}"/>
              </a:ext>
            </a:extLst>
          </p:cNvPr>
          <p:cNvSpPr>
            <a:spLocks noGrp="1"/>
          </p:cNvSpPr>
          <p:nvPr>
            <p:ph idx="1"/>
          </p:nvPr>
        </p:nvSpPr>
        <p:spPr/>
        <p:txBody>
          <a:bodyPr/>
          <a:lstStyle/>
          <a:p>
            <a:r>
              <a:rPr lang="en-US" dirty="0"/>
              <a:t>The most important set operations are: </a:t>
            </a:r>
          </a:p>
          <a:p>
            <a:pPr lvl="1"/>
            <a:r>
              <a:rPr lang="en-US" dirty="0"/>
              <a:t>Checking membership of a given item in a given set; </a:t>
            </a:r>
          </a:p>
          <a:p>
            <a:pPr lvl="1"/>
            <a:r>
              <a:rPr lang="en-US" dirty="0"/>
              <a:t>Finding the union of two sets, which comprises all the elements in either or both of them; </a:t>
            </a:r>
          </a:p>
          <a:p>
            <a:pPr lvl="1"/>
            <a:r>
              <a:rPr lang="en-US" dirty="0"/>
              <a:t>Finding the intersection of two sets, which comprises all the common elements in the sets. </a:t>
            </a:r>
          </a:p>
          <a:p>
            <a:endParaRPr lang="en-US" dirty="0"/>
          </a:p>
          <a:p>
            <a:endParaRPr lang="en-US" dirty="0"/>
          </a:p>
        </p:txBody>
      </p:sp>
    </p:spTree>
    <p:extLst>
      <p:ext uri="{BB962C8B-B14F-4D97-AF65-F5344CB8AC3E}">
        <p14:creationId xmlns:p14="http://schemas.microsoft.com/office/powerpoint/2010/main" val="334373637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A45721-E54D-2D8C-607A-3BD5155895B7}"/>
              </a:ext>
            </a:extLst>
          </p:cNvPr>
          <p:cNvSpPr>
            <a:spLocks noGrp="1"/>
          </p:cNvSpPr>
          <p:nvPr>
            <p:ph idx="1"/>
          </p:nvPr>
        </p:nvSpPr>
        <p:spPr/>
        <p:txBody>
          <a:bodyPr/>
          <a:lstStyle/>
          <a:p>
            <a:r>
              <a:rPr lang="en-US" dirty="0"/>
              <a:t>Sets can be implemented in computer applications in two ways. </a:t>
            </a:r>
          </a:p>
          <a:p>
            <a:pPr lvl="1"/>
            <a:r>
              <a:rPr lang="en-US" dirty="0"/>
              <a:t>The first considers only sets that are subsets of some large set U, called the universal set. </a:t>
            </a:r>
          </a:p>
          <a:p>
            <a:pPr lvl="1"/>
            <a:r>
              <a:rPr lang="en-US" dirty="0"/>
              <a:t>If set U has n elements, then any subset S of U can be represented by a bit string of size n, called a bit vector, in which the </a:t>
            </a:r>
            <a:r>
              <a:rPr lang="en-US" dirty="0" err="1"/>
              <a:t>i</a:t>
            </a:r>
            <a:r>
              <a:rPr lang="en-US" baseline="-25000" dirty="0" err="1"/>
              <a:t>th</a:t>
            </a:r>
            <a:r>
              <a:rPr lang="en-US" dirty="0"/>
              <a:t> element is 1 if and only if the </a:t>
            </a:r>
            <a:r>
              <a:rPr lang="en-US" dirty="0" err="1"/>
              <a:t>ith</a:t>
            </a:r>
            <a:r>
              <a:rPr lang="en-US" dirty="0"/>
              <a:t> element of U is included in set S. </a:t>
            </a:r>
          </a:p>
          <a:p>
            <a:pPr lvl="1"/>
            <a:r>
              <a:rPr lang="en-US" dirty="0"/>
              <a:t>Thus, to continue with our example, if U = {1, 2, 3, 4, 5, 6, 7, 8, 9}, then S = {2, 3, 5, 7} is represented by the bit string 011010100. </a:t>
            </a:r>
          </a:p>
          <a:p>
            <a:pPr lvl="1"/>
            <a:r>
              <a:rPr lang="en-US" dirty="0"/>
              <a:t>This way of representing sets makes it possible to implement the standard set operations very fast, but at the expense of potentially using a large amount of storage. </a:t>
            </a:r>
          </a:p>
          <a:p>
            <a:endParaRPr lang="en-US" dirty="0"/>
          </a:p>
        </p:txBody>
      </p:sp>
      <p:sp>
        <p:nvSpPr>
          <p:cNvPr id="4" name="Title 1">
            <a:extLst>
              <a:ext uri="{FF2B5EF4-FFF2-40B4-BE49-F238E27FC236}">
                <a16:creationId xmlns:a16="http://schemas.microsoft.com/office/drawing/2014/main" id="{1EAC82EE-D0A1-CD1D-DD39-28A9E840AE3D}"/>
              </a:ext>
            </a:extLst>
          </p:cNvPr>
          <p:cNvSpPr>
            <a:spLocks noGrp="1"/>
          </p:cNvSpPr>
          <p:nvPr>
            <p:ph type="title"/>
          </p:nvPr>
        </p:nvSpPr>
        <p:spPr>
          <a:xfrm>
            <a:off x="838200" y="18255"/>
            <a:ext cx="10515600" cy="1325563"/>
          </a:xfrm>
        </p:spPr>
        <p:txBody>
          <a:bodyPr/>
          <a:lstStyle/>
          <a:p>
            <a:r>
              <a:rPr lang="en-US" dirty="0"/>
              <a:t>Sets (cont.)</a:t>
            </a:r>
          </a:p>
        </p:txBody>
      </p:sp>
    </p:spTree>
    <p:extLst>
      <p:ext uri="{BB962C8B-B14F-4D97-AF65-F5344CB8AC3E}">
        <p14:creationId xmlns:p14="http://schemas.microsoft.com/office/powerpoint/2010/main" val="309516202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59127A-059C-E5BB-DF7A-873C104471F1}"/>
              </a:ext>
            </a:extLst>
          </p:cNvPr>
          <p:cNvSpPr>
            <a:spLocks noGrp="1"/>
          </p:cNvSpPr>
          <p:nvPr>
            <p:ph idx="1"/>
          </p:nvPr>
        </p:nvSpPr>
        <p:spPr/>
        <p:txBody>
          <a:bodyPr/>
          <a:lstStyle/>
          <a:p>
            <a:r>
              <a:rPr lang="en-US" dirty="0"/>
              <a:t>The second and more common way to represent a set for computing purposes is to use the list structure to indicate the set’s elements. </a:t>
            </a:r>
          </a:p>
          <a:p>
            <a:r>
              <a:rPr lang="en-US" dirty="0"/>
              <a:t>Of course, this option, too, is feasible only for finite sets; fortunately, unlike mathematics, this is the kind of sets most computer applications need. </a:t>
            </a:r>
          </a:p>
          <a:p>
            <a:endParaRPr lang="en-US" dirty="0"/>
          </a:p>
        </p:txBody>
      </p:sp>
      <p:sp>
        <p:nvSpPr>
          <p:cNvPr id="4" name="Title 1">
            <a:extLst>
              <a:ext uri="{FF2B5EF4-FFF2-40B4-BE49-F238E27FC236}">
                <a16:creationId xmlns:a16="http://schemas.microsoft.com/office/drawing/2014/main" id="{E8B080FA-2D60-7A5F-C51B-58ED498D1F74}"/>
              </a:ext>
            </a:extLst>
          </p:cNvPr>
          <p:cNvSpPr>
            <a:spLocks noGrp="1"/>
          </p:cNvSpPr>
          <p:nvPr>
            <p:ph type="title"/>
          </p:nvPr>
        </p:nvSpPr>
        <p:spPr>
          <a:xfrm>
            <a:off x="838200" y="18255"/>
            <a:ext cx="10515600" cy="1325563"/>
          </a:xfrm>
        </p:spPr>
        <p:txBody>
          <a:bodyPr/>
          <a:lstStyle/>
          <a:p>
            <a:r>
              <a:rPr lang="en-US" dirty="0"/>
              <a:t>Sets (cont.)</a:t>
            </a:r>
          </a:p>
        </p:txBody>
      </p:sp>
    </p:spTree>
    <p:extLst>
      <p:ext uri="{BB962C8B-B14F-4D97-AF65-F5344CB8AC3E}">
        <p14:creationId xmlns:p14="http://schemas.microsoft.com/office/powerpoint/2010/main" val="34703314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C23A41-457B-66D0-C349-E20FB472C9F4}"/>
              </a:ext>
            </a:extLst>
          </p:cNvPr>
          <p:cNvSpPr>
            <a:spLocks noGrp="1"/>
          </p:cNvSpPr>
          <p:nvPr>
            <p:ph idx="1"/>
          </p:nvPr>
        </p:nvSpPr>
        <p:spPr/>
        <p:txBody>
          <a:bodyPr/>
          <a:lstStyle/>
          <a:p>
            <a:r>
              <a:rPr lang="en-US" dirty="0"/>
              <a:t>The two principal points of distinction between sets and lists. </a:t>
            </a:r>
          </a:p>
          <a:p>
            <a:pPr lvl="1"/>
            <a:r>
              <a:rPr lang="en-US" b="1" dirty="0"/>
              <a:t>a set cannot contain identical elements; a list can. </a:t>
            </a:r>
          </a:p>
          <a:p>
            <a:pPr lvl="2"/>
            <a:r>
              <a:rPr lang="en-US" dirty="0"/>
              <a:t>This requirement for uniqueness is sometimes circumvented by the introduction of a </a:t>
            </a:r>
            <a:r>
              <a:rPr lang="en-US" b="1" dirty="0"/>
              <a:t>multiset</a:t>
            </a:r>
            <a:r>
              <a:rPr lang="en-US" dirty="0"/>
              <a:t>, or </a:t>
            </a:r>
            <a:r>
              <a:rPr lang="en-US" b="1" dirty="0"/>
              <a:t>bag</a:t>
            </a:r>
            <a:r>
              <a:rPr lang="en-US" dirty="0"/>
              <a:t>, an unordered collection of items that are not necessarily distinct. </a:t>
            </a:r>
          </a:p>
          <a:p>
            <a:pPr lvl="1"/>
            <a:r>
              <a:rPr lang="en-US" dirty="0"/>
              <a:t>a set is an unordered collection of items; therefore, changing the order of its elements does not change the set. A list, defined as an ordered collection of items, is exactly the opposite. </a:t>
            </a:r>
          </a:p>
          <a:p>
            <a:pPr lvl="2"/>
            <a:r>
              <a:rPr lang="en-US" dirty="0"/>
              <a:t>This is an important theoretical distinction, but fortunately it is not important for many applications.</a:t>
            </a:r>
          </a:p>
          <a:p>
            <a:pPr lvl="2"/>
            <a:r>
              <a:rPr lang="en-US" dirty="0"/>
              <a:t> It is also worth mentioning that if a set is represented by a list, depending on the application at hand, it might be worth maintaining the list in a sorted order. </a:t>
            </a:r>
          </a:p>
          <a:p>
            <a:endParaRPr lang="en-US" dirty="0"/>
          </a:p>
        </p:txBody>
      </p:sp>
      <p:sp>
        <p:nvSpPr>
          <p:cNvPr id="4" name="Title 1">
            <a:extLst>
              <a:ext uri="{FF2B5EF4-FFF2-40B4-BE49-F238E27FC236}">
                <a16:creationId xmlns:a16="http://schemas.microsoft.com/office/drawing/2014/main" id="{312A2F1F-1926-F322-C02F-4CD6B5E44CFB}"/>
              </a:ext>
            </a:extLst>
          </p:cNvPr>
          <p:cNvSpPr>
            <a:spLocks noGrp="1"/>
          </p:cNvSpPr>
          <p:nvPr>
            <p:ph type="title"/>
          </p:nvPr>
        </p:nvSpPr>
        <p:spPr>
          <a:xfrm>
            <a:off x="838200" y="18255"/>
            <a:ext cx="10515600" cy="1325563"/>
          </a:xfrm>
        </p:spPr>
        <p:txBody>
          <a:bodyPr/>
          <a:lstStyle/>
          <a:p>
            <a:r>
              <a:rPr lang="en-US" dirty="0"/>
              <a:t>Sets (cont.)</a:t>
            </a:r>
          </a:p>
        </p:txBody>
      </p:sp>
    </p:spTree>
    <p:extLst>
      <p:ext uri="{BB962C8B-B14F-4D97-AF65-F5344CB8AC3E}">
        <p14:creationId xmlns:p14="http://schemas.microsoft.com/office/powerpoint/2010/main" val="191927270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6B499C-6856-2780-61A2-630D6C5E1C67}"/>
              </a:ext>
            </a:extLst>
          </p:cNvPr>
          <p:cNvSpPr>
            <a:spLocks noGrp="1"/>
          </p:cNvSpPr>
          <p:nvPr>
            <p:ph idx="1"/>
          </p:nvPr>
        </p:nvSpPr>
        <p:spPr/>
        <p:txBody>
          <a:bodyPr/>
          <a:lstStyle/>
          <a:p>
            <a:r>
              <a:rPr lang="en-US" dirty="0"/>
              <a:t>In computing, the operations we need to perform for a set or a multiset most often are searching for a given item, adding a new item, and deleting an item from the collection. </a:t>
            </a:r>
          </a:p>
          <a:p>
            <a:r>
              <a:rPr lang="en-US" dirty="0"/>
              <a:t>A data structure that implements these three operations is called the dictionary. </a:t>
            </a:r>
          </a:p>
          <a:p>
            <a:r>
              <a:rPr lang="en-US" sz="1800" dirty="0">
                <a:solidFill>
                  <a:srgbClr val="001630"/>
                </a:solidFill>
                <a:effectLst/>
                <a:latin typeface="HelveticaNeue" panose="02000503000000020004" pitchFamily="2" charset="0"/>
              </a:rPr>
              <a:t>There are quite a few ways a dictionary can be implemented. </a:t>
            </a:r>
            <a:endParaRPr lang="en-US" dirty="0">
              <a:effectLst/>
            </a:endParaRPr>
          </a:p>
          <a:p>
            <a:r>
              <a:rPr lang="en-US" sz="1800" dirty="0">
                <a:solidFill>
                  <a:srgbClr val="001630"/>
                </a:solidFill>
                <a:effectLst/>
                <a:latin typeface="HelveticaNeue" panose="02000503000000020004" pitchFamily="2" charset="0"/>
              </a:rPr>
              <a:t>They range from an unsophisticated use of arrays (sorted or not) to much more sophisticated techniques such as hashing and balanced search trees </a:t>
            </a:r>
            <a:endParaRPr lang="en-US" dirty="0">
              <a:effectLst/>
            </a:endParaRPr>
          </a:p>
          <a:p>
            <a:endParaRPr lang="en-US" dirty="0"/>
          </a:p>
        </p:txBody>
      </p:sp>
      <p:sp>
        <p:nvSpPr>
          <p:cNvPr id="4" name="Title 1">
            <a:extLst>
              <a:ext uri="{FF2B5EF4-FFF2-40B4-BE49-F238E27FC236}">
                <a16:creationId xmlns:a16="http://schemas.microsoft.com/office/drawing/2014/main" id="{FBBA75E4-EA49-5D2F-7614-F641C70E2461}"/>
              </a:ext>
            </a:extLst>
          </p:cNvPr>
          <p:cNvSpPr>
            <a:spLocks noGrp="1"/>
          </p:cNvSpPr>
          <p:nvPr>
            <p:ph type="title"/>
          </p:nvPr>
        </p:nvSpPr>
        <p:spPr/>
        <p:txBody>
          <a:bodyPr/>
          <a:lstStyle/>
          <a:p>
            <a:r>
              <a:rPr lang="en-US" dirty="0"/>
              <a:t>Sets (cont.)</a:t>
            </a:r>
          </a:p>
        </p:txBody>
      </p:sp>
    </p:spTree>
    <p:extLst>
      <p:ext uri="{BB962C8B-B14F-4D97-AF65-F5344CB8AC3E}">
        <p14:creationId xmlns:p14="http://schemas.microsoft.com/office/powerpoint/2010/main" val="15942007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1217</TotalTime>
  <Words>8876</Words>
  <Application>Microsoft Macintosh PowerPoint</Application>
  <PresentationFormat>Widescreen</PresentationFormat>
  <Paragraphs>520</Paragraphs>
  <Slides>103</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103</vt:i4>
      </vt:variant>
    </vt:vector>
  </HeadingPairs>
  <TitlesOfParts>
    <vt:vector size="111" baseType="lpstr">
      <vt:lpstr>Aptos</vt:lpstr>
      <vt:lpstr>Aptos Display</vt:lpstr>
      <vt:lpstr>Arial</vt:lpstr>
      <vt:lpstr>HelveticaNeue</vt:lpstr>
      <vt:lpstr>MTMI</vt:lpstr>
      <vt:lpstr>Times</vt:lpstr>
      <vt:lpstr>TimesTen</vt:lpstr>
      <vt:lpstr>Office Theme</vt:lpstr>
      <vt:lpstr>Introduction  to Algorithm design and Analysis</vt:lpstr>
      <vt:lpstr>Why Do You Need To Study Algorithms? </vt:lpstr>
      <vt:lpstr>What is an algorithm? </vt:lpstr>
      <vt:lpstr>What is an algorithm? (cont.) </vt:lpstr>
      <vt:lpstr>Greatest Common Divisor</vt:lpstr>
      <vt:lpstr>Euclid’s Algorithm </vt:lpstr>
      <vt:lpstr>Euclid’s Algorithm (cont.) </vt:lpstr>
      <vt:lpstr>Euclid’s Algorithm (cont.) </vt:lpstr>
      <vt:lpstr>Euclid’s Algorithm (cont.) </vt:lpstr>
      <vt:lpstr>Consecutive integer checking algorithm </vt:lpstr>
      <vt:lpstr>Consecutive integer checking algorithm (cont.) </vt:lpstr>
      <vt:lpstr>Middle-school procedure </vt:lpstr>
      <vt:lpstr>Middle-school procedure (cont.) </vt:lpstr>
      <vt:lpstr>Fundamentals of Algorithmic Problem Solving </vt:lpstr>
      <vt:lpstr>Algorithm design and analysis process</vt:lpstr>
      <vt:lpstr>Understanding the Problem </vt:lpstr>
      <vt:lpstr>Decide on Computational Means </vt:lpstr>
      <vt:lpstr>Decide on Computational Means (cont.) </vt:lpstr>
      <vt:lpstr>Decide on Computational Means (cont.) </vt:lpstr>
      <vt:lpstr>Decide on Computational Means (cont.) </vt:lpstr>
      <vt:lpstr>Choosing between Exact and Approximate Problem Solving </vt:lpstr>
      <vt:lpstr>Decide on Algorithm Design Technique </vt:lpstr>
      <vt:lpstr>Designing an Algorithm and Data Structures </vt:lpstr>
      <vt:lpstr>Designing an Algorithm and Data Structures (Cont.) </vt:lpstr>
      <vt:lpstr>Methods of Specifying an Algorithm </vt:lpstr>
      <vt:lpstr>Methods of Specifying an Algorithm (cont.) </vt:lpstr>
      <vt:lpstr>Proving an Algorithm’s Correctness </vt:lpstr>
      <vt:lpstr>Analyzing the Algorithm </vt:lpstr>
      <vt:lpstr>Analyzing the Algorithm (cont.) </vt:lpstr>
      <vt:lpstr>Coding an Algorithm </vt:lpstr>
      <vt:lpstr>Coding an Algorithm (cont.) </vt:lpstr>
      <vt:lpstr>Coding an Algorithm (cont.) </vt:lpstr>
      <vt:lpstr>Important Problem Types </vt:lpstr>
      <vt:lpstr>Sorting </vt:lpstr>
      <vt:lpstr>Sorting (cont.) </vt:lpstr>
      <vt:lpstr>Sorting (cont.) </vt:lpstr>
      <vt:lpstr>Sorting (cont.) </vt:lpstr>
      <vt:lpstr>Sorting (cont.) </vt:lpstr>
      <vt:lpstr>Sorting (cont.) </vt:lpstr>
      <vt:lpstr>Sorting (cont.) </vt:lpstr>
      <vt:lpstr>Searching </vt:lpstr>
      <vt:lpstr>String Processing </vt:lpstr>
      <vt:lpstr>Graph Problems </vt:lpstr>
      <vt:lpstr>Graph Problems (cont.) </vt:lpstr>
      <vt:lpstr>Combinatorial Problems </vt:lpstr>
      <vt:lpstr>Combinatorial Problems (cont.) </vt:lpstr>
      <vt:lpstr>Combinatorial Problems (cont.) </vt:lpstr>
      <vt:lpstr>Geometric Problems </vt:lpstr>
      <vt:lpstr>Numerical Problems </vt:lpstr>
      <vt:lpstr>Fundamental Data Structures </vt:lpstr>
      <vt:lpstr>Linear Data Structures </vt:lpstr>
      <vt:lpstr>Arrays</vt:lpstr>
      <vt:lpstr>Arrays (cont.)</vt:lpstr>
      <vt:lpstr>Arrays (cont.)</vt:lpstr>
      <vt:lpstr>Arrays (cont.)</vt:lpstr>
      <vt:lpstr>Linked List</vt:lpstr>
      <vt:lpstr>Linked List (cont.) </vt:lpstr>
      <vt:lpstr>Linked List (cont.) </vt:lpstr>
      <vt:lpstr>Linked List (cont.) </vt:lpstr>
      <vt:lpstr>Linked List (cont.) </vt:lpstr>
      <vt:lpstr>Stack</vt:lpstr>
      <vt:lpstr>Queue</vt:lpstr>
      <vt:lpstr>Queue (cont.)</vt:lpstr>
      <vt:lpstr>Graphs </vt:lpstr>
      <vt:lpstr>Graphs (cont.) </vt:lpstr>
      <vt:lpstr>Graphs (cont.) </vt:lpstr>
      <vt:lpstr>Graphs (cont.) </vt:lpstr>
      <vt:lpstr>Graphs (cont.) </vt:lpstr>
      <vt:lpstr>Graph Representations</vt:lpstr>
      <vt:lpstr>Graph Representations (cont.)</vt:lpstr>
      <vt:lpstr>Graph Representations (cont.)</vt:lpstr>
      <vt:lpstr>Graph Representations (cont.)</vt:lpstr>
      <vt:lpstr>Weighted Graphs</vt:lpstr>
      <vt:lpstr>Weighted Graphs (cont.)</vt:lpstr>
      <vt:lpstr>Paths</vt:lpstr>
      <vt:lpstr>Paths</vt:lpstr>
      <vt:lpstr>Connected Graph</vt:lpstr>
      <vt:lpstr>Connected Graph (Cont.)</vt:lpstr>
      <vt:lpstr>Connected Graph (Cont.)</vt:lpstr>
      <vt:lpstr>Cycles</vt:lpstr>
      <vt:lpstr>Trees </vt:lpstr>
      <vt:lpstr>Trees (cont.) </vt:lpstr>
      <vt:lpstr>Trees (cont.) </vt:lpstr>
      <vt:lpstr>Trees (cont.) </vt:lpstr>
      <vt:lpstr>Trees (cont.) </vt:lpstr>
      <vt:lpstr>Trees (cont.) </vt:lpstr>
      <vt:lpstr>Trees (cont.) </vt:lpstr>
      <vt:lpstr>Trees (cont.) </vt:lpstr>
      <vt:lpstr>Ordered Trees</vt:lpstr>
      <vt:lpstr>Binary Tree</vt:lpstr>
      <vt:lpstr>Binary Tree (cont.)</vt:lpstr>
      <vt:lpstr>Binary Tree (cont.)</vt:lpstr>
      <vt:lpstr>Binary Tree (cont.)</vt:lpstr>
      <vt:lpstr>Binary Tree (cont.)</vt:lpstr>
      <vt:lpstr>Binary Tree (cont.)</vt:lpstr>
      <vt:lpstr>Binary Tree (cont.)</vt:lpstr>
      <vt:lpstr>Binary Tree (cont.)</vt:lpstr>
      <vt:lpstr>Sets</vt:lpstr>
      <vt:lpstr>Sets (cont.)</vt:lpstr>
      <vt:lpstr>Sets (cont.)</vt:lpstr>
      <vt:lpstr>Sets (cont.)</vt:lpstr>
      <vt:lpstr>Sets (cont.)</vt:lpstr>
      <vt:lpstr>Sets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Kamw, Farah S</dc:creator>
  <cp:lastModifiedBy>Kamw, Farah S</cp:lastModifiedBy>
  <cp:revision>66</cp:revision>
  <dcterms:created xsi:type="dcterms:W3CDTF">2025-08-08T15:30:51Z</dcterms:created>
  <dcterms:modified xsi:type="dcterms:W3CDTF">2025-08-24T23:34:41Z</dcterms:modified>
</cp:coreProperties>
</file>